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8"/>
  </p:notesMasterIdLst>
  <p:sldIdLst>
    <p:sldId id="256" r:id="rId5"/>
    <p:sldId id="261" r:id="rId6"/>
    <p:sldId id="257" r:id="rId7"/>
    <p:sldId id="266" r:id="rId8"/>
    <p:sldId id="259" r:id="rId9"/>
    <p:sldId id="260" r:id="rId10"/>
    <p:sldId id="258" r:id="rId11"/>
    <p:sldId id="269" r:id="rId12"/>
    <p:sldId id="270" r:id="rId13"/>
    <p:sldId id="272" r:id="rId14"/>
    <p:sldId id="271" r:id="rId15"/>
    <p:sldId id="274" r:id="rId16"/>
    <p:sldId id="26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ED6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6F6F89-F215-424A-9DF3-A603BA712F4F}" v="10" dt="2023-04-15T02:23:49.773"/>
    <p1510:client id="{3D231BCE-CC12-4D49-90F2-3E987B239474}" vWet="2" dt="2023-04-16T16:28:27.968"/>
    <p1510:client id="{6EA6140F-9733-4755-BF8C-BDF0709D8380}" v="213" dt="2023-04-15T13:58:28.140"/>
    <p1510:client id="{93ABCA28-B187-4867-B597-658B5D3FBCE7}" v="50" dt="2023-04-15T04:45:22.619"/>
    <p1510:client id="{C1B34CD1-EBA8-4CA9-96DD-E0CAB414DDB4}" v="5" dt="2023-04-15T02:22:38.047"/>
    <p1510:client id="{E32F2041-1869-4D32-AB64-68D4F586A404}" v="44" dt="2023-04-16T16:29:47.63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37"/>
  </p:normalViewPr>
  <p:slideViewPr>
    <p:cSldViewPr snapToGrid="0">
      <p:cViewPr varScale="1">
        <p:scale>
          <a:sx n="108" d="100"/>
          <a:sy n="108" d="100"/>
        </p:scale>
        <p:origin x="7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tson, Olivia G" userId="S::owatson6@gatech.edu::921d29f4-834c-4576-bbae-0d24041ada6d" providerId="AD" clId="Web-{106F6F89-F215-424A-9DF3-A603BA712F4F}"/>
    <pc:docChg chg="modSld">
      <pc:chgData name="Watson, Olivia G" userId="S::owatson6@gatech.edu::921d29f4-834c-4576-bbae-0d24041ada6d" providerId="AD" clId="Web-{106F6F89-F215-424A-9DF3-A603BA712F4F}" dt="2023-04-15T02:23:46.804" v="3" actId="20577"/>
      <pc:docMkLst>
        <pc:docMk/>
      </pc:docMkLst>
      <pc:sldChg chg="modSp">
        <pc:chgData name="Watson, Olivia G" userId="S::owatson6@gatech.edu::921d29f4-834c-4576-bbae-0d24041ada6d" providerId="AD" clId="Web-{106F6F89-F215-424A-9DF3-A603BA712F4F}" dt="2023-04-15T02:23:46.804" v="3" actId="20577"/>
        <pc:sldMkLst>
          <pc:docMk/>
          <pc:sldMk cId="114548374" sldId="272"/>
        </pc:sldMkLst>
        <pc:spChg chg="mod">
          <ac:chgData name="Watson, Olivia G" userId="S::owatson6@gatech.edu::921d29f4-834c-4576-bbae-0d24041ada6d" providerId="AD" clId="Web-{106F6F89-F215-424A-9DF3-A603BA712F4F}" dt="2023-04-15T02:23:46.804" v="3" actId="20577"/>
          <ac:spMkLst>
            <pc:docMk/>
            <pc:sldMk cId="114548374" sldId="272"/>
            <ac:spMk id="7" creationId="{3CE3E509-DC5B-DBF8-A929-98C5B7BF2D8F}"/>
          </ac:spMkLst>
        </pc:spChg>
        <pc:spChg chg="mod">
          <ac:chgData name="Watson, Olivia G" userId="S::owatson6@gatech.edu::921d29f4-834c-4576-bbae-0d24041ada6d" providerId="AD" clId="Web-{106F6F89-F215-424A-9DF3-A603BA712F4F}" dt="2023-04-15T02:23:40.710" v="2" actId="20577"/>
          <ac:spMkLst>
            <pc:docMk/>
            <pc:sldMk cId="114548374" sldId="272"/>
            <ac:spMk id="15" creationId="{E5AB6A47-B74D-9D97-C9B6-688490A0F298}"/>
          </ac:spMkLst>
        </pc:spChg>
      </pc:sldChg>
    </pc:docChg>
  </pc:docChgLst>
  <pc:docChgLst>
    <pc:chgData name="Watson, Olivia G" userId="S::owatson6@gatech.edu::921d29f4-834c-4576-bbae-0d24041ada6d" providerId="AD" clId="Web-{E32F2041-1869-4D32-AB64-68D4F586A404}"/>
    <pc:docChg chg="modSld">
      <pc:chgData name="Watson, Olivia G" userId="S::owatson6@gatech.edu::921d29f4-834c-4576-bbae-0d24041ada6d" providerId="AD" clId="Web-{E32F2041-1869-4D32-AB64-68D4F586A404}" dt="2023-04-16T16:29:46.372" v="5"/>
      <pc:docMkLst>
        <pc:docMk/>
      </pc:docMkLst>
      <pc:sldChg chg="modSp">
        <pc:chgData name="Watson, Olivia G" userId="S::owatson6@gatech.edu::921d29f4-834c-4576-bbae-0d24041ada6d" providerId="AD" clId="Web-{E32F2041-1869-4D32-AB64-68D4F586A404}" dt="2023-04-16T16:29:46.372" v="5"/>
        <pc:sldMkLst>
          <pc:docMk/>
          <pc:sldMk cId="2575077937" sldId="270"/>
        </pc:sldMkLst>
        <pc:graphicFrameChg chg="mod modGraphic">
          <ac:chgData name="Watson, Olivia G" userId="S::owatson6@gatech.edu::921d29f4-834c-4576-bbae-0d24041ada6d" providerId="AD" clId="Web-{E32F2041-1869-4D32-AB64-68D4F586A404}" dt="2023-04-16T16:29:46.372" v="5"/>
          <ac:graphicFrameMkLst>
            <pc:docMk/>
            <pc:sldMk cId="2575077937" sldId="270"/>
            <ac:graphicFrameMk id="11" creationId="{A82989D4-9D60-DB76-487E-31A3C3B66BBA}"/>
          </ac:graphicFrameMkLst>
        </pc:graphicFrameChg>
      </pc:sldChg>
    </pc:docChg>
  </pc:docChgLst>
  <pc:docChgLst>
    <pc:chgData name="Kocaman, Selda" userId="S::skocaman7@gatech.edu::39f3c7bc-3a35-4456-a18c-866274be0901" providerId="AD" clId="Web-{93ABCA28-B187-4867-B597-658B5D3FBCE7}"/>
    <pc:docChg chg="modSld">
      <pc:chgData name="Kocaman, Selda" userId="S::skocaman7@gatech.edu::39f3c7bc-3a35-4456-a18c-866274be0901" providerId="AD" clId="Web-{93ABCA28-B187-4867-B597-658B5D3FBCE7}" dt="2023-04-15T04:45:19.713" v="25" actId="20577"/>
      <pc:docMkLst>
        <pc:docMk/>
      </pc:docMkLst>
      <pc:sldChg chg="modSp">
        <pc:chgData name="Kocaman, Selda" userId="S::skocaman7@gatech.edu::39f3c7bc-3a35-4456-a18c-866274be0901" providerId="AD" clId="Web-{93ABCA28-B187-4867-B597-658B5D3FBCE7}" dt="2023-04-15T04:45:19.713" v="25" actId="20577"/>
        <pc:sldMkLst>
          <pc:docMk/>
          <pc:sldMk cId="621341726" sldId="271"/>
        </pc:sldMkLst>
        <pc:spChg chg="mod">
          <ac:chgData name="Kocaman, Selda" userId="S::skocaman7@gatech.edu::39f3c7bc-3a35-4456-a18c-866274be0901" providerId="AD" clId="Web-{93ABCA28-B187-4867-B597-658B5D3FBCE7}" dt="2023-04-15T04:39:14.687" v="14" actId="20577"/>
          <ac:spMkLst>
            <pc:docMk/>
            <pc:sldMk cId="621341726" sldId="271"/>
            <ac:spMk id="31" creationId="{9A238B2B-5B38-BDA7-8033-2F99BC0266DA}"/>
          </ac:spMkLst>
        </pc:spChg>
        <pc:spChg chg="mod">
          <ac:chgData name="Kocaman, Selda" userId="S::skocaman7@gatech.edu::39f3c7bc-3a35-4456-a18c-866274be0901" providerId="AD" clId="Web-{93ABCA28-B187-4867-B597-658B5D3FBCE7}" dt="2023-04-15T04:45:19.713" v="25" actId="20577"/>
          <ac:spMkLst>
            <pc:docMk/>
            <pc:sldMk cId="621341726" sldId="271"/>
            <ac:spMk id="32" creationId="{EF024B7B-55FF-703A-2089-83643F7034D8}"/>
          </ac:spMkLst>
        </pc:spChg>
      </pc:sldChg>
    </pc:docChg>
  </pc:docChgLst>
  <pc:docChgLst>
    <pc:chgData name="Watson, Olivia G" userId="S::owatson6@gatech.edu::921d29f4-834c-4576-bbae-0d24041ada6d" providerId="AD" clId="Web-{6EA6140F-9733-4755-BF8C-BDF0709D8380}"/>
    <pc:docChg chg="modSld">
      <pc:chgData name="Watson, Olivia G" userId="S::owatson6@gatech.edu::921d29f4-834c-4576-bbae-0d24041ada6d" providerId="AD" clId="Web-{6EA6140F-9733-4755-BF8C-BDF0709D8380}" dt="2023-04-15T13:58:25.734" v="113" actId="20577"/>
      <pc:docMkLst>
        <pc:docMk/>
      </pc:docMkLst>
      <pc:sldChg chg="modSp">
        <pc:chgData name="Watson, Olivia G" userId="S::owatson6@gatech.edu::921d29f4-834c-4576-bbae-0d24041ada6d" providerId="AD" clId="Web-{6EA6140F-9733-4755-BF8C-BDF0709D8380}" dt="2023-04-15T13:58:25.734" v="113" actId="20577"/>
        <pc:sldMkLst>
          <pc:docMk/>
          <pc:sldMk cId="621341726" sldId="271"/>
        </pc:sldMkLst>
        <pc:spChg chg="mod">
          <ac:chgData name="Watson, Olivia G" userId="S::owatson6@gatech.edu::921d29f4-834c-4576-bbae-0d24041ada6d" providerId="AD" clId="Web-{6EA6140F-9733-4755-BF8C-BDF0709D8380}" dt="2023-04-15T13:55:41.870" v="79" actId="20577"/>
          <ac:spMkLst>
            <pc:docMk/>
            <pc:sldMk cId="621341726" sldId="271"/>
            <ac:spMk id="31" creationId="{9A238B2B-5B38-BDA7-8033-2F99BC0266DA}"/>
          </ac:spMkLst>
        </pc:spChg>
        <pc:spChg chg="mod">
          <ac:chgData name="Watson, Olivia G" userId="S::owatson6@gatech.edu::921d29f4-834c-4576-bbae-0d24041ada6d" providerId="AD" clId="Web-{6EA6140F-9733-4755-BF8C-BDF0709D8380}" dt="2023-04-15T13:58:25.734" v="113" actId="20577"/>
          <ac:spMkLst>
            <pc:docMk/>
            <pc:sldMk cId="621341726" sldId="271"/>
            <ac:spMk id="32" creationId="{EF024B7B-55FF-703A-2089-83643F7034D8}"/>
          </ac:spMkLst>
        </pc:spChg>
      </pc:sldChg>
    </pc:docChg>
  </pc:docChgLst>
  <pc:docChgLst>
    <pc:chgData name="Watson, Olivia G" userId="S::owatson6@gatech.edu::921d29f4-834c-4576-bbae-0d24041ada6d" providerId="AD" clId="Web-{C1B34CD1-EBA8-4CA9-96DD-E0CAB414DDB4}"/>
    <pc:docChg chg="modSld">
      <pc:chgData name="Watson, Olivia G" userId="S::owatson6@gatech.edu::921d29f4-834c-4576-bbae-0d24041ada6d" providerId="AD" clId="Web-{C1B34CD1-EBA8-4CA9-96DD-E0CAB414DDB4}" dt="2023-04-15T02:22:38.047" v="4"/>
      <pc:docMkLst>
        <pc:docMk/>
      </pc:docMkLst>
      <pc:sldChg chg="delSp">
        <pc:chgData name="Watson, Olivia G" userId="S::owatson6@gatech.edu::921d29f4-834c-4576-bbae-0d24041ada6d" providerId="AD" clId="Web-{C1B34CD1-EBA8-4CA9-96DD-E0CAB414DDB4}" dt="2023-04-15T02:22:31.593" v="3"/>
        <pc:sldMkLst>
          <pc:docMk/>
          <pc:sldMk cId="1445269946" sldId="258"/>
        </pc:sldMkLst>
        <pc:spChg chg="del">
          <ac:chgData name="Watson, Olivia G" userId="S::owatson6@gatech.edu::921d29f4-834c-4576-bbae-0d24041ada6d" providerId="AD" clId="Web-{C1B34CD1-EBA8-4CA9-96DD-E0CAB414DDB4}" dt="2023-04-15T02:22:29.062" v="2"/>
          <ac:spMkLst>
            <pc:docMk/>
            <pc:sldMk cId="1445269946" sldId="258"/>
            <ac:spMk id="5" creationId="{77ADEA5A-1742-AC59-A973-52F66EB0CF49}"/>
          </ac:spMkLst>
        </pc:spChg>
        <pc:spChg chg="del">
          <ac:chgData name="Watson, Olivia G" userId="S::owatson6@gatech.edu::921d29f4-834c-4576-bbae-0d24041ada6d" providerId="AD" clId="Web-{C1B34CD1-EBA8-4CA9-96DD-E0CAB414DDB4}" dt="2023-04-15T02:22:31.593" v="3"/>
          <ac:spMkLst>
            <pc:docMk/>
            <pc:sldMk cId="1445269946" sldId="258"/>
            <ac:spMk id="10" creationId="{EF92920C-B2D3-C50B-36EF-00031315AE1A}"/>
          </ac:spMkLst>
        </pc:spChg>
        <pc:picChg chg="del">
          <ac:chgData name="Watson, Olivia G" userId="S::owatson6@gatech.edu::921d29f4-834c-4576-bbae-0d24041ada6d" providerId="AD" clId="Web-{C1B34CD1-EBA8-4CA9-96DD-E0CAB414DDB4}" dt="2023-04-15T02:22:18.702" v="0"/>
          <ac:picMkLst>
            <pc:docMk/>
            <pc:sldMk cId="1445269946" sldId="258"/>
            <ac:picMk id="15" creationId="{775810E4-1FD4-363C-24E0-F52BD6B4BC3C}"/>
          </ac:picMkLst>
        </pc:picChg>
        <pc:picChg chg="del">
          <ac:chgData name="Watson, Olivia G" userId="S::owatson6@gatech.edu::921d29f4-834c-4576-bbae-0d24041ada6d" providerId="AD" clId="Web-{C1B34CD1-EBA8-4CA9-96DD-E0CAB414DDB4}" dt="2023-04-15T02:22:20.359" v="1"/>
          <ac:picMkLst>
            <pc:docMk/>
            <pc:sldMk cId="1445269946" sldId="258"/>
            <ac:picMk id="16" creationId="{4735F538-E85E-92BA-2997-A66BDC75AF9B}"/>
          </ac:picMkLst>
        </pc:picChg>
      </pc:sldChg>
      <pc:sldChg chg="delSp">
        <pc:chgData name="Watson, Olivia G" userId="S::owatson6@gatech.edu::921d29f4-834c-4576-bbae-0d24041ada6d" providerId="AD" clId="Web-{C1B34CD1-EBA8-4CA9-96DD-E0CAB414DDB4}" dt="2023-04-15T02:22:38.047" v="4"/>
        <pc:sldMkLst>
          <pc:docMk/>
          <pc:sldMk cId="621341726" sldId="271"/>
        </pc:sldMkLst>
        <pc:picChg chg="del">
          <ac:chgData name="Watson, Olivia G" userId="S::owatson6@gatech.edu::921d29f4-834c-4576-bbae-0d24041ada6d" providerId="AD" clId="Web-{C1B34CD1-EBA8-4CA9-96DD-E0CAB414DDB4}" dt="2023-04-15T02:22:38.047" v="4"/>
          <ac:picMkLst>
            <pc:docMk/>
            <pc:sldMk cId="621341726" sldId="271"/>
            <ac:picMk id="2050" creationId="{0835A93E-91A1-B1A5-3B7E-2E1F3532098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1D9571-DA4F-B940-B8F0-35BCC01073F7}" type="datetimeFigureOut">
              <a:rPr lang="en-US" smtClean="0"/>
              <a:t>4/16/23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9EAED6-C188-FE4B-A767-00E927A58D61}" type="slidenum">
              <a:rPr lang="en-US" smtClean="0"/>
              <a:t>‹#›</a:t>
            </a:fld>
            <a:endParaRPr lang="en-US"/>
          </a:p>
        </p:txBody>
      </p:sp>
    </p:spTree>
    <p:extLst>
      <p:ext uri="{BB962C8B-B14F-4D97-AF65-F5344CB8AC3E}">
        <p14:creationId xmlns:p14="http://schemas.microsoft.com/office/powerpoint/2010/main" val="26930317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9EAED6-C188-FE4B-A767-00E927A58D61}" type="slidenum">
              <a:rPr lang="en-US" smtClean="0"/>
              <a:t>1</a:t>
            </a:fld>
            <a:endParaRPr lang="en-US"/>
          </a:p>
        </p:txBody>
      </p:sp>
    </p:spTree>
    <p:extLst>
      <p:ext uri="{BB962C8B-B14F-4D97-AF65-F5344CB8AC3E}">
        <p14:creationId xmlns:p14="http://schemas.microsoft.com/office/powerpoint/2010/main" val="26411351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9EAED6-C188-FE4B-A767-00E927A58D61}" type="slidenum">
              <a:rPr lang="en-US" smtClean="0"/>
              <a:t>2</a:t>
            </a:fld>
            <a:endParaRPr lang="en-US"/>
          </a:p>
        </p:txBody>
      </p:sp>
    </p:spTree>
    <p:extLst>
      <p:ext uri="{BB962C8B-B14F-4D97-AF65-F5344CB8AC3E}">
        <p14:creationId xmlns:p14="http://schemas.microsoft.com/office/powerpoint/2010/main" val="28794529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D69EAED6-C188-FE4B-A767-00E927A58D61}" type="slidenum">
              <a:rPr lang="en-US" smtClean="0"/>
              <a:t>3</a:t>
            </a:fld>
            <a:endParaRPr lang="en-US"/>
          </a:p>
        </p:txBody>
      </p:sp>
    </p:spTree>
    <p:extLst>
      <p:ext uri="{BB962C8B-B14F-4D97-AF65-F5344CB8AC3E}">
        <p14:creationId xmlns:p14="http://schemas.microsoft.com/office/powerpoint/2010/main" val="18740797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9EAED6-C188-FE4B-A767-00E927A58D61}" type="slidenum">
              <a:rPr lang="en-US" smtClean="0"/>
              <a:t>4</a:t>
            </a:fld>
            <a:endParaRPr lang="en-US"/>
          </a:p>
        </p:txBody>
      </p:sp>
    </p:spTree>
    <p:extLst>
      <p:ext uri="{BB962C8B-B14F-4D97-AF65-F5344CB8AC3E}">
        <p14:creationId xmlns:p14="http://schemas.microsoft.com/office/powerpoint/2010/main" val="3483527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9EAED6-C188-FE4B-A767-00E927A58D61}" type="slidenum">
              <a:rPr lang="en-US" smtClean="0"/>
              <a:t>5</a:t>
            </a:fld>
            <a:endParaRPr lang="en-US"/>
          </a:p>
        </p:txBody>
      </p:sp>
    </p:spTree>
    <p:extLst>
      <p:ext uri="{BB962C8B-B14F-4D97-AF65-F5344CB8AC3E}">
        <p14:creationId xmlns:p14="http://schemas.microsoft.com/office/powerpoint/2010/main" val="19316850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9EAED6-C188-FE4B-A767-00E927A58D61}" type="slidenum">
              <a:rPr lang="en-US" smtClean="0"/>
              <a:t>6</a:t>
            </a:fld>
            <a:endParaRPr lang="en-US"/>
          </a:p>
        </p:txBody>
      </p:sp>
    </p:spTree>
    <p:extLst>
      <p:ext uri="{BB962C8B-B14F-4D97-AF65-F5344CB8AC3E}">
        <p14:creationId xmlns:p14="http://schemas.microsoft.com/office/powerpoint/2010/main" val="8653171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9EAED6-C188-FE4B-A767-00E927A58D61}" type="slidenum">
              <a:rPr lang="en-US" smtClean="0"/>
              <a:t>7</a:t>
            </a:fld>
            <a:endParaRPr lang="en-US"/>
          </a:p>
        </p:txBody>
      </p:sp>
    </p:spTree>
    <p:extLst>
      <p:ext uri="{BB962C8B-B14F-4D97-AF65-F5344CB8AC3E}">
        <p14:creationId xmlns:p14="http://schemas.microsoft.com/office/powerpoint/2010/main" val="9611806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9EAED6-C188-FE4B-A767-00E927A58D61}" type="slidenum">
              <a:rPr lang="en-US" smtClean="0"/>
              <a:t>9</a:t>
            </a:fld>
            <a:endParaRPr lang="en-US"/>
          </a:p>
        </p:txBody>
      </p:sp>
    </p:spTree>
    <p:extLst>
      <p:ext uri="{BB962C8B-B14F-4D97-AF65-F5344CB8AC3E}">
        <p14:creationId xmlns:p14="http://schemas.microsoft.com/office/powerpoint/2010/main" val="10298835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69EAED6-C188-FE4B-A767-00E927A58D61}" type="slidenum">
              <a:rPr lang="en-US" smtClean="0"/>
              <a:t>11</a:t>
            </a:fld>
            <a:endParaRPr lang="en-US"/>
          </a:p>
        </p:txBody>
      </p:sp>
    </p:spTree>
    <p:extLst>
      <p:ext uri="{BB962C8B-B14F-4D97-AF65-F5344CB8AC3E}">
        <p14:creationId xmlns:p14="http://schemas.microsoft.com/office/powerpoint/2010/main" val="31963555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69EAED6-C188-FE4B-A767-00E927A58D61}" type="slidenum">
              <a:rPr lang="en-US" smtClean="0"/>
              <a:t>12</a:t>
            </a:fld>
            <a:endParaRPr lang="en-US"/>
          </a:p>
        </p:txBody>
      </p:sp>
    </p:spTree>
    <p:extLst>
      <p:ext uri="{BB962C8B-B14F-4D97-AF65-F5344CB8AC3E}">
        <p14:creationId xmlns:p14="http://schemas.microsoft.com/office/powerpoint/2010/main" val="13445682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4/16/23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4/16/23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4/16/23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4/16/23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4/16/23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4/16/23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4/16/23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4/16/23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4/16/23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4/16/23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4/16/23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4/16/23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3.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hyperlink" Target="https://www.cdc.gov/pcd/index.htm" TargetMode="External"/><Relationship Id="rId3" Type="http://schemas.openxmlformats.org/officeDocument/2006/relationships/hyperlink" Target="https://diabetes.org/about-us/statistics/cost-diabetes#:~:text=People%20with%20diagnosed%20diabetes%20incur,in%20the%20absence%20of%20diabetes" TargetMode="External"/><Relationship Id="rId7" Type="http://schemas.openxmlformats.org/officeDocument/2006/relationships/hyperlink" Target="https://doi.org/10.2522/ptj.20080020" TargetMode="External"/><Relationship Id="rId2" Type="http://schemas.openxmlformats.org/officeDocument/2006/relationships/hyperlink" Target="https://www.cdc.gov/diabetes/basics/type2.html#:~:text=Healthy%20eating%20is%20your%20recipe,adults%20are%20also%20developing%20it" TargetMode="External"/><Relationship Id="rId1" Type="http://schemas.openxmlformats.org/officeDocument/2006/relationships/slideLayout" Target="../slideLayouts/slideLayout2.xml"/><Relationship Id="rId6" Type="http://schemas.openxmlformats.org/officeDocument/2006/relationships/hyperlink" Target="https://pubmed.ncbi.nlm.nih.gov/33139407/" TargetMode="External"/><Relationship Id="rId11" Type="http://schemas.openxmlformats.org/officeDocument/2006/relationships/hyperlink" Target="https://diabetesjournals.org/care/article/44/1/258/33180/Social-Determinants-of-Health-and-Diabetes-A" TargetMode="External"/><Relationship Id="rId5" Type="http://schemas.openxmlformats.org/officeDocument/2006/relationships/hyperlink" Target="https://worldpopulationreview.com/states" TargetMode="External"/><Relationship Id="rId10" Type="http://schemas.openxmlformats.org/officeDocument/2006/relationships/hyperlink" Target="https://diabetesjournals.org/care/article/24/11/1936/24758/Projection-of-Diabetes-Burden-Through-2050Impact" TargetMode="External"/><Relationship Id="rId4" Type="http://schemas.openxmlformats.org/officeDocument/2006/relationships/hyperlink" Target="https://meric.mo.gov/data/cost-living-data-series" TargetMode="External"/><Relationship Id="rId9" Type="http://schemas.openxmlformats.org/officeDocument/2006/relationships/hyperlink" Target="https://www.cdc.gov/pcd/issues/2019/19_0109.ht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id="{DE8BC996-6E12-A675-A64F-F61141D77510}"/>
              </a:ext>
            </a:extLst>
          </p:cNvPr>
          <p:cNvPicPr>
            <a:picLocks noChangeAspect="1"/>
          </p:cNvPicPr>
          <p:nvPr/>
        </p:nvPicPr>
        <p:blipFill rotWithShape="1">
          <a:blip r:embed="rId3"/>
          <a:srcRect t="2762" r="61" b="-115"/>
          <a:stretch/>
        </p:blipFill>
        <p:spPr>
          <a:xfrm>
            <a:off x="-1398" y="2627"/>
            <a:ext cx="12204055" cy="6866796"/>
          </a:xfrm>
          <a:prstGeom prst="rect">
            <a:avLst/>
          </a:prstGeom>
        </p:spPr>
      </p:pic>
      <p:sp>
        <p:nvSpPr>
          <p:cNvPr id="2" name="Title 1"/>
          <p:cNvSpPr>
            <a:spLocks noGrp="1"/>
          </p:cNvSpPr>
          <p:nvPr>
            <p:ph type="ctrTitle"/>
          </p:nvPr>
        </p:nvSpPr>
        <p:spPr>
          <a:xfrm>
            <a:off x="384930" y="521754"/>
            <a:ext cx="5872749" cy="2387600"/>
          </a:xfrm>
        </p:spPr>
        <p:txBody>
          <a:bodyPr>
            <a:normAutofit/>
          </a:bodyPr>
          <a:lstStyle/>
          <a:p>
            <a:pPr algn="l">
              <a:lnSpc>
                <a:spcPct val="100000"/>
              </a:lnSpc>
            </a:pPr>
            <a:r>
              <a:rPr lang="en-US" sz="4000">
                <a:latin typeface="Georgia"/>
                <a:cs typeface="Calibri Light"/>
              </a:rPr>
              <a:t>Diagnosing Diabetes</a:t>
            </a:r>
          </a:p>
        </p:txBody>
      </p:sp>
      <p:sp>
        <p:nvSpPr>
          <p:cNvPr id="3" name="Subtitle 2"/>
          <p:cNvSpPr>
            <a:spLocks noGrp="1"/>
          </p:cNvSpPr>
          <p:nvPr>
            <p:ph type="subTitle" idx="1"/>
          </p:nvPr>
        </p:nvSpPr>
        <p:spPr>
          <a:xfrm>
            <a:off x="422091" y="4293981"/>
            <a:ext cx="4243748" cy="1655762"/>
          </a:xfrm>
        </p:spPr>
        <p:txBody>
          <a:bodyPr vert="horz" lIns="91440" tIns="45720" rIns="91440" bIns="45720" rtlCol="0" anchor="t">
            <a:normAutofit/>
          </a:bodyPr>
          <a:lstStyle/>
          <a:p>
            <a:pPr algn="l"/>
            <a:r>
              <a:rPr lang="en-US" sz="1600">
                <a:latin typeface="Georgia"/>
                <a:cs typeface="Calibri"/>
              </a:rPr>
              <a:t>Team 29: Olivia Watson, Selda Kocaman, Kelly Cristina Ribiero </a:t>
            </a:r>
            <a:r>
              <a:rPr lang="en-US" sz="1600" err="1">
                <a:latin typeface="Georgia"/>
                <a:cs typeface="Calibri"/>
              </a:rPr>
              <a:t>Yogui</a:t>
            </a:r>
            <a:r>
              <a:rPr lang="en-US" sz="1600">
                <a:latin typeface="Georgia"/>
                <a:cs typeface="Calibri"/>
              </a:rPr>
              <a:t>, Thu </a:t>
            </a:r>
            <a:r>
              <a:rPr lang="en-US" sz="1600" err="1">
                <a:latin typeface="Georgia"/>
                <a:cs typeface="Calibri"/>
              </a:rPr>
              <a:t>Thi</a:t>
            </a:r>
            <a:r>
              <a:rPr lang="en-US" sz="1600">
                <a:latin typeface="Georgia"/>
                <a:cs typeface="Calibri"/>
              </a:rPr>
              <a:t> Diem Le, Hande Pehlivan</a:t>
            </a:r>
            <a:endParaRPr lang="en-US">
              <a:latin typeface="Georgia"/>
            </a:endParaRPr>
          </a:p>
        </p:txBody>
      </p:sp>
      <p:sp>
        <p:nvSpPr>
          <p:cNvPr id="5" name="TextBox 4">
            <a:extLst>
              <a:ext uri="{FF2B5EF4-FFF2-40B4-BE49-F238E27FC236}">
                <a16:creationId xmlns:a16="http://schemas.microsoft.com/office/drawing/2014/main" id="{CADC9881-C19D-F1EB-1805-3C18BE350F8C}"/>
              </a:ext>
            </a:extLst>
          </p:cNvPr>
          <p:cNvSpPr txBox="1"/>
          <p:nvPr/>
        </p:nvSpPr>
        <p:spPr>
          <a:xfrm>
            <a:off x="422091" y="3064676"/>
            <a:ext cx="5835588" cy="646331"/>
          </a:xfrm>
          <a:prstGeom prst="rect">
            <a:avLst/>
          </a:prstGeom>
        </p:spPr>
        <p:txBody>
          <a:bodyPr vert="horz" lIns="91440" tIns="45720" rIns="91440" bIns="45720" rtlCol="0" anchor="t">
            <a:normAutofit/>
          </a:bodyPr>
          <a:lstStyle/>
          <a:p>
            <a:pPr>
              <a:lnSpc>
                <a:spcPct val="90000"/>
              </a:lnSpc>
              <a:spcBef>
                <a:spcPts val="1000"/>
              </a:spcBef>
            </a:pPr>
            <a:r>
              <a:rPr lang="en-US" sz="2000">
                <a:latin typeface="Georgia"/>
                <a:cs typeface="Calibri"/>
              </a:rPr>
              <a:t>Diabetes probability based on behavioral, medical, demographic and economic factors </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876EAD2-523A-0626-BC98-49E28DD71FA7}"/>
              </a:ext>
            </a:extLst>
          </p:cNvPr>
          <p:cNvSpPr>
            <a:spLocks noGrp="1"/>
          </p:cNvSpPr>
          <p:nvPr>
            <p:ph idx="1"/>
          </p:nvPr>
        </p:nvSpPr>
        <p:spPr>
          <a:xfrm>
            <a:off x="1420124" y="2029257"/>
            <a:ext cx="9351751" cy="3869739"/>
          </a:xfrm>
        </p:spPr>
        <p:txBody>
          <a:bodyPr vert="horz" lIns="91440" tIns="45720" rIns="91440" bIns="45720" rtlCol="0" anchor="t">
            <a:normAutofit/>
          </a:bodyPr>
          <a:lstStyle/>
          <a:p>
            <a:pPr marL="201168" indent="-201168" defTabSz="804672">
              <a:spcBef>
                <a:spcPts val="880"/>
              </a:spcBef>
            </a:pPr>
            <a:endParaRPr lang="en-US" sz="2464" kern="1200">
              <a:solidFill>
                <a:schemeClr val="tx1"/>
              </a:solidFill>
              <a:latin typeface="+mn-lt"/>
              <a:ea typeface="+mn-ea"/>
              <a:cs typeface="Calibri"/>
            </a:endParaRPr>
          </a:p>
          <a:p>
            <a:pPr marL="0" indent="0">
              <a:buNone/>
            </a:pPr>
            <a:endParaRPr lang="en-US">
              <a:cs typeface="Calibri"/>
            </a:endParaRPr>
          </a:p>
        </p:txBody>
      </p:sp>
      <p:pic>
        <p:nvPicPr>
          <p:cNvPr id="5" name="Graphic 4" descr="Heartbeat with solid fill">
            <a:extLst>
              <a:ext uri="{FF2B5EF4-FFF2-40B4-BE49-F238E27FC236}">
                <a16:creationId xmlns:a16="http://schemas.microsoft.com/office/drawing/2014/main" id="{10372BE5-11C7-58C3-F2DA-47D065FCDB7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100729" y="2571901"/>
            <a:ext cx="813196" cy="813196"/>
          </a:xfrm>
          <a:prstGeom prst="rect">
            <a:avLst/>
          </a:prstGeom>
        </p:spPr>
      </p:pic>
      <p:pic>
        <p:nvPicPr>
          <p:cNvPr id="7" name="Graphic 6" descr="Dollar with solid fill">
            <a:extLst>
              <a:ext uri="{FF2B5EF4-FFF2-40B4-BE49-F238E27FC236}">
                <a16:creationId xmlns:a16="http://schemas.microsoft.com/office/drawing/2014/main" id="{F53A9D10-AB75-5214-EBB3-7AA425D3ACF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78077" y="2558348"/>
            <a:ext cx="813196" cy="813196"/>
          </a:xfrm>
          <a:prstGeom prst="rect">
            <a:avLst/>
          </a:prstGeom>
        </p:spPr>
      </p:pic>
      <p:sp>
        <p:nvSpPr>
          <p:cNvPr id="8" name="TextBox 7">
            <a:extLst>
              <a:ext uri="{FF2B5EF4-FFF2-40B4-BE49-F238E27FC236}">
                <a16:creationId xmlns:a16="http://schemas.microsoft.com/office/drawing/2014/main" id="{177C2A94-902E-0A93-4086-494802193268}"/>
              </a:ext>
            </a:extLst>
          </p:cNvPr>
          <p:cNvSpPr txBox="1"/>
          <p:nvPr/>
        </p:nvSpPr>
        <p:spPr>
          <a:xfrm>
            <a:off x="1420124" y="3283447"/>
            <a:ext cx="4165635" cy="2871171"/>
          </a:xfrm>
          <a:prstGeom prst="rect">
            <a:avLst/>
          </a:prstGeom>
          <a:noFill/>
        </p:spPr>
        <p:txBody>
          <a:bodyPr wrap="square" rtlCol="0">
            <a:spAutoFit/>
          </a:bodyPr>
          <a:lstStyle/>
          <a:p>
            <a:pPr marL="251460" indent="-251460" defTabSz="804672">
              <a:spcAft>
                <a:spcPts val="600"/>
              </a:spcAft>
              <a:buFont typeface="Arial" panose="020B0604020202020204" pitchFamily="34" charset="0"/>
              <a:buChar char="•"/>
            </a:pPr>
            <a:r>
              <a:rPr lang="en-US" sz="1584" kern="1200">
                <a:solidFill>
                  <a:schemeClr val="tx1"/>
                </a:solidFill>
                <a:latin typeface="Georgia" panose="02040502050405020303" pitchFamily="18" charset="0"/>
                <a:ea typeface="+mn-ea"/>
                <a:cs typeface="+mn-cs"/>
              </a:rPr>
              <a:t>Diabetes takes </a:t>
            </a:r>
            <a:r>
              <a:rPr lang="en-US" sz="1584" b="1" kern="1200">
                <a:solidFill>
                  <a:schemeClr val="tx1"/>
                </a:solidFill>
                <a:latin typeface="Georgia" panose="02040502050405020303" pitchFamily="18" charset="0"/>
                <a:ea typeface="+mn-ea"/>
                <a:cs typeface="+mn-cs"/>
              </a:rPr>
              <a:t>~10 years </a:t>
            </a:r>
            <a:r>
              <a:rPr lang="en-US" sz="1584" kern="1200">
                <a:solidFill>
                  <a:schemeClr val="tx1"/>
                </a:solidFill>
                <a:latin typeface="Georgia" panose="02040502050405020303" pitchFamily="18" charset="0"/>
                <a:ea typeface="+mn-ea"/>
                <a:cs typeface="+mn-cs"/>
              </a:rPr>
              <a:t>off someone’s life </a:t>
            </a:r>
            <a:br>
              <a:rPr lang="en-US" sz="1584" kern="1200">
                <a:solidFill>
                  <a:schemeClr val="tx1"/>
                </a:solidFill>
                <a:latin typeface="Georgia" panose="02040502050405020303" pitchFamily="18" charset="0"/>
                <a:ea typeface="+mn-ea"/>
                <a:cs typeface="+mn-cs"/>
              </a:rPr>
            </a:br>
            <a:endParaRPr lang="en-US" sz="1584" kern="1200">
              <a:solidFill>
                <a:schemeClr val="tx1"/>
              </a:solidFill>
              <a:latin typeface="Georgia" panose="02040502050405020303" pitchFamily="18" charset="0"/>
              <a:ea typeface="+mn-ea"/>
              <a:cs typeface="+mn-cs"/>
            </a:endParaRPr>
          </a:p>
          <a:p>
            <a:pPr marL="251460" indent="-251460" defTabSz="804672">
              <a:spcAft>
                <a:spcPts val="600"/>
              </a:spcAft>
              <a:buFont typeface="Arial" panose="020B0604020202020204" pitchFamily="34" charset="0"/>
              <a:buChar char="•"/>
            </a:pPr>
            <a:r>
              <a:rPr lang="en-US" sz="1584" kern="1200">
                <a:solidFill>
                  <a:schemeClr val="tx1"/>
                </a:solidFill>
                <a:latin typeface="Georgia" panose="02040502050405020303" pitchFamily="18" charset="0"/>
                <a:ea typeface="+mn-ea"/>
                <a:cs typeface="+mn-cs"/>
              </a:rPr>
              <a:t>Diabetes is a major cause of </a:t>
            </a:r>
            <a:r>
              <a:rPr lang="en-US" sz="1584" b="1" kern="1200">
                <a:solidFill>
                  <a:schemeClr val="tx1"/>
                </a:solidFill>
                <a:latin typeface="Georgia" panose="02040502050405020303" pitchFamily="18" charset="0"/>
                <a:ea typeface="+mn-ea"/>
                <a:cs typeface="+mn-cs"/>
              </a:rPr>
              <a:t>blindness</a:t>
            </a:r>
            <a:r>
              <a:rPr lang="en-US" sz="1584" kern="1200">
                <a:solidFill>
                  <a:schemeClr val="tx1"/>
                </a:solidFill>
                <a:latin typeface="Georgia" panose="02040502050405020303" pitchFamily="18" charset="0"/>
                <a:ea typeface="+mn-ea"/>
                <a:cs typeface="+mn-cs"/>
              </a:rPr>
              <a:t>, </a:t>
            </a:r>
            <a:r>
              <a:rPr lang="en-US" sz="1584" b="1" kern="1200">
                <a:solidFill>
                  <a:schemeClr val="tx1"/>
                </a:solidFill>
                <a:latin typeface="Georgia" panose="02040502050405020303" pitchFamily="18" charset="0"/>
                <a:ea typeface="+mn-ea"/>
                <a:cs typeface="+mn-cs"/>
              </a:rPr>
              <a:t>kidney failure</a:t>
            </a:r>
            <a:r>
              <a:rPr lang="en-US" sz="1584" kern="1200">
                <a:solidFill>
                  <a:schemeClr val="tx1"/>
                </a:solidFill>
                <a:latin typeface="Georgia" panose="02040502050405020303" pitchFamily="18" charset="0"/>
                <a:ea typeface="+mn-ea"/>
                <a:cs typeface="+mn-cs"/>
              </a:rPr>
              <a:t>, </a:t>
            </a:r>
            <a:r>
              <a:rPr lang="en-US" sz="1584" b="1" kern="1200">
                <a:solidFill>
                  <a:schemeClr val="tx1"/>
                </a:solidFill>
                <a:latin typeface="Georgia" panose="02040502050405020303" pitchFamily="18" charset="0"/>
                <a:ea typeface="+mn-ea"/>
                <a:cs typeface="+mn-cs"/>
              </a:rPr>
              <a:t>heart attacks</a:t>
            </a:r>
            <a:r>
              <a:rPr lang="en-US" sz="1584" kern="1200">
                <a:solidFill>
                  <a:schemeClr val="tx1"/>
                </a:solidFill>
                <a:latin typeface="Georgia" panose="02040502050405020303" pitchFamily="18" charset="0"/>
                <a:ea typeface="+mn-ea"/>
                <a:cs typeface="+mn-cs"/>
              </a:rPr>
              <a:t>, </a:t>
            </a:r>
            <a:r>
              <a:rPr lang="en-US" sz="1584" b="1" kern="1200">
                <a:solidFill>
                  <a:schemeClr val="tx1"/>
                </a:solidFill>
                <a:latin typeface="Georgia" panose="02040502050405020303" pitchFamily="18" charset="0"/>
                <a:ea typeface="+mn-ea"/>
                <a:cs typeface="+mn-cs"/>
              </a:rPr>
              <a:t>stroke</a:t>
            </a:r>
            <a:r>
              <a:rPr lang="en-US" sz="1584" kern="1200">
                <a:solidFill>
                  <a:schemeClr val="tx1"/>
                </a:solidFill>
                <a:latin typeface="Georgia" panose="02040502050405020303" pitchFamily="18" charset="0"/>
                <a:ea typeface="+mn-ea"/>
                <a:cs typeface="+mn-cs"/>
              </a:rPr>
              <a:t> and lower limb </a:t>
            </a:r>
            <a:r>
              <a:rPr lang="en-US" sz="1584" b="1" kern="1200">
                <a:solidFill>
                  <a:schemeClr val="tx1"/>
                </a:solidFill>
                <a:latin typeface="Georgia" panose="02040502050405020303" pitchFamily="18" charset="0"/>
                <a:ea typeface="+mn-ea"/>
                <a:cs typeface="+mn-cs"/>
              </a:rPr>
              <a:t>amputation</a:t>
            </a:r>
            <a:br>
              <a:rPr lang="en-US" sz="1584" kern="1200">
                <a:solidFill>
                  <a:schemeClr val="tx1"/>
                </a:solidFill>
                <a:latin typeface="Georgia" panose="02040502050405020303" pitchFamily="18" charset="0"/>
                <a:ea typeface="+mn-ea"/>
                <a:cs typeface="+mn-cs"/>
              </a:rPr>
            </a:br>
            <a:endParaRPr lang="en-US" sz="1584" kern="1200">
              <a:solidFill>
                <a:schemeClr val="tx1"/>
              </a:solidFill>
              <a:latin typeface="Georgia" panose="02040502050405020303" pitchFamily="18" charset="0"/>
              <a:ea typeface="+mn-ea"/>
              <a:cs typeface="+mn-cs"/>
            </a:endParaRPr>
          </a:p>
          <a:p>
            <a:pPr marL="251460" indent="-251460" defTabSz="804672">
              <a:spcAft>
                <a:spcPts val="600"/>
              </a:spcAft>
              <a:buFont typeface="Arial" panose="020B0604020202020204" pitchFamily="34" charset="0"/>
              <a:buChar char="•"/>
            </a:pPr>
            <a:r>
              <a:rPr lang="en-US" sz="1584" kern="1200">
                <a:solidFill>
                  <a:schemeClr val="tx1"/>
                </a:solidFill>
                <a:latin typeface="Georgia" panose="02040502050405020303" pitchFamily="18" charset="0"/>
                <a:ea typeface="+mn-ea"/>
                <a:cs typeface="+mn-cs"/>
              </a:rPr>
              <a:t>Diabetes reduces a person’s productivity</a:t>
            </a:r>
          </a:p>
          <a:p>
            <a:pPr defTabSz="804672">
              <a:spcAft>
                <a:spcPts val="600"/>
              </a:spcAft>
            </a:pPr>
            <a:endParaRPr lang="en-US" sz="1584" kern="1200">
              <a:solidFill>
                <a:schemeClr val="tx1"/>
              </a:solidFill>
              <a:latin typeface="Georgia" panose="02040502050405020303" pitchFamily="18" charset="0"/>
              <a:ea typeface="+mn-ea"/>
              <a:cs typeface="+mn-cs"/>
            </a:endParaRPr>
          </a:p>
          <a:p>
            <a:pPr marL="285750" indent="-285750">
              <a:spcAft>
                <a:spcPts val="600"/>
              </a:spcAft>
              <a:buFont typeface="Arial" panose="020B0604020202020204" pitchFamily="34" charset="0"/>
              <a:buChar char="•"/>
            </a:pPr>
            <a:endParaRPr lang="en-US">
              <a:latin typeface="Georgia" panose="02040502050405020303" pitchFamily="18" charset="0"/>
            </a:endParaRPr>
          </a:p>
        </p:txBody>
      </p:sp>
      <p:sp>
        <p:nvSpPr>
          <p:cNvPr id="9" name="TextBox 8">
            <a:extLst>
              <a:ext uri="{FF2B5EF4-FFF2-40B4-BE49-F238E27FC236}">
                <a16:creationId xmlns:a16="http://schemas.microsoft.com/office/drawing/2014/main" id="{939A9F6C-74E3-8DE8-0078-1C8D991F941F}"/>
              </a:ext>
            </a:extLst>
          </p:cNvPr>
          <p:cNvSpPr txBox="1"/>
          <p:nvPr/>
        </p:nvSpPr>
        <p:spPr>
          <a:xfrm>
            <a:off x="1420124" y="1825625"/>
            <a:ext cx="9351751" cy="336118"/>
          </a:xfrm>
          <a:prstGeom prst="rect">
            <a:avLst/>
          </a:prstGeom>
          <a:noFill/>
        </p:spPr>
        <p:txBody>
          <a:bodyPr wrap="square" rtlCol="0">
            <a:spAutoFit/>
          </a:bodyPr>
          <a:lstStyle/>
          <a:p>
            <a:pPr algn="ctr" defTabSz="804672">
              <a:spcAft>
                <a:spcPts val="600"/>
              </a:spcAft>
            </a:pPr>
            <a:r>
              <a:rPr lang="en-US" sz="1584" b="1" kern="1200">
                <a:solidFill>
                  <a:schemeClr val="tx1"/>
                </a:solidFill>
                <a:latin typeface="Georgia" panose="02040502050405020303" pitchFamily="18" charset="0"/>
                <a:ea typeface="+mn-ea"/>
                <a:cs typeface="+mn-cs"/>
              </a:rPr>
              <a:t>Nearly 10% of Americans have type II diabetes</a:t>
            </a:r>
            <a:endParaRPr lang="en-US" b="1">
              <a:latin typeface="Georgia" panose="02040502050405020303" pitchFamily="18" charset="0"/>
            </a:endParaRPr>
          </a:p>
        </p:txBody>
      </p:sp>
      <p:sp>
        <p:nvSpPr>
          <p:cNvPr id="10" name="TextBox 9">
            <a:extLst>
              <a:ext uri="{FF2B5EF4-FFF2-40B4-BE49-F238E27FC236}">
                <a16:creationId xmlns:a16="http://schemas.microsoft.com/office/drawing/2014/main" id="{292CDFBD-8804-A3CF-AD5D-2D06F3D4816A}"/>
              </a:ext>
            </a:extLst>
          </p:cNvPr>
          <p:cNvSpPr txBox="1"/>
          <p:nvPr/>
        </p:nvSpPr>
        <p:spPr>
          <a:xfrm>
            <a:off x="6601856" y="3385097"/>
            <a:ext cx="4165635" cy="3114955"/>
          </a:xfrm>
          <a:prstGeom prst="rect">
            <a:avLst/>
          </a:prstGeom>
          <a:noFill/>
        </p:spPr>
        <p:txBody>
          <a:bodyPr wrap="square" rtlCol="0">
            <a:spAutoFit/>
          </a:bodyPr>
          <a:lstStyle/>
          <a:p>
            <a:pPr marL="251460" indent="-251460" defTabSz="804672">
              <a:spcAft>
                <a:spcPts val="600"/>
              </a:spcAft>
              <a:buFont typeface="Arial" panose="020B0604020202020204" pitchFamily="34" charset="0"/>
              <a:buChar char="•"/>
            </a:pPr>
            <a:r>
              <a:rPr lang="en-US" sz="1584" kern="1200">
                <a:solidFill>
                  <a:schemeClr val="tx1"/>
                </a:solidFill>
                <a:latin typeface="Georgia" panose="02040502050405020303" pitchFamily="18" charset="0"/>
                <a:ea typeface="+mn-ea"/>
                <a:cs typeface="+mn-cs"/>
              </a:rPr>
              <a:t>Diabetes costs the United States over </a:t>
            </a:r>
            <a:r>
              <a:rPr lang="en-US" sz="1584" b="1" kern="1200">
                <a:solidFill>
                  <a:schemeClr val="tx1"/>
                </a:solidFill>
                <a:latin typeface="Georgia" panose="02040502050405020303" pitchFamily="18" charset="0"/>
                <a:ea typeface="+mn-ea"/>
                <a:cs typeface="+mn-cs"/>
              </a:rPr>
              <a:t>$325 billion dollars a year</a:t>
            </a:r>
            <a:br>
              <a:rPr lang="en-US" sz="1584" b="1" kern="1200">
                <a:solidFill>
                  <a:schemeClr val="tx1"/>
                </a:solidFill>
                <a:latin typeface="Georgia" panose="02040502050405020303" pitchFamily="18" charset="0"/>
                <a:ea typeface="+mn-ea"/>
                <a:cs typeface="+mn-cs"/>
              </a:rPr>
            </a:br>
            <a:endParaRPr lang="en-US" sz="1584" b="1" kern="1200">
              <a:solidFill>
                <a:schemeClr val="tx1"/>
              </a:solidFill>
              <a:latin typeface="Georgia" panose="02040502050405020303" pitchFamily="18" charset="0"/>
              <a:ea typeface="+mn-ea"/>
              <a:cs typeface="+mn-cs"/>
            </a:endParaRPr>
          </a:p>
          <a:p>
            <a:pPr marL="251460" indent="-251460" defTabSz="804672">
              <a:spcAft>
                <a:spcPts val="600"/>
              </a:spcAft>
              <a:buFont typeface="Arial" panose="020B0604020202020204" pitchFamily="34" charset="0"/>
              <a:buChar char="•"/>
            </a:pPr>
            <a:r>
              <a:rPr lang="en-US" sz="1584" kern="1200">
                <a:solidFill>
                  <a:schemeClr val="tx1"/>
                </a:solidFill>
                <a:latin typeface="Georgia" panose="02040502050405020303" pitchFamily="18" charset="0"/>
                <a:ea typeface="+mn-ea"/>
                <a:cs typeface="+mn-cs"/>
              </a:rPr>
              <a:t>Diabetes care represents </a:t>
            </a:r>
            <a:r>
              <a:rPr lang="en-US" sz="1584" b="1" kern="1200">
                <a:solidFill>
                  <a:schemeClr val="tx1"/>
                </a:solidFill>
                <a:latin typeface="Georgia" panose="02040502050405020303" pitchFamily="18" charset="0"/>
                <a:ea typeface="+mn-ea"/>
                <a:cs typeface="+mn-cs"/>
              </a:rPr>
              <a:t>1 in 4 U.S. healthcare dollars</a:t>
            </a:r>
            <a:br>
              <a:rPr lang="en-US" sz="1584" b="1" kern="1200">
                <a:solidFill>
                  <a:schemeClr val="tx1"/>
                </a:solidFill>
                <a:latin typeface="Georgia" panose="02040502050405020303" pitchFamily="18" charset="0"/>
                <a:ea typeface="+mn-ea"/>
                <a:cs typeface="+mn-cs"/>
              </a:rPr>
            </a:br>
            <a:endParaRPr lang="en-US" sz="1584" b="1" kern="1200">
              <a:solidFill>
                <a:schemeClr val="tx1"/>
              </a:solidFill>
              <a:latin typeface="Georgia" panose="02040502050405020303" pitchFamily="18" charset="0"/>
              <a:ea typeface="+mn-ea"/>
              <a:cs typeface="+mn-cs"/>
            </a:endParaRPr>
          </a:p>
          <a:p>
            <a:pPr marL="251460" indent="-251460" defTabSz="804672">
              <a:spcAft>
                <a:spcPts val="600"/>
              </a:spcAft>
              <a:buFont typeface="Arial" panose="020B0604020202020204" pitchFamily="34" charset="0"/>
              <a:buChar char="•"/>
            </a:pPr>
            <a:r>
              <a:rPr lang="en-US" sz="1584" kern="1200">
                <a:solidFill>
                  <a:schemeClr val="tx1"/>
                </a:solidFill>
                <a:latin typeface="Georgia" panose="02040502050405020303" pitchFamily="18" charset="0"/>
                <a:ea typeface="+mn-ea"/>
                <a:cs typeface="+mn-cs"/>
              </a:rPr>
              <a:t>A citizen with diabetes can expect to pay nearly </a:t>
            </a:r>
            <a:r>
              <a:rPr lang="en-US" sz="1584" b="1" kern="1200">
                <a:solidFill>
                  <a:schemeClr val="tx1"/>
                </a:solidFill>
                <a:latin typeface="Georgia" panose="02040502050405020303" pitchFamily="18" charset="0"/>
                <a:ea typeface="+mn-ea"/>
                <a:cs typeface="+mn-cs"/>
              </a:rPr>
              <a:t>$10,000 a year </a:t>
            </a:r>
            <a:r>
              <a:rPr lang="en-US" sz="1584" kern="1200">
                <a:solidFill>
                  <a:schemeClr val="tx1"/>
                </a:solidFill>
                <a:latin typeface="Georgia" panose="02040502050405020303" pitchFamily="18" charset="0"/>
                <a:ea typeface="+mn-ea"/>
                <a:cs typeface="+mn-cs"/>
              </a:rPr>
              <a:t>for diabetes related healthcare </a:t>
            </a:r>
          </a:p>
          <a:p>
            <a:pPr marL="251460" indent="-251460" defTabSz="804672">
              <a:spcAft>
                <a:spcPts val="600"/>
              </a:spcAft>
              <a:buFont typeface="Arial" panose="020B0604020202020204" pitchFamily="34" charset="0"/>
              <a:buChar char="•"/>
            </a:pPr>
            <a:endParaRPr lang="en-US" sz="1584" kern="1200">
              <a:solidFill>
                <a:schemeClr val="tx1"/>
              </a:solidFill>
              <a:latin typeface="Georgia" panose="02040502050405020303" pitchFamily="18" charset="0"/>
              <a:ea typeface="+mn-ea"/>
              <a:cs typeface="+mn-cs"/>
            </a:endParaRPr>
          </a:p>
          <a:p>
            <a:pPr marL="285750" indent="-285750">
              <a:spcAft>
                <a:spcPts val="600"/>
              </a:spcAft>
              <a:buFont typeface="Arial" panose="020B0604020202020204" pitchFamily="34" charset="0"/>
              <a:buChar char="•"/>
            </a:pPr>
            <a:endParaRPr lang="en-US">
              <a:latin typeface="Georgia" panose="02040502050405020303" pitchFamily="18" charset="0"/>
            </a:endParaRPr>
          </a:p>
        </p:txBody>
      </p:sp>
      <p:sp>
        <p:nvSpPr>
          <p:cNvPr id="12" name="Rectangle 11">
            <a:extLst>
              <a:ext uri="{FF2B5EF4-FFF2-40B4-BE49-F238E27FC236}">
                <a16:creationId xmlns:a16="http://schemas.microsoft.com/office/drawing/2014/main" id="{C8699026-FF1D-ED54-9BF5-7B37E98B0282}"/>
              </a:ext>
            </a:extLst>
          </p:cNvPr>
          <p:cNvSpPr/>
          <p:nvPr/>
        </p:nvSpPr>
        <p:spPr>
          <a:xfrm>
            <a:off x="0" y="0"/>
            <a:ext cx="12188951" cy="1690688"/>
          </a:xfrm>
          <a:prstGeom prst="rect">
            <a:avLst/>
          </a:prstGeom>
          <a:solidFill>
            <a:srgbClr val="FED6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841DAA-1AF9-17FB-6FEF-9C16A28D4FEC}"/>
              </a:ext>
            </a:extLst>
          </p:cNvPr>
          <p:cNvSpPr>
            <a:spLocks noGrp="1"/>
          </p:cNvSpPr>
          <p:nvPr>
            <p:ph type="title"/>
          </p:nvPr>
        </p:nvSpPr>
        <p:spPr>
          <a:xfrm>
            <a:off x="838200" y="376882"/>
            <a:ext cx="10515600" cy="1133693"/>
          </a:xfrm>
        </p:spPr>
        <p:txBody>
          <a:bodyPr>
            <a:normAutofit/>
          </a:bodyPr>
          <a:lstStyle/>
          <a:p>
            <a:pPr algn="ctr"/>
            <a:r>
              <a:rPr lang="en-US" sz="3600">
                <a:latin typeface="Georgia"/>
                <a:ea typeface="+mj-lt"/>
                <a:cs typeface="+mj-lt"/>
              </a:rPr>
              <a:t>Diabetes is stealing our lives, wellbeing, and money</a:t>
            </a:r>
            <a:endParaRPr lang="en-US" sz="3600">
              <a:latin typeface="Georgia"/>
            </a:endParaRPr>
          </a:p>
        </p:txBody>
      </p:sp>
    </p:spTree>
    <p:extLst>
      <p:ext uri="{BB962C8B-B14F-4D97-AF65-F5344CB8AC3E}">
        <p14:creationId xmlns:p14="http://schemas.microsoft.com/office/powerpoint/2010/main" val="28932984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6B62528-F0D6-9C39-F601-6A9B67A45E89}"/>
              </a:ext>
            </a:extLst>
          </p:cNvPr>
          <p:cNvSpPr/>
          <p:nvPr/>
        </p:nvSpPr>
        <p:spPr>
          <a:xfrm>
            <a:off x="6108913" y="3868583"/>
            <a:ext cx="4023360" cy="300904"/>
          </a:xfrm>
          <a:prstGeom prst="rect">
            <a:avLst/>
          </a:prstGeom>
          <a:solidFill>
            <a:srgbClr val="FED6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841DAA-1AF9-17FB-6FEF-9C16A28D4FEC}"/>
              </a:ext>
            </a:extLst>
          </p:cNvPr>
          <p:cNvSpPr>
            <a:spLocks noGrp="1"/>
          </p:cNvSpPr>
          <p:nvPr>
            <p:ph type="title"/>
          </p:nvPr>
        </p:nvSpPr>
        <p:spPr>
          <a:xfrm>
            <a:off x="752556" y="2675656"/>
            <a:ext cx="4974955" cy="1325563"/>
          </a:xfrm>
        </p:spPr>
        <p:txBody>
          <a:bodyPr>
            <a:normAutofit fontScale="90000"/>
          </a:bodyPr>
          <a:lstStyle/>
          <a:p>
            <a:r>
              <a:rPr lang="en-US">
                <a:latin typeface="Georgia" panose="02040502050405020303" pitchFamily="18" charset="0"/>
                <a:ea typeface="+mj-lt"/>
                <a:cs typeface="+mj-lt"/>
              </a:rPr>
              <a:t>Catching and curing diabetes creates significant cost savings and revenue potential</a:t>
            </a:r>
            <a:endParaRPr lang="pt-BR">
              <a:latin typeface="Georgia" panose="02040502050405020303" pitchFamily="18" charset="0"/>
            </a:endParaRPr>
          </a:p>
        </p:txBody>
      </p:sp>
      <p:sp>
        <p:nvSpPr>
          <p:cNvPr id="7" name="TextBox 6">
            <a:extLst>
              <a:ext uri="{FF2B5EF4-FFF2-40B4-BE49-F238E27FC236}">
                <a16:creationId xmlns:a16="http://schemas.microsoft.com/office/drawing/2014/main" id="{33505324-2EF3-5A07-4FD7-F44F3DBA0616}"/>
              </a:ext>
            </a:extLst>
          </p:cNvPr>
          <p:cNvSpPr txBox="1"/>
          <p:nvPr/>
        </p:nvSpPr>
        <p:spPr>
          <a:xfrm>
            <a:off x="6085668" y="2415108"/>
            <a:ext cx="4974954" cy="923330"/>
          </a:xfrm>
          <a:prstGeom prst="rect">
            <a:avLst/>
          </a:prstGeom>
          <a:noFill/>
        </p:spPr>
        <p:txBody>
          <a:bodyPr wrap="square" rtlCol="0">
            <a:spAutoFit/>
          </a:bodyPr>
          <a:lstStyle/>
          <a:p>
            <a:r>
              <a:rPr lang="en-US">
                <a:latin typeface="Georgia" panose="02040502050405020303" pitchFamily="18" charset="0"/>
              </a:rPr>
              <a:t>The amount the private sector could save per year on improved productivity, reduced absenteeism, and reduced insurance costs.</a:t>
            </a:r>
          </a:p>
        </p:txBody>
      </p:sp>
      <p:sp>
        <p:nvSpPr>
          <p:cNvPr id="10" name="Rectangle 9">
            <a:extLst>
              <a:ext uri="{FF2B5EF4-FFF2-40B4-BE49-F238E27FC236}">
                <a16:creationId xmlns:a16="http://schemas.microsoft.com/office/drawing/2014/main" id="{13BC257E-586E-79A0-9AFF-9F14DA554687}"/>
              </a:ext>
            </a:extLst>
          </p:cNvPr>
          <p:cNvSpPr/>
          <p:nvPr/>
        </p:nvSpPr>
        <p:spPr>
          <a:xfrm>
            <a:off x="6108914" y="2079990"/>
            <a:ext cx="3151323" cy="300904"/>
          </a:xfrm>
          <a:prstGeom prst="rect">
            <a:avLst/>
          </a:prstGeom>
          <a:solidFill>
            <a:srgbClr val="FED6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E79646B-1276-A589-81AB-348BA77F015C}"/>
              </a:ext>
            </a:extLst>
          </p:cNvPr>
          <p:cNvSpPr txBox="1"/>
          <p:nvPr/>
        </p:nvSpPr>
        <p:spPr>
          <a:xfrm>
            <a:off x="6085668" y="4203657"/>
            <a:ext cx="4974954" cy="646331"/>
          </a:xfrm>
          <a:prstGeom prst="rect">
            <a:avLst/>
          </a:prstGeom>
          <a:noFill/>
        </p:spPr>
        <p:txBody>
          <a:bodyPr wrap="square" rtlCol="0">
            <a:spAutoFit/>
          </a:bodyPr>
          <a:lstStyle/>
          <a:p>
            <a:r>
              <a:rPr lang="en-US">
                <a:latin typeface="Georgia" panose="02040502050405020303" pitchFamily="18" charset="0"/>
              </a:rPr>
              <a:t>The amount new entrants could steal from the current diabetes market.</a:t>
            </a:r>
          </a:p>
        </p:txBody>
      </p:sp>
      <p:sp>
        <p:nvSpPr>
          <p:cNvPr id="6" name="TextBox 5">
            <a:extLst>
              <a:ext uri="{FF2B5EF4-FFF2-40B4-BE49-F238E27FC236}">
                <a16:creationId xmlns:a16="http://schemas.microsoft.com/office/drawing/2014/main" id="{49B73B99-9C73-82E1-4383-A332A3208E5B}"/>
              </a:ext>
            </a:extLst>
          </p:cNvPr>
          <p:cNvSpPr txBox="1"/>
          <p:nvPr/>
        </p:nvSpPr>
        <p:spPr>
          <a:xfrm>
            <a:off x="6085668" y="2045776"/>
            <a:ext cx="3394128" cy="369332"/>
          </a:xfrm>
          <a:prstGeom prst="rect">
            <a:avLst/>
          </a:prstGeom>
          <a:noFill/>
        </p:spPr>
        <p:txBody>
          <a:bodyPr wrap="square" rtlCol="0">
            <a:spAutoFit/>
          </a:bodyPr>
          <a:lstStyle/>
          <a:p>
            <a:r>
              <a:rPr lang="en-US" b="1" spc="-150">
                <a:latin typeface="Georgia" panose="02040502050405020303" pitchFamily="18" charset="0"/>
              </a:rPr>
              <a:t>NINETY BILLION DOLLARS</a:t>
            </a:r>
          </a:p>
        </p:txBody>
      </p:sp>
      <p:sp>
        <p:nvSpPr>
          <p:cNvPr id="8" name="TextBox 7">
            <a:extLst>
              <a:ext uri="{FF2B5EF4-FFF2-40B4-BE49-F238E27FC236}">
                <a16:creationId xmlns:a16="http://schemas.microsoft.com/office/drawing/2014/main" id="{7786C01E-355B-54DD-A681-3AE960F3EBFB}"/>
              </a:ext>
            </a:extLst>
          </p:cNvPr>
          <p:cNvSpPr txBox="1"/>
          <p:nvPr/>
        </p:nvSpPr>
        <p:spPr>
          <a:xfrm>
            <a:off x="6085667" y="3834325"/>
            <a:ext cx="4974955" cy="369332"/>
          </a:xfrm>
          <a:prstGeom prst="rect">
            <a:avLst/>
          </a:prstGeom>
          <a:noFill/>
        </p:spPr>
        <p:txBody>
          <a:bodyPr wrap="square" rtlCol="0">
            <a:spAutoFit/>
          </a:bodyPr>
          <a:lstStyle/>
          <a:p>
            <a:r>
              <a:rPr lang="en-US" b="1" spc="-150">
                <a:latin typeface="Georgia" panose="02040502050405020303" pitchFamily="18" charset="0"/>
              </a:rPr>
              <a:t>SEVENTY FIVE  + BILLION DOLLARS</a:t>
            </a:r>
          </a:p>
        </p:txBody>
      </p:sp>
      <p:sp>
        <p:nvSpPr>
          <p:cNvPr id="14" name="Rectangle 13">
            <a:extLst>
              <a:ext uri="{FF2B5EF4-FFF2-40B4-BE49-F238E27FC236}">
                <a16:creationId xmlns:a16="http://schemas.microsoft.com/office/drawing/2014/main" id="{DD75931C-92BB-E87E-6784-D62BF9AE1750}"/>
              </a:ext>
            </a:extLst>
          </p:cNvPr>
          <p:cNvSpPr/>
          <p:nvPr/>
        </p:nvSpPr>
        <p:spPr>
          <a:xfrm>
            <a:off x="394400" y="400050"/>
            <a:ext cx="11403200" cy="6076950"/>
          </a:xfrm>
          <a:prstGeom prst="rect">
            <a:avLst/>
          </a:prstGeom>
          <a:noFill/>
          <a:ln w="57150">
            <a:solidFill>
              <a:srgbClr val="FED6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381035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80B4D07-9D43-EB0D-D00B-CE282803EFEA}"/>
              </a:ext>
            </a:extLst>
          </p:cNvPr>
          <p:cNvSpPr/>
          <p:nvPr/>
        </p:nvSpPr>
        <p:spPr>
          <a:xfrm>
            <a:off x="0" y="-38100"/>
            <a:ext cx="12192000" cy="6896100"/>
          </a:xfrm>
          <a:prstGeom prst="rect">
            <a:avLst/>
          </a:prstGeom>
          <a:solidFill>
            <a:srgbClr val="FED66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9" name="Rectangle 8">
            <a:extLst>
              <a:ext uri="{FF2B5EF4-FFF2-40B4-BE49-F238E27FC236}">
                <a16:creationId xmlns:a16="http://schemas.microsoft.com/office/drawing/2014/main" id="{DA1695CE-6A6A-21FB-687F-68C6B231720F}"/>
              </a:ext>
            </a:extLst>
          </p:cNvPr>
          <p:cNvSpPr/>
          <p:nvPr/>
        </p:nvSpPr>
        <p:spPr>
          <a:xfrm>
            <a:off x="466725" y="2258218"/>
            <a:ext cx="11258550" cy="2000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841DAA-1AF9-17FB-6FEF-9C16A28D4FEC}"/>
              </a:ext>
            </a:extLst>
          </p:cNvPr>
          <p:cNvSpPr>
            <a:spLocks noGrp="1"/>
          </p:cNvSpPr>
          <p:nvPr>
            <p:ph type="title"/>
          </p:nvPr>
        </p:nvSpPr>
        <p:spPr>
          <a:xfrm>
            <a:off x="838200" y="2595562"/>
            <a:ext cx="10515600" cy="1325563"/>
          </a:xfrm>
        </p:spPr>
        <p:txBody>
          <a:bodyPr>
            <a:normAutofit fontScale="90000"/>
          </a:bodyPr>
          <a:lstStyle/>
          <a:p>
            <a:r>
              <a:rPr lang="en-US">
                <a:latin typeface="Georgia" panose="02040502050405020303" pitchFamily="18" charset="0"/>
                <a:ea typeface="+mj-lt"/>
                <a:cs typeface="+mj-lt"/>
              </a:rPr>
              <a:t>Our Project: To identify the factors impacting the likelihood to be diagnosed with diabetes</a:t>
            </a:r>
            <a:endParaRPr lang="en-US">
              <a:latin typeface="Georgia" panose="02040502050405020303" pitchFamily="18" charset="0"/>
            </a:endParaRPr>
          </a:p>
        </p:txBody>
      </p:sp>
    </p:spTree>
    <p:extLst>
      <p:ext uri="{BB962C8B-B14F-4D97-AF65-F5344CB8AC3E}">
        <p14:creationId xmlns:p14="http://schemas.microsoft.com/office/powerpoint/2010/main" val="32531378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FC9CFD7-A555-B310-56D4-0A6D6FDC5499}"/>
              </a:ext>
            </a:extLst>
          </p:cNvPr>
          <p:cNvSpPr/>
          <p:nvPr/>
        </p:nvSpPr>
        <p:spPr>
          <a:xfrm>
            <a:off x="0" y="0"/>
            <a:ext cx="4171950" cy="6858000"/>
          </a:xfrm>
          <a:prstGeom prst="rect">
            <a:avLst/>
          </a:prstGeom>
          <a:solidFill>
            <a:srgbClr val="FED668"/>
          </a:solidFill>
          <a:ln>
            <a:solidFill>
              <a:srgbClr val="FED6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0D82855E-5ADB-07D0-9ED3-A9F44381FC83}"/>
              </a:ext>
            </a:extLst>
          </p:cNvPr>
          <p:cNvSpPr/>
          <p:nvPr/>
        </p:nvSpPr>
        <p:spPr>
          <a:xfrm>
            <a:off x="4686300" y="530225"/>
            <a:ext cx="7143750" cy="860425"/>
          </a:xfrm>
          <a:prstGeom prst="roundRect">
            <a:avLst/>
          </a:prstGeom>
          <a:noFill/>
          <a:ln w="28575">
            <a:solidFill>
              <a:srgbClr val="FED6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EBD42C77-DB24-0CE9-B1AD-D4CCD45B9A04}"/>
              </a:ext>
            </a:extLst>
          </p:cNvPr>
          <p:cNvSpPr/>
          <p:nvPr/>
        </p:nvSpPr>
        <p:spPr>
          <a:xfrm>
            <a:off x="4362450" y="530225"/>
            <a:ext cx="860424" cy="860424"/>
          </a:xfrm>
          <a:prstGeom prst="ellipse">
            <a:avLst/>
          </a:prstGeom>
          <a:solidFill>
            <a:srgbClr val="FED668"/>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bg1"/>
                </a:solidFill>
                <a:latin typeface="Georgia" panose="02040502050405020303" pitchFamily="18" charset="0"/>
              </a:rPr>
              <a:t>1</a:t>
            </a:r>
          </a:p>
        </p:txBody>
      </p:sp>
      <p:sp>
        <p:nvSpPr>
          <p:cNvPr id="9" name="TextBox 8">
            <a:extLst>
              <a:ext uri="{FF2B5EF4-FFF2-40B4-BE49-F238E27FC236}">
                <a16:creationId xmlns:a16="http://schemas.microsoft.com/office/drawing/2014/main" id="{4571041E-F378-E468-058D-D4CCA7823F3B}"/>
              </a:ext>
            </a:extLst>
          </p:cNvPr>
          <p:cNvSpPr txBox="1"/>
          <p:nvPr/>
        </p:nvSpPr>
        <p:spPr>
          <a:xfrm>
            <a:off x="4495800" y="222448"/>
            <a:ext cx="4171950" cy="307777"/>
          </a:xfrm>
          <a:prstGeom prst="rect">
            <a:avLst/>
          </a:prstGeom>
          <a:noFill/>
        </p:spPr>
        <p:txBody>
          <a:bodyPr wrap="square" rtlCol="0">
            <a:spAutoFit/>
          </a:bodyPr>
          <a:lstStyle/>
          <a:p>
            <a:r>
              <a:rPr lang="en-US" sz="1400" b="1">
                <a:latin typeface="Georgia" panose="02040502050405020303" pitchFamily="18" charset="0"/>
              </a:rPr>
              <a:t>DESK RESEARCH &amp; DATA SOURCING</a:t>
            </a:r>
          </a:p>
        </p:txBody>
      </p:sp>
      <p:sp>
        <p:nvSpPr>
          <p:cNvPr id="11" name="TextBox 10">
            <a:extLst>
              <a:ext uri="{FF2B5EF4-FFF2-40B4-BE49-F238E27FC236}">
                <a16:creationId xmlns:a16="http://schemas.microsoft.com/office/drawing/2014/main" id="{6964A4FF-3789-B726-043F-9B84A54E2010}"/>
              </a:ext>
            </a:extLst>
          </p:cNvPr>
          <p:cNvSpPr txBox="1"/>
          <p:nvPr/>
        </p:nvSpPr>
        <p:spPr>
          <a:xfrm>
            <a:off x="5222874" y="729605"/>
            <a:ext cx="6187248" cy="461665"/>
          </a:xfrm>
          <a:prstGeom prst="rect">
            <a:avLst/>
          </a:prstGeom>
          <a:noFill/>
        </p:spPr>
        <p:txBody>
          <a:bodyPr wrap="square" rtlCol="0">
            <a:spAutoFit/>
          </a:bodyPr>
          <a:lstStyle/>
          <a:p>
            <a:r>
              <a:rPr lang="en-US" sz="1200">
                <a:latin typeface="Georgia" panose="02040502050405020303" pitchFamily="18" charset="0"/>
              </a:rPr>
              <a:t>We have read and taken notes on a number of academic research studies including those from Venkat Narayan and other leading researchers in the diabetes field.</a:t>
            </a:r>
          </a:p>
        </p:txBody>
      </p:sp>
      <p:sp>
        <p:nvSpPr>
          <p:cNvPr id="12" name="Rounded Rectangle 11">
            <a:extLst>
              <a:ext uri="{FF2B5EF4-FFF2-40B4-BE49-F238E27FC236}">
                <a16:creationId xmlns:a16="http://schemas.microsoft.com/office/drawing/2014/main" id="{785214D8-B347-2572-6D5E-34F28ECC295B}"/>
              </a:ext>
            </a:extLst>
          </p:cNvPr>
          <p:cNvSpPr/>
          <p:nvPr/>
        </p:nvSpPr>
        <p:spPr>
          <a:xfrm>
            <a:off x="4686300" y="1839107"/>
            <a:ext cx="7143750" cy="860425"/>
          </a:xfrm>
          <a:prstGeom prst="roundRect">
            <a:avLst/>
          </a:prstGeom>
          <a:noFill/>
          <a:ln w="28575">
            <a:solidFill>
              <a:srgbClr val="FED6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A8F30185-2E1A-4DC5-2C28-865E0C7FDC40}"/>
              </a:ext>
            </a:extLst>
          </p:cNvPr>
          <p:cNvSpPr/>
          <p:nvPr/>
        </p:nvSpPr>
        <p:spPr>
          <a:xfrm>
            <a:off x="4362450" y="1839107"/>
            <a:ext cx="860424" cy="860424"/>
          </a:xfrm>
          <a:prstGeom prst="ellipse">
            <a:avLst/>
          </a:prstGeom>
          <a:solidFill>
            <a:srgbClr val="FED668"/>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bg1"/>
                </a:solidFill>
                <a:latin typeface="Georgia" panose="02040502050405020303" pitchFamily="18" charset="0"/>
              </a:rPr>
              <a:t>2</a:t>
            </a:r>
          </a:p>
        </p:txBody>
      </p:sp>
      <p:sp>
        <p:nvSpPr>
          <p:cNvPr id="14" name="TextBox 13">
            <a:extLst>
              <a:ext uri="{FF2B5EF4-FFF2-40B4-BE49-F238E27FC236}">
                <a16:creationId xmlns:a16="http://schemas.microsoft.com/office/drawing/2014/main" id="{600A103B-0D87-B559-E23F-1A17B8F4F816}"/>
              </a:ext>
            </a:extLst>
          </p:cNvPr>
          <p:cNvSpPr txBox="1"/>
          <p:nvPr/>
        </p:nvSpPr>
        <p:spPr>
          <a:xfrm>
            <a:off x="4495800" y="1531330"/>
            <a:ext cx="4171950" cy="307777"/>
          </a:xfrm>
          <a:prstGeom prst="rect">
            <a:avLst/>
          </a:prstGeom>
          <a:noFill/>
        </p:spPr>
        <p:txBody>
          <a:bodyPr wrap="square" rtlCol="0">
            <a:spAutoFit/>
          </a:bodyPr>
          <a:lstStyle/>
          <a:p>
            <a:r>
              <a:rPr lang="en-US" sz="1400" b="1">
                <a:latin typeface="Georgia" panose="02040502050405020303" pitchFamily="18" charset="0"/>
              </a:rPr>
              <a:t>DATA PROCESSING &amp; CLEANING</a:t>
            </a:r>
          </a:p>
        </p:txBody>
      </p:sp>
      <p:sp>
        <p:nvSpPr>
          <p:cNvPr id="15" name="TextBox 14">
            <a:extLst>
              <a:ext uri="{FF2B5EF4-FFF2-40B4-BE49-F238E27FC236}">
                <a16:creationId xmlns:a16="http://schemas.microsoft.com/office/drawing/2014/main" id="{73CB9FD0-28DD-9D31-1F7F-0B19009F0C57}"/>
              </a:ext>
            </a:extLst>
          </p:cNvPr>
          <p:cNvSpPr txBox="1"/>
          <p:nvPr/>
        </p:nvSpPr>
        <p:spPr>
          <a:xfrm>
            <a:off x="5222874" y="1946153"/>
            <a:ext cx="6187248" cy="646331"/>
          </a:xfrm>
          <a:prstGeom prst="rect">
            <a:avLst/>
          </a:prstGeom>
          <a:noFill/>
        </p:spPr>
        <p:txBody>
          <a:bodyPr wrap="square" rtlCol="0">
            <a:spAutoFit/>
          </a:bodyPr>
          <a:lstStyle/>
          <a:p>
            <a:r>
              <a:rPr lang="en-US" sz="1200">
                <a:latin typeface="Georgia" panose="02040502050405020303" pitchFamily="18" charset="0"/>
              </a:rPr>
              <a:t>We have uploaded and inspected the missing data. We have researched how to handle missing data with medical survey responses and will remove rather than manipulate missing values. We have merged the two data sets on state and year. </a:t>
            </a:r>
          </a:p>
        </p:txBody>
      </p:sp>
      <p:sp>
        <p:nvSpPr>
          <p:cNvPr id="16" name="Rounded Rectangle 15">
            <a:extLst>
              <a:ext uri="{FF2B5EF4-FFF2-40B4-BE49-F238E27FC236}">
                <a16:creationId xmlns:a16="http://schemas.microsoft.com/office/drawing/2014/main" id="{451D1CCA-D7E0-BDB1-C7D9-8C89AD096A22}"/>
              </a:ext>
            </a:extLst>
          </p:cNvPr>
          <p:cNvSpPr/>
          <p:nvPr/>
        </p:nvSpPr>
        <p:spPr>
          <a:xfrm>
            <a:off x="4686300" y="3147989"/>
            <a:ext cx="7143750" cy="860425"/>
          </a:xfrm>
          <a:prstGeom prst="roundRect">
            <a:avLst/>
          </a:prstGeom>
          <a:noFill/>
          <a:ln w="28575">
            <a:solidFill>
              <a:srgbClr val="FED6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2761C865-6FE6-E1E0-69EE-2386084AF74D}"/>
              </a:ext>
            </a:extLst>
          </p:cNvPr>
          <p:cNvSpPr/>
          <p:nvPr/>
        </p:nvSpPr>
        <p:spPr>
          <a:xfrm>
            <a:off x="4362450" y="3147989"/>
            <a:ext cx="860424" cy="860424"/>
          </a:xfrm>
          <a:prstGeom prst="ellipse">
            <a:avLst/>
          </a:prstGeom>
          <a:solidFill>
            <a:srgbClr val="FED668"/>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bg1"/>
                </a:solidFill>
                <a:latin typeface="Georgia" panose="02040502050405020303" pitchFamily="18" charset="0"/>
              </a:rPr>
              <a:t>3</a:t>
            </a:r>
          </a:p>
        </p:txBody>
      </p:sp>
      <p:sp>
        <p:nvSpPr>
          <p:cNvPr id="18" name="TextBox 17">
            <a:extLst>
              <a:ext uri="{FF2B5EF4-FFF2-40B4-BE49-F238E27FC236}">
                <a16:creationId xmlns:a16="http://schemas.microsoft.com/office/drawing/2014/main" id="{F2EA874A-9CDC-922D-0C95-3CB27573B139}"/>
              </a:ext>
            </a:extLst>
          </p:cNvPr>
          <p:cNvSpPr txBox="1"/>
          <p:nvPr/>
        </p:nvSpPr>
        <p:spPr>
          <a:xfrm>
            <a:off x="4495800" y="2840212"/>
            <a:ext cx="4171950" cy="307777"/>
          </a:xfrm>
          <a:prstGeom prst="rect">
            <a:avLst/>
          </a:prstGeom>
          <a:noFill/>
        </p:spPr>
        <p:txBody>
          <a:bodyPr wrap="square" rtlCol="0">
            <a:spAutoFit/>
          </a:bodyPr>
          <a:lstStyle/>
          <a:p>
            <a:r>
              <a:rPr lang="en-US" sz="1400" b="1">
                <a:latin typeface="Georgia" panose="02040502050405020303" pitchFamily="18" charset="0"/>
              </a:rPr>
              <a:t>FEATURE SELECTION</a:t>
            </a:r>
          </a:p>
        </p:txBody>
      </p:sp>
      <p:sp>
        <p:nvSpPr>
          <p:cNvPr id="19" name="TextBox 18">
            <a:extLst>
              <a:ext uri="{FF2B5EF4-FFF2-40B4-BE49-F238E27FC236}">
                <a16:creationId xmlns:a16="http://schemas.microsoft.com/office/drawing/2014/main" id="{14B45BFE-B053-EAFC-49EC-2E7EFEEE7F66}"/>
              </a:ext>
            </a:extLst>
          </p:cNvPr>
          <p:cNvSpPr txBox="1"/>
          <p:nvPr/>
        </p:nvSpPr>
        <p:spPr>
          <a:xfrm>
            <a:off x="5222874" y="3288669"/>
            <a:ext cx="6187248" cy="646331"/>
          </a:xfrm>
          <a:prstGeom prst="rect">
            <a:avLst/>
          </a:prstGeom>
          <a:noFill/>
        </p:spPr>
        <p:txBody>
          <a:bodyPr wrap="square" rtlCol="0">
            <a:spAutoFit/>
          </a:bodyPr>
          <a:lstStyle/>
          <a:p>
            <a:r>
              <a:rPr lang="en-US" sz="1200">
                <a:latin typeface="Georgia" panose="02040502050405020303" pitchFamily="18" charset="0"/>
              </a:rPr>
              <a:t>Our desk research, available data after cleaning, correlation charts, ridge and stepwise have led us to include variables related to obesity, diet, exercise, and cost of living for initial modeling.</a:t>
            </a:r>
          </a:p>
        </p:txBody>
      </p:sp>
      <p:sp>
        <p:nvSpPr>
          <p:cNvPr id="20" name="Rounded Rectangle 19">
            <a:extLst>
              <a:ext uri="{FF2B5EF4-FFF2-40B4-BE49-F238E27FC236}">
                <a16:creationId xmlns:a16="http://schemas.microsoft.com/office/drawing/2014/main" id="{186A0D7D-70AE-A9D2-3025-1DA134E80E21}"/>
              </a:ext>
            </a:extLst>
          </p:cNvPr>
          <p:cNvSpPr/>
          <p:nvPr/>
        </p:nvSpPr>
        <p:spPr>
          <a:xfrm>
            <a:off x="4686300" y="4513990"/>
            <a:ext cx="7143750" cy="860425"/>
          </a:xfrm>
          <a:prstGeom prst="roundRect">
            <a:avLst/>
          </a:prstGeom>
          <a:noFill/>
          <a:ln w="28575">
            <a:solidFill>
              <a:srgbClr val="FED6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EE9FC435-C12E-4614-C297-1F7F7AF2E954}"/>
              </a:ext>
            </a:extLst>
          </p:cNvPr>
          <p:cNvSpPr/>
          <p:nvPr/>
        </p:nvSpPr>
        <p:spPr>
          <a:xfrm>
            <a:off x="4362450" y="4513990"/>
            <a:ext cx="860424" cy="860424"/>
          </a:xfrm>
          <a:prstGeom prst="ellipse">
            <a:avLst/>
          </a:prstGeom>
          <a:solidFill>
            <a:srgbClr val="FED668"/>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bg1"/>
                </a:solidFill>
                <a:latin typeface="Georgia" panose="02040502050405020303" pitchFamily="18" charset="0"/>
              </a:rPr>
              <a:t>4</a:t>
            </a:r>
          </a:p>
        </p:txBody>
      </p:sp>
      <p:sp>
        <p:nvSpPr>
          <p:cNvPr id="22" name="TextBox 21">
            <a:extLst>
              <a:ext uri="{FF2B5EF4-FFF2-40B4-BE49-F238E27FC236}">
                <a16:creationId xmlns:a16="http://schemas.microsoft.com/office/drawing/2014/main" id="{3817CB89-2F8C-A2F1-6661-8E7DA93AC61C}"/>
              </a:ext>
            </a:extLst>
          </p:cNvPr>
          <p:cNvSpPr txBox="1"/>
          <p:nvPr/>
        </p:nvSpPr>
        <p:spPr>
          <a:xfrm>
            <a:off x="4495799" y="4206213"/>
            <a:ext cx="5522843" cy="307777"/>
          </a:xfrm>
          <a:prstGeom prst="rect">
            <a:avLst/>
          </a:prstGeom>
          <a:noFill/>
        </p:spPr>
        <p:txBody>
          <a:bodyPr wrap="square" rtlCol="0">
            <a:spAutoFit/>
          </a:bodyPr>
          <a:lstStyle/>
          <a:p>
            <a:r>
              <a:rPr lang="en-US" sz="1400" b="1">
                <a:latin typeface="Georgia" panose="02040502050405020303" pitchFamily="18" charset="0"/>
              </a:rPr>
              <a:t>MODEL COMPARISON  &amp; MODEL SELECTION</a:t>
            </a:r>
          </a:p>
        </p:txBody>
      </p:sp>
      <p:sp>
        <p:nvSpPr>
          <p:cNvPr id="23" name="TextBox 22">
            <a:extLst>
              <a:ext uri="{FF2B5EF4-FFF2-40B4-BE49-F238E27FC236}">
                <a16:creationId xmlns:a16="http://schemas.microsoft.com/office/drawing/2014/main" id="{B1E1CA47-D3D4-E41C-2E2C-C16B33C22524}"/>
              </a:ext>
            </a:extLst>
          </p:cNvPr>
          <p:cNvSpPr txBox="1"/>
          <p:nvPr/>
        </p:nvSpPr>
        <p:spPr>
          <a:xfrm>
            <a:off x="5222874" y="4654670"/>
            <a:ext cx="6187248" cy="646331"/>
          </a:xfrm>
          <a:prstGeom prst="rect">
            <a:avLst/>
          </a:prstGeom>
          <a:noFill/>
        </p:spPr>
        <p:txBody>
          <a:bodyPr wrap="square" rtlCol="0">
            <a:spAutoFit/>
          </a:bodyPr>
          <a:lstStyle>
            <a:defPPr>
              <a:defRPr lang="en-US"/>
            </a:defPPr>
            <a:lvl1pPr>
              <a:defRPr sz="1200">
                <a:latin typeface="Georgia" panose="02040502050405020303" pitchFamily="18" charset="0"/>
              </a:defRPr>
            </a:lvl1pPr>
          </a:lstStyle>
          <a:p>
            <a:r>
              <a:rPr lang="en-US"/>
              <a:t>We will run Logistic Regression, KNN, Random Forest, and SVM with cross-validation and compare the cross-validation accuracy results. From there, we will choose the model with the best accuracy score. </a:t>
            </a:r>
            <a:endParaRPr lang="pt-BR"/>
          </a:p>
        </p:txBody>
      </p:sp>
      <p:sp>
        <p:nvSpPr>
          <p:cNvPr id="26" name="Rounded Rectangle 25">
            <a:extLst>
              <a:ext uri="{FF2B5EF4-FFF2-40B4-BE49-F238E27FC236}">
                <a16:creationId xmlns:a16="http://schemas.microsoft.com/office/drawing/2014/main" id="{10CA3F74-E66B-C24A-FC65-9628FC109124}"/>
              </a:ext>
            </a:extLst>
          </p:cNvPr>
          <p:cNvSpPr/>
          <p:nvPr/>
        </p:nvSpPr>
        <p:spPr>
          <a:xfrm>
            <a:off x="4686300" y="5879991"/>
            <a:ext cx="7143750" cy="860425"/>
          </a:xfrm>
          <a:prstGeom prst="roundRect">
            <a:avLst/>
          </a:prstGeom>
          <a:noFill/>
          <a:ln w="28575">
            <a:solidFill>
              <a:srgbClr val="FED6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F1A1C292-162E-F8D0-8960-3C9CC6E71732}"/>
              </a:ext>
            </a:extLst>
          </p:cNvPr>
          <p:cNvSpPr/>
          <p:nvPr/>
        </p:nvSpPr>
        <p:spPr>
          <a:xfrm>
            <a:off x="4362450" y="5879991"/>
            <a:ext cx="860424" cy="860424"/>
          </a:xfrm>
          <a:prstGeom prst="ellipse">
            <a:avLst/>
          </a:prstGeom>
          <a:solidFill>
            <a:srgbClr val="FED668"/>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bg1"/>
                </a:solidFill>
                <a:latin typeface="Georgia" panose="02040502050405020303" pitchFamily="18" charset="0"/>
              </a:rPr>
              <a:t>5</a:t>
            </a:r>
          </a:p>
        </p:txBody>
      </p:sp>
      <p:sp>
        <p:nvSpPr>
          <p:cNvPr id="28" name="TextBox 27">
            <a:extLst>
              <a:ext uri="{FF2B5EF4-FFF2-40B4-BE49-F238E27FC236}">
                <a16:creationId xmlns:a16="http://schemas.microsoft.com/office/drawing/2014/main" id="{2732C207-02B5-AA0C-1F28-66862483A987}"/>
              </a:ext>
            </a:extLst>
          </p:cNvPr>
          <p:cNvSpPr txBox="1"/>
          <p:nvPr/>
        </p:nvSpPr>
        <p:spPr>
          <a:xfrm>
            <a:off x="4495799" y="5572214"/>
            <a:ext cx="5522843" cy="307777"/>
          </a:xfrm>
          <a:prstGeom prst="rect">
            <a:avLst/>
          </a:prstGeom>
          <a:noFill/>
        </p:spPr>
        <p:txBody>
          <a:bodyPr wrap="square" rtlCol="0">
            <a:spAutoFit/>
          </a:bodyPr>
          <a:lstStyle/>
          <a:p>
            <a:r>
              <a:rPr lang="en-US" sz="1400" b="1">
                <a:latin typeface="Georgia" panose="02040502050405020303" pitchFamily="18" charset="0"/>
              </a:rPr>
              <a:t>ANALYSIS</a:t>
            </a:r>
          </a:p>
        </p:txBody>
      </p:sp>
      <p:sp>
        <p:nvSpPr>
          <p:cNvPr id="29" name="TextBox 28">
            <a:extLst>
              <a:ext uri="{FF2B5EF4-FFF2-40B4-BE49-F238E27FC236}">
                <a16:creationId xmlns:a16="http://schemas.microsoft.com/office/drawing/2014/main" id="{9F9D1717-4910-0A24-7A99-4C0C69C1B348}"/>
              </a:ext>
            </a:extLst>
          </p:cNvPr>
          <p:cNvSpPr txBox="1"/>
          <p:nvPr/>
        </p:nvSpPr>
        <p:spPr>
          <a:xfrm>
            <a:off x="5222874" y="6096942"/>
            <a:ext cx="6187248" cy="461665"/>
          </a:xfrm>
          <a:prstGeom prst="rect">
            <a:avLst/>
          </a:prstGeom>
          <a:noFill/>
        </p:spPr>
        <p:txBody>
          <a:bodyPr wrap="square" rtlCol="0">
            <a:spAutoFit/>
          </a:bodyPr>
          <a:lstStyle>
            <a:defPPr>
              <a:defRPr lang="en-US"/>
            </a:defPPr>
            <a:lvl1pPr>
              <a:defRPr sz="1200">
                <a:latin typeface="Georgia" panose="02040502050405020303" pitchFamily="18" charset="0"/>
              </a:defRPr>
            </a:lvl1pPr>
          </a:lstStyle>
          <a:p>
            <a:r>
              <a:rPr lang="en-US"/>
              <a:t>We will create charts, analyze results, and potentially conduct further desk research to better understand the data and any current research that supports the findings.  </a:t>
            </a:r>
            <a:endParaRPr lang="pt-BR"/>
          </a:p>
        </p:txBody>
      </p:sp>
      <p:sp>
        <p:nvSpPr>
          <p:cNvPr id="30" name="Title 1">
            <a:extLst>
              <a:ext uri="{FF2B5EF4-FFF2-40B4-BE49-F238E27FC236}">
                <a16:creationId xmlns:a16="http://schemas.microsoft.com/office/drawing/2014/main" id="{EA512F82-07C2-BDF5-CDC2-ED75B1E2038F}"/>
              </a:ext>
            </a:extLst>
          </p:cNvPr>
          <p:cNvSpPr>
            <a:spLocks noGrp="1"/>
          </p:cNvSpPr>
          <p:nvPr>
            <p:ph type="title"/>
          </p:nvPr>
        </p:nvSpPr>
        <p:spPr>
          <a:xfrm>
            <a:off x="-32283" y="2682850"/>
            <a:ext cx="4171950" cy="1325563"/>
          </a:xfrm>
        </p:spPr>
        <p:txBody>
          <a:bodyPr>
            <a:normAutofit/>
          </a:bodyPr>
          <a:lstStyle/>
          <a:p>
            <a:pPr algn="ctr"/>
            <a:r>
              <a:rPr lang="en-US">
                <a:latin typeface="Georgia" panose="02040502050405020303" pitchFamily="18" charset="0"/>
                <a:ea typeface="+mj-lt"/>
                <a:cs typeface="+mj-lt"/>
              </a:rPr>
              <a:t>Detailed Approach</a:t>
            </a:r>
            <a:endParaRPr lang="pt-BR">
              <a:latin typeface="Georgia" panose="02040502050405020303" pitchFamily="18" charset="0"/>
            </a:endParaRPr>
          </a:p>
        </p:txBody>
      </p:sp>
      <p:pic>
        <p:nvPicPr>
          <p:cNvPr id="32" name="Graphic 31" descr="Checkmark with solid fill">
            <a:extLst>
              <a:ext uri="{FF2B5EF4-FFF2-40B4-BE49-F238E27FC236}">
                <a16:creationId xmlns:a16="http://schemas.microsoft.com/office/drawing/2014/main" id="{507418BC-C12D-3F5C-3F1D-2EE9BC0A3CD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216445" y="878834"/>
            <a:ext cx="517527" cy="517527"/>
          </a:xfrm>
          <a:prstGeom prst="rect">
            <a:avLst/>
          </a:prstGeom>
        </p:spPr>
      </p:pic>
      <p:pic>
        <p:nvPicPr>
          <p:cNvPr id="33" name="Graphic 32" descr="Checkmark with solid fill">
            <a:extLst>
              <a:ext uri="{FF2B5EF4-FFF2-40B4-BE49-F238E27FC236}">
                <a16:creationId xmlns:a16="http://schemas.microsoft.com/office/drawing/2014/main" id="{5A440765-8E2A-DE3F-7ECA-9757D95C00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225018" y="2176030"/>
            <a:ext cx="517527" cy="517527"/>
          </a:xfrm>
          <a:prstGeom prst="rect">
            <a:avLst/>
          </a:prstGeom>
        </p:spPr>
      </p:pic>
      <p:pic>
        <p:nvPicPr>
          <p:cNvPr id="34" name="Graphic 33" descr="Checkmark with solid fill">
            <a:extLst>
              <a:ext uri="{FF2B5EF4-FFF2-40B4-BE49-F238E27FC236}">
                <a16:creationId xmlns:a16="http://schemas.microsoft.com/office/drawing/2014/main" id="{88CD31D3-6180-C6B7-B731-7894C236F04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225018" y="3476277"/>
            <a:ext cx="517527" cy="517527"/>
          </a:xfrm>
          <a:prstGeom prst="rect">
            <a:avLst/>
          </a:prstGeom>
        </p:spPr>
      </p:pic>
      <p:pic>
        <p:nvPicPr>
          <p:cNvPr id="2" name="Graphic 1" descr="Checkmark with solid fill">
            <a:extLst>
              <a:ext uri="{FF2B5EF4-FFF2-40B4-BE49-F238E27FC236}">
                <a16:creationId xmlns:a16="http://schemas.microsoft.com/office/drawing/2014/main" id="{2459A3BF-D907-D330-9ED0-0A99CDCB057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225018" y="4820180"/>
            <a:ext cx="517527" cy="517527"/>
          </a:xfrm>
          <a:prstGeom prst="rect">
            <a:avLst/>
          </a:prstGeom>
        </p:spPr>
      </p:pic>
      <p:pic>
        <p:nvPicPr>
          <p:cNvPr id="3" name="Graphic 2" descr="Checkmark with solid fill">
            <a:extLst>
              <a:ext uri="{FF2B5EF4-FFF2-40B4-BE49-F238E27FC236}">
                <a16:creationId xmlns:a16="http://schemas.microsoft.com/office/drawing/2014/main" id="{4B4968AB-AFA0-1C12-A1BE-2DC5FD025CB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263724" y="6207266"/>
            <a:ext cx="517527" cy="517527"/>
          </a:xfrm>
          <a:prstGeom prst="rect">
            <a:avLst/>
          </a:prstGeom>
        </p:spPr>
      </p:pic>
    </p:spTree>
    <p:extLst>
      <p:ext uri="{BB962C8B-B14F-4D97-AF65-F5344CB8AC3E}">
        <p14:creationId xmlns:p14="http://schemas.microsoft.com/office/powerpoint/2010/main" val="35720277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1F51FB-8ECB-058A-FC78-9F37E841FE38}"/>
              </a:ext>
            </a:extLst>
          </p:cNvPr>
          <p:cNvSpPr>
            <a:spLocks noGrp="1"/>
          </p:cNvSpPr>
          <p:nvPr>
            <p:ph type="title"/>
          </p:nvPr>
        </p:nvSpPr>
        <p:spPr>
          <a:xfrm>
            <a:off x="589560" y="856180"/>
            <a:ext cx="4560584" cy="1128068"/>
          </a:xfrm>
        </p:spPr>
        <p:txBody>
          <a:bodyPr anchor="ctr">
            <a:noAutofit/>
          </a:bodyPr>
          <a:lstStyle/>
          <a:p>
            <a:r>
              <a:rPr lang="en-US" sz="2800">
                <a:latin typeface="Georgia" panose="02040502050405020303" pitchFamily="18" charset="0"/>
                <a:cs typeface="Calibri Light"/>
              </a:rPr>
              <a:t>Our desk research informed our data selection</a:t>
            </a:r>
            <a:endParaRPr lang="en-US" sz="2800">
              <a:latin typeface="Georgia" panose="02040502050405020303" pitchFamily="18" charset="0"/>
            </a:endParaRPr>
          </a:p>
        </p:txBody>
      </p:sp>
      <p:grpSp>
        <p:nvGrpSpPr>
          <p:cNvPr id="11" name="Group 10">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2" name="Rectangle 11">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04B806D-84C5-C887-CA2F-A0F339658E4A}"/>
              </a:ext>
            </a:extLst>
          </p:cNvPr>
          <p:cNvSpPr>
            <a:spLocks noGrp="1"/>
          </p:cNvSpPr>
          <p:nvPr>
            <p:ph idx="1"/>
          </p:nvPr>
        </p:nvSpPr>
        <p:spPr>
          <a:xfrm>
            <a:off x="590719" y="2431014"/>
            <a:ext cx="4559425" cy="3979585"/>
          </a:xfrm>
        </p:spPr>
        <p:txBody>
          <a:bodyPr anchor="t">
            <a:normAutofit lnSpcReduction="10000"/>
          </a:bodyPr>
          <a:lstStyle/>
          <a:p>
            <a:pPr>
              <a:buFont typeface="Wingdings" pitchFamily="2" charset="2"/>
              <a:buChar char="ü"/>
            </a:pPr>
            <a:r>
              <a:rPr lang="en-US" sz="2000">
                <a:latin typeface="Georgia" panose="02040502050405020303" pitchFamily="18" charset="0"/>
              </a:rPr>
              <a:t>Desk Research:</a:t>
            </a:r>
          </a:p>
          <a:p>
            <a:pPr lvl="1"/>
            <a:r>
              <a:rPr lang="en-US" sz="1600">
                <a:latin typeface="Georgia" panose="02040502050405020303" pitchFamily="18" charset="0"/>
              </a:rPr>
              <a:t>Social Determinants of Health &amp; Diabetes</a:t>
            </a:r>
          </a:p>
          <a:p>
            <a:pPr lvl="1"/>
            <a:r>
              <a:rPr lang="en-US" sz="1600">
                <a:latin typeface="Georgia" panose="02040502050405020303" pitchFamily="18" charset="0"/>
              </a:rPr>
              <a:t>Projection of Diabetes Burden Through 2050</a:t>
            </a:r>
          </a:p>
          <a:p>
            <a:pPr lvl="1"/>
            <a:r>
              <a:rPr lang="en-US" sz="1600">
                <a:latin typeface="Georgia" panose="02040502050405020303" pitchFamily="18" charset="0"/>
              </a:rPr>
              <a:t>Epidemiology of Diabetes and Diabetes-Related Complications</a:t>
            </a:r>
            <a:br>
              <a:rPr lang="en-US" sz="1600">
                <a:latin typeface="Georgia" panose="02040502050405020303" pitchFamily="18" charset="0"/>
              </a:rPr>
            </a:br>
            <a:endParaRPr lang="en-US" sz="1600">
              <a:latin typeface="Georgia" panose="02040502050405020303" pitchFamily="18" charset="0"/>
            </a:endParaRPr>
          </a:p>
          <a:p>
            <a:pPr>
              <a:buFont typeface="Wingdings" pitchFamily="2" charset="2"/>
              <a:buChar char="ü"/>
            </a:pPr>
            <a:r>
              <a:rPr lang="en-US" sz="2000">
                <a:latin typeface="Georgia" panose="02040502050405020303" pitchFamily="18" charset="0"/>
              </a:rPr>
              <a:t>Data Sourcing:</a:t>
            </a:r>
          </a:p>
          <a:p>
            <a:pPr lvl="1"/>
            <a:r>
              <a:rPr lang="en-US" sz="1600">
                <a:latin typeface="Georgia" panose="02040502050405020303" pitchFamily="18" charset="0"/>
              </a:rPr>
              <a:t>Desk research led us to look for data that included race, education, and presence of other diseases/complications </a:t>
            </a:r>
          </a:p>
          <a:p>
            <a:pPr lvl="1"/>
            <a:endParaRPr lang="en-US" sz="1600">
              <a:latin typeface="Georgia" panose="02040502050405020303" pitchFamily="18" charset="0"/>
            </a:endParaRPr>
          </a:p>
          <a:p>
            <a:pPr marL="0" indent="0">
              <a:buNone/>
            </a:pPr>
            <a:br>
              <a:rPr lang="en-US" sz="2000">
                <a:latin typeface="Georgia" panose="02040502050405020303" pitchFamily="18" charset="0"/>
              </a:rPr>
            </a:br>
            <a:endParaRPr lang="en-US" sz="2000">
              <a:latin typeface="Georgia" panose="02040502050405020303" pitchFamily="18" charset="0"/>
            </a:endParaRPr>
          </a:p>
          <a:p>
            <a:pPr lvl="1"/>
            <a:endParaRPr lang="en-US" sz="1600">
              <a:latin typeface="Georgia" panose="02040502050405020303" pitchFamily="18" charset="0"/>
            </a:endParaRPr>
          </a:p>
        </p:txBody>
      </p:sp>
      <p:sp>
        <p:nvSpPr>
          <p:cNvPr id="17" name="Rectangle 16">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Text&#10;&#10;Description automatically generated">
            <a:extLst>
              <a:ext uri="{FF2B5EF4-FFF2-40B4-BE49-F238E27FC236}">
                <a16:creationId xmlns:a16="http://schemas.microsoft.com/office/drawing/2014/main" id="{05EE27F2-0224-8351-784F-B2ABDD44EC2C}"/>
              </a:ext>
            </a:extLst>
          </p:cNvPr>
          <p:cNvPicPr>
            <a:picLocks noChangeAspect="1"/>
          </p:cNvPicPr>
          <p:nvPr/>
        </p:nvPicPr>
        <p:blipFill rotWithShape="1">
          <a:blip r:embed="rId3"/>
          <a:srcRect t="3079" r="2" b="469"/>
          <a:stretch/>
        </p:blipFill>
        <p:spPr>
          <a:xfrm>
            <a:off x="6191191" y="1080901"/>
            <a:ext cx="2992352" cy="2900732"/>
          </a:xfrm>
          <a:prstGeom prst="rect">
            <a:avLst/>
          </a:prstGeom>
          <a:ln>
            <a:solidFill>
              <a:schemeClr val="tx1"/>
            </a:solidFill>
          </a:ln>
        </p:spPr>
      </p:pic>
      <p:pic>
        <p:nvPicPr>
          <p:cNvPr id="5" name="Picture 4">
            <a:extLst>
              <a:ext uri="{FF2B5EF4-FFF2-40B4-BE49-F238E27FC236}">
                <a16:creationId xmlns:a16="http://schemas.microsoft.com/office/drawing/2014/main" id="{1F0F3C45-0B98-B411-8BCE-707C45CF7DDB}"/>
              </a:ext>
            </a:extLst>
          </p:cNvPr>
          <p:cNvPicPr>
            <a:picLocks noChangeAspect="1"/>
          </p:cNvPicPr>
          <p:nvPr/>
        </p:nvPicPr>
        <p:blipFill>
          <a:blip r:embed="rId4"/>
          <a:stretch>
            <a:fillRect/>
          </a:stretch>
        </p:blipFill>
        <p:spPr>
          <a:xfrm>
            <a:off x="8454319" y="1671814"/>
            <a:ext cx="2811216" cy="3091764"/>
          </a:xfrm>
          <a:prstGeom prst="rect">
            <a:avLst/>
          </a:prstGeom>
          <a:ln>
            <a:solidFill>
              <a:schemeClr val="tx1"/>
            </a:solidFill>
          </a:ln>
        </p:spPr>
      </p:pic>
      <p:sp>
        <p:nvSpPr>
          <p:cNvPr id="8" name="Snip Single Corner Rectangle 7">
            <a:extLst>
              <a:ext uri="{FF2B5EF4-FFF2-40B4-BE49-F238E27FC236}">
                <a16:creationId xmlns:a16="http://schemas.microsoft.com/office/drawing/2014/main" id="{91CB200A-46EC-811D-0998-3C61C80B2E2B}"/>
              </a:ext>
            </a:extLst>
          </p:cNvPr>
          <p:cNvSpPr/>
          <p:nvPr/>
        </p:nvSpPr>
        <p:spPr>
          <a:xfrm>
            <a:off x="0" y="0"/>
            <a:ext cx="3390900" cy="365125"/>
          </a:xfrm>
          <a:prstGeom prst="snip1Rect">
            <a:avLst/>
          </a:prstGeom>
          <a:solidFill>
            <a:srgbClr val="FED6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Georgia" panose="02040502050405020303" pitchFamily="18" charset="0"/>
              </a:rPr>
              <a:t>Research &amp; Data Sourcing</a:t>
            </a:r>
          </a:p>
        </p:txBody>
      </p:sp>
      <p:pic>
        <p:nvPicPr>
          <p:cNvPr id="10" name="Picture 9">
            <a:extLst>
              <a:ext uri="{FF2B5EF4-FFF2-40B4-BE49-F238E27FC236}">
                <a16:creationId xmlns:a16="http://schemas.microsoft.com/office/drawing/2014/main" id="{79B91D24-A5D9-9A30-150B-40960852EBCA}"/>
              </a:ext>
            </a:extLst>
          </p:cNvPr>
          <p:cNvPicPr>
            <a:picLocks noChangeAspect="1"/>
          </p:cNvPicPr>
          <p:nvPr/>
        </p:nvPicPr>
        <p:blipFill>
          <a:blip r:embed="rId5"/>
          <a:stretch>
            <a:fillRect/>
          </a:stretch>
        </p:blipFill>
        <p:spPr>
          <a:xfrm>
            <a:off x="6541814" y="3331526"/>
            <a:ext cx="3715382" cy="2327919"/>
          </a:xfrm>
          <a:prstGeom prst="rect">
            <a:avLst/>
          </a:prstGeom>
          <a:ln w="12700">
            <a:solidFill>
              <a:schemeClr val="tx1"/>
            </a:solidFill>
          </a:ln>
        </p:spPr>
      </p:pic>
      <p:sp>
        <p:nvSpPr>
          <p:cNvPr id="14" name="TextBox 13">
            <a:extLst>
              <a:ext uri="{FF2B5EF4-FFF2-40B4-BE49-F238E27FC236}">
                <a16:creationId xmlns:a16="http://schemas.microsoft.com/office/drawing/2014/main" id="{607C0D8B-8924-015E-467B-B4242F37691C}"/>
              </a:ext>
            </a:extLst>
          </p:cNvPr>
          <p:cNvSpPr txBox="1"/>
          <p:nvPr/>
        </p:nvSpPr>
        <p:spPr>
          <a:xfrm rot="10800000" flipV="1">
            <a:off x="7062649" y="3429000"/>
            <a:ext cx="2120894" cy="599846"/>
          </a:xfrm>
          <a:prstGeom prst="rect">
            <a:avLst/>
          </a:prstGeom>
          <a:noFill/>
        </p:spPr>
        <p:txBody>
          <a:bodyPr wrap="square" rtlCol="0">
            <a:spAutoFit/>
          </a:bodyPr>
          <a:lstStyle/>
          <a:p>
            <a:r>
              <a:rPr lang="en-US" sz="1100">
                <a:latin typeface="Georgia" panose="02040502050405020303" pitchFamily="18" charset="0"/>
              </a:rPr>
              <a:t>Prevalence of diabetes related complications among people with diabetes</a:t>
            </a:r>
          </a:p>
        </p:txBody>
      </p:sp>
    </p:spTree>
    <p:extLst>
      <p:ext uri="{BB962C8B-B14F-4D97-AF65-F5344CB8AC3E}">
        <p14:creationId xmlns:p14="http://schemas.microsoft.com/office/powerpoint/2010/main" val="32363508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B2FCB-6F4B-FC1C-DE57-D09273E7AF20}"/>
              </a:ext>
            </a:extLst>
          </p:cNvPr>
          <p:cNvSpPr>
            <a:spLocks noGrp="1"/>
          </p:cNvSpPr>
          <p:nvPr>
            <p:ph type="title"/>
          </p:nvPr>
        </p:nvSpPr>
        <p:spPr/>
        <p:txBody>
          <a:bodyPr>
            <a:normAutofit/>
          </a:bodyPr>
          <a:lstStyle/>
          <a:p>
            <a:r>
              <a:rPr lang="en-US" sz="4000">
                <a:latin typeface="Georgia" panose="02040502050405020303" pitchFamily="18" charset="0"/>
                <a:cs typeface="Calibri Light"/>
              </a:rPr>
              <a:t>Our multiple data sources required extensive cleaning before merging</a:t>
            </a:r>
            <a:endParaRPr lang="en-US" sz="4000">
              <a:latin typeface="Georgia" panose="02040502050405020303" pitchFamily="18" charset="0"/>
            </a:endParaRPr>
          </a:p>
        </p:txBody>
      </p:sp>
      <p:sp>
        <p:nvSpPr>
          <p:cNvPr id="6" name="Rectangle 5">
            <a:extLst>
              <a:ext uri="{FF2B5EF4-FFF2-40B4-BE49-F238E27FC236}">
                <a16:creationId xmlns:a16="http://schemas.microsoft.com/office/drawing/2014/main" id="{5C48F07F-F8D0-367A-BA5B-4DCB2FB91DBC}"/>
              </a:ext>
            </a:extLst>
          </p:cNvPr>
          <p:cNvSpPr/>
          <p:nvPr/>
        </p:nvSpPr>
        <p:spPr>
          <a:xfrm>
            <a:off x="838200" y="2552700"/>
            <a:ext cx="4076700" cy="45719"/>
          </a:xfrm>
          <a:prstGeom prst="rect">
            <a:avLst/>
          </a:prstGeom>
          <a:solidFill>
            <a:srgbClr val="FED6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11D4260-6082-A2FC-4050-B2D07A27C144}"/>
              </a:ext>
            </a:extLst>
          </p:cNvPr>
          <p:cNvSpPr txBox="1"/>
          <p:nvPr/>
        </p:nvSpPr>
        <p:spPr>
          <a:xfrm>
            <a:off x="762000" y="2625088"/>
            <a:ext cx="5257800" cy="307777"/>
          </a:xfrm>
          <a:prstGeom prst="rect">
            <a:avLst/>
          </a:prstGeom>
          <a:noFill/>
        </p:spPr>
        <p:txBody>
          <a:bodyPr wrap="square" rtlCol="0">
            <a:spAutoFit/>
          </a:bodyPr>
          <a:lstStyle/>
          <a:p>
            <a:r>
              <a:rPr lang="en-US" sz="1400" b="1">
                <a:latin typeface="Georgia" panose="02040502050405020303" pitchFamily="18" charset="0"/>
              </a:rPr>
              <a:t>Behavioral Risk Factor Surveillance System</a:t>
            </a:r>
          </a:p>
        </p:txBody>
      </p:sp>
      <p:sp>
        <p:nvSpPr>
          <p:cNvPr id="8" name="TextBox 7">
            <a:extLst>
              <a:ext uri="{FF2B5EF4-FFF2-40B4-BE49-F238E27FC236}">
                <a16:creationId xmlns:a16="http://schemas.microsoft.com/office/drawing/2014/main" id="{5642F82F-4948-391D-0B9E-19D22A376A77}"/>
              </a:ext>
            </a:extLst>
          </p:cNvPr>
          <p:cNvSpPr txBox="1"/>
          <p:nvPr/>
        </p:nvSpPr>
        <p:spPr>
          <a:xfrm>
            <a:off x="838200" y="2932865"/>
            <a:ext cx="4076700" cy="954107"/>
          </a:xfrm>
          <a:prstGeom prst="rect">
            <a:avLst/>
          </a:prstGeom>
          <a:noFill/>
        </p:spPr>
        <p:txBody>
          <a:bodyPr wrap="square" rtlCol="0">
            <a:spAutoFit/>
          </a:bodyPr>
          <a:lstStyle/>
          <a:p>
            <a:pPr marL="285750" indent="-285750">
              <a:buFont typeface="Arial" panose="020B0604020202020204" pitchFamily="34" charset="0"/>
              <a:buChar char="•"/>
            </a:pPr>
            <a:r>
              <a:rPr lang="en-US" sz="1400">
                <a:latin typeface="Georgia" panose="02040502050405020303" pitchFamily="18" charset="0"/>
                <a:cs typeface="Geeza Pro" panose="02000400000000000000" pitchFamily="2" charset="-78"/>
              </a:rPr>
              <a:t>Survey data captured through phone interviews across all 50 states</a:t>
            </a:r>
          </a:p>
          <a:p>
            <a:pPr marL="285750" indent="-285750">
              <a:buFont typeface="Arial" panose="020B0604020202020204" pitchFamily="34" charset="0"/>
              <a:buChar char="•"/>
            </a:pPr>
            <a:r>
              <a:rPr lang="en-US" sz="1400">
                <a:latin typeface="Georgia" panose="02040502050405020303" pitchFamily="18" charset="0"/>
                <a:cs typeface="Geeza Pro" panose="02000400000000000000" pitchFamily="2" charset="-78"/>
              </a:rPr>
              <a:t>Captures behavioral, medical, and demographic data </a:t>
            </a:r>
          </a:p>
        </p:txBody>
      </p:sp>
      <p:sp>
        <p:nvSpPr>
          <p:cNvPr id="11" name="Rectangle 10">
            <a:extLst>
              <a:ext uri="{FF2B5EF4-FFF2-40B4-BE49-F238E27FC236}">
                <a16:creationId xmlns:a16="http://schemas.microsoft.com/office/drawing/2014/main" id="{2022410D-3E4E-CD9B-1A15-8193EE84BEE4}"/>
              </a:ext>
            </a:extLst>
          </p:cNvPr>
          <p:cNvSpPr/>
          <p:nvPr/>
        </p:nvSpPr>
        <p:spPr>
          <a:xfrm>
            <a:off x="838200" y="3905250"/>
            <a:ext cx="4076700" cy="45719"/>
          </a:xfrm>
          <a:prstGeom prst="rect">
            <a:avLst/>
          </a:prstGeom>
          <a:solidFill>
            <a:srgbClr val="FED6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DDDB985D-ABA9-3F23-792D-66DB505220A1}"/>
              </a:ext>
            </a:extLst>
          </p:cNvPr>
          <p:cNvSpPr txBox="1"/>
          <p:nvPr/>
        </p:nvSpPr>
        <p:spPr>
          <a:xfrm>
            <a:off x="762000" y="3977638"/>
            <a:ext cx="5257800" cy="307777"/>
          </a:xfrm>
          <a:prstGeom prst="rect">
            <a:avLst/>
          </a:prstGeom>
          <a:noFill/>
        </p:spPr>
        <p:txBody>
          <a:bodyPr wrap="square" rtlCol="0">
            <a:spAutoFit/>
          </a:bodyPr>
          <a:lstStyle/>
          <a:p>
            <a:r>
              <a:rPr lang="en-US" sz="1400" b="1">
                <a:latin typeface="Georgia" panose="02040502050405020303" pitchFamily="18" charset="0"/>
              </a:rPr>
              <a:t>Cost of Living Index</a:t>
            </a:r>
          </a:p>
        </p:txBody>
      </p:sp>
      <p:sp>
        <p:nvSpPr>
          <p:cNvPr id="13" name="TextBox 12">
            <a:extLst>
              <a:ext uri="{FF2B5EF4-FFF2-40B4-BE49-F238E27FC236}">
                <a16:creationId xmlns:a16="http://schemas.microsoft.com/office/drawing/2014/main" id="{C7D844D3-7A36-C1EC-A984-68F5B13EFEB6}"/>
              </a:ext>
            </a:extLst>
          </p:cNvPr>
          <p:cNvSpPr txBox="1"/>
          <p:nvPr/>
        </p:nvSpPr>
        <p:spPr>
          <a:xfrm>
            <a:off x="838200" y="4285415"/>
            <a:ext cx="4076700" cy="954107"/>
          </a:xfrm>
          <a:prstGeom prst="rect">
            <a:avLst/>
          </a:prstGeom>
          <a:noFill/>
        </p:spPr>
        <p:txBody>
          <a:bodyPr wrap="square" rtlCol="0">
            <a:spAutoFit/>
          </a:bodyPr>
          <a:lstStyle/>
          <a:p>
            <a:pPr marL="285750" indent="-285750">
              <a:buFont typeface="Arial" panose="020B0604020202020204" pitchFamily="34" charset="0"/>
              <a:buChar char="•"/>
            </a:pPr>
            <a:r>
              <a:rPr lang="en-US" sz="1400">
                <a:latin typeface="Georgia" panose="02040502050405020303" pitchFamily="18" charset="0"/>
                <a:cs typeface="Geeza Pro" panose="02000400000000000000" pitchFamily="2" charset="-78"/>
              </a:rPr>
              <a:t>Indexed cost of living data from the United States</a:t>
            </a:r>
          </a:p>
          <a:p>
            <a:pPr marL="285750" indent="-285750">
              <a:buFont typeface="Arial" panose="020B0604020202020204" pitchFamily="34" charset="0"/>
              <a:buChar char="•"/>
            </a:pPr>
            <a:r>
              <a:rPr lang="en-US" sz="1400">
                <a:latin typeface="Georgia" panose="02040502050405020303" pitchFamily="18" charset="0"/>
                <a:cs typeface="Geeza Pro" panose="02000400000000000000" pitchFamily="2" charset="-78"/>
              </a:rPr>
              <a:t>Grocery, housing, utilities, transportation, and health costs</a:t>
            </a:r>
          </a:p>
        </p:txBody>
      </p:sp>
      <p:sp>
        <p:nvSpPr>
          <p:cNvPr id="22" name="TextBox 21">
            <a:extLst>
              <a:ext uri="{FF2B5EF4-FFF2-40B4-BE49-F238E27FC236}">
                <a16:creationId xmlns:a16="http://schemas.microsoft.com/office/drawing/2014/main" id="{8CC8A49A-88D6-1BE2-58A0-38E30BE13139}"/>
              </a:ext>
            </a:extLst>
          </p:cNvPr>
          <p:cNvSpPr txBox="1"/>
          <p:nvPr/>
        </p:nvSpPr>
        <p:spPr>
          <a:xfrm>
            <a:off x="2085975" y="1924350"/>
            <a:ext cx="1304925" cy="461665"/>
          </a:xfrm>
          <a:prstGeom prst="rect">
            <a:avLst/>
          </a:prstGeom>
          <a:noFill/>
        </p:spPr>
        <p:txBody>
          <a:bodyPr wrap="square">
            <a:spAutoFit/>
          </a:bodyPr>
          <a:lstStyle/>
          <a:p>
            <a:r>
              <a:rPr lang="en-US" sz="2400" b="1" spc="700">
                <a:ea typeface="+mn-lt"/>
                <a:cs typeface="+mn-lt"/>
              </a:rPr>
              <a:t>DATA</a:t>
            </a:r>
            <a:endParaRPr lang="en-US" sz="2400" b="1" spc="700"/>
          </a:p>
        </p:txBody>
      </p:sp>
      <p:sp>
        <p:nvSpPr>
          <p:cNvPr id="3" name="Snip Single Corner Rectangle 2">
            <a:extLst>
              <a:ext uri="{FF2B5EF4-FFF2-40B4-BE49-F238E27FC236}">
                <a16:creationId xmlns:a16="http://schemas.microsoft.com/office/drawing/2014/main" id="{7A684AAE-77A3-B79A-FF19-DF3A887CF526}"/>
              </a:ext>
            </a:extLst>
          </p:cNvPr>
          <p:cNvSpPr/>
          <p:nvPr/>
        </p:nvSpPr>
        <p:spPr>
          <a:xfrm>
            <a:off x="0" y="0"/>
            <a:ext cx="3390900" cy="365125"/>
          </a:xfrm>
          <a:prstGeom prst="snip1Rect">
            <a:avLst/>
          </a:prstGeom>
          <a:solidFill>
            <a:srgbClr val="FED6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Georgia" panose="02040502050405020303" pitchFamily="18" charset="0"/>
              </a:rPr>
              <a:t>Data Processing &amp; Cleaning</a:t>
            </a:r>
          </a:p>
        </p:txBody>
      </p:sp>
      <p:sp>
        <p:nvSpPr>
          <p:cNvPr id="17" name="Rectangle 16">
            <a:extLst>
              <a:ext uri="{FF2B5EF4-FFF2-40B4-BE49-F238E27FC236}">
                <a16:creationId xmlns:a16="http://schemas.microsoft.com/office/drawing/2014/main" id="{D6AD66D4-EC98-A3D3-9493-EDCB5BA98B58}"/>
              </a:ext>
            </a:extLst>
          </p:cNvPr>
          <p:cNvSpPr/>
          <p:nvPr/>
        </p:nvSpPr>
        <p:spPr>
          <a:xfrm>
            <a:off x="834020" y="5324833"/>
            <a:ext cx="4076700" cy="45719"/>
          </a:xfrm>
          <a:prstGeom prst="rect">
            <a:avLst/>
          </a:prstGeom>
          <a:solidFill>
            <a:srgbClr val="FED6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F3A81EAA-AE89-96CE-49EB-DB9AF0A555B7}"/>
              </a:ext>
            </a:extLst>
          </p:cNvPr>
          <p:cNvSpPr txBox="1"/>
          <p:nvPr/>
        </p:nvSpPr>
        <p:spPr>
          <a:xfrm>
            <a:off x="757820" y="5397221"/>
            <a:ext cx="5257800" cy="307777"/>
          </a:xfrm>
          <a:prstGeom prst="rect">
            <a:avLst/>
          </a:prstGeom>
          <a:noFill/>
        </p:spPr>
        <p:txBody>
          <a:bodyPr wrap="square" rtlCol="0">
            <a:spAutoFit/>
          </a:bodyPr>
          <a:lstStyle/>
          <a:p>
            <a:r>
              <a:rPr lang="en-US" sz="1400" b="1">
                <a:latin typeface="Georgia" panose="02040502050405020303" pitchFamily="18" charset="0"/>
              </a:rPr>
              <a:t>US Populations by State</a:t>
            </a:r>
          </a:p>
        </p:txBody>
      </p:sp>
      <p:sp>
        <p:nvSpPr>
          <p:cNvPr id="20" name="TextBox 19">
            <a:extLst>
              <a:ext uri="{FF2B5EF4-FFF2-40B4-BE49-F238E27FC236}">
                <a16:creationId xmlns:a16="http://schemas.microsoft.com/office/drawing/2014/main" id="{40E538C3-B144-791A-6C29-AB27408F1062}"/>
              </a:ext>
            </a:extLst>
          </p:cNvPr>
          <p:cNvSpPr txBox="1"/>
          <p:nvPr/>
        </p:nvSpPr>
        <p:spPr>
          <a:xfrm>
            <a:off x="834020" y="5704998"/>
            <a:ext cx="4076700" cy="738664"/>
          </a:xfrm>
          <a:prstGeom prst="rect">
            <a:avLst/>
          </a:prstGeom>
          <a:noFill/>
        </p:spPr>
        <p:txBody>
          <a:bodyPr wrap="square" rtlCol="0">
            <a:spAutoFit/>
          </a:bodyPr>
          <a:lstStyle/>
          <a:p>
            <a:pPr marL="285750" indent="-285750">
              <a:buFont typeface="Arial" panose="020B0604020202020204" pitchFamily="34" charset="0"/>
              <a:buChar char="•"/>
            </a:pPr>
            <a:r>
              <a:rPr lang="en-US" sz="1400">
                <a:latin typeface="Georgia" panose="02040502050405020303" pitchFamily="18" charset="0"/>
                <a:cs typeface="Geeza Pro" panose="02000400000000000000" pitchFamily="2" charset="-78"/>
              </a:rPr>
              <a:t>This data source includes the 2022 population per state, growth, and density per miles, later used to calculate diabetes density </a:t>
            </a:r>
          </a:p>
        </p:txBody>
      </p:sp>
      <p:sp>
        <p:nvSpPr>
          <p:cNvPr id="21" name="TextBox 20">
            <a:extLst>
              <a:ext uri="{FF2B5EF4-FFF2-40B4-BE49-F238E27FC236}">
                <a16:creationId xmlns:a16="http://schemas.microsoft.com/office/drawing/2014/main" id="{01D372AA-2B43-2117-156E-DCC2C9F6DB3B}"/>
              </a:ext>
            </a:extLst>
          </p:cNvPr>
          <p:cNvSpPr txBox="1"/>
          <p:nvPr/>
        </p:nvSpPr>
        <p:spPr>
          <a:xfrm>
            <a:off x="7898118" y="1924350"/>
            <a:ext cx="2609772" cy="461665"/>
          </a:xfrm>
          <a:prstGeom prst="rect">
            <a:avLst/>
          </a:prstGeom>
          <a:noFill/>
        </p:spPr>
        <p:txBody>
          <a:bodyPr wrap="square">
            <a:spAutoFit/>
          </a:bodyPr>
          <a:lstStyle/>
          <a:p>
            <a:r>
              <a:rPr lang="en-US" sz="2400" b="1" spc="700">
                <a:ea typeface="+mn-lt"/>
                <a:cs typeface="+mn-lt"/>
              </a:rPr>
              <a:t>CLEANING</a:t>
            </a:r>
            <a:endParaRPr lang="en-US" sz="2400" b="1" spc="700"/>
          </a:p>
        </p:txBody>
      </p:sp>
      <p:sp>
        <p:nvSpPr>
          <p:cNvPr id="25" name="Oval 24">
            <a:extLst>
              <a:ext uri="{FF2B5EF4-FFF2-40B4-BE49-F238E27FC236}">
                <a16:creationId xmlns:a16="http://schemas.microsoft.com/office/drawing/2014/main" id="{3C32D78A-DB05-4226-D7AE-4CB889826AF2}"/>
              </a:ext>
            </a:extLst>
          </p:cNvPr>
          <p:cNvSpPr/>
          <p:nvPr/>
        </p:nvSpPr>
        <p:spPr>
          <a:xfrm>
            <a:off x="7066149" y="2571992"/>
            <a:ext cx="435031" cy="435031"/>
          </a:xfrm>
          <a:prstGeom prst="ellipse">
            <a:avLst/>
          </a:prstGeom>
          <a:solidFill>
            <a:srgbClr val="FED668"/>
          </a:solidFill>
          <a:ln w="28575">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bg1"/>
                </a:solidFill>
                <a:latin typeface="Georgia" panose="02040502050405020303" pitchFamily="18" charset="0"/>
              </a:rPr>
              <a:t>1</a:t>
            </a:r>
          </a:p>
        </p:txBody>
      </p:sp>
      <p:sp>
        <p:nvSpPr>
          <p:cNvPr id="28" name="TextBox 27">
            <a:extLst>
              <a:ext uri="{FF2B5EF4-FFF2-40B4-BE49-F238E27FC236}">
                <a16:creationId xmlns:a16="http://schemas.microsoft.com/office/drawing/2014/main" id="{41F19624-A84A-60DE-B447-83EC786EB0FF}"/>
              </a:ext>
            </a:extLst>
          </p:cNvPr>
          <p:cNvSpPr txBox="1"/>
          <p:nvPr/>
        </p:nvSpPr>
        <p:spPr>
          <a:xfrm>
            <a:off x="7625166" y="2651765"/>
            <a:ext cx="5257800" cy="307777"/>
          </a:xfrm>
          <a:prstGeom prst="rect">
            <a:avLst/>
          </a:prstGeom>
          <a:noFill/>
        </p:spPr>
        <p:txBody>
          <a:bodyPr wrap="square" rtlCol="0">
            <a:spAutoFit/>
          </a:bodyPr>
          <a:lstStyle/>
          <a:p>
            <a:r>
              <a:rPr lang="en-US" sz="1400" b="1">
                <a:latin typeface="Georgia" panose="02040502050405020303" pitchFamily="18" charset="0"/>
              </a:rPr>
              <a:t>Codebook Review</a:t>
            </a:r>
          </a:p>
        </p:txBody>
      </p:sp>
      <p:sp>
        <p:nvSpPr>
          <p:cNvPr id="29" name="Oval 28">
            <a:extLst>
              <a:ext uri="{FF2B5EF4-FFF2-40B4-BE49-F238E27FC236}">
                <a16:creationId xmlns:a16="http://schemas.microsoft.com/office/drawing/2014/main" id="{B7B565A5-A5BA-58C8-3FA0-FA1876196332}"/>
              </a:ext>
            </a:extLst>
          </p:cNvPr>
          <p:cNvSpPr/>
          <p:nvPr/>
        </p:nvSpPr>
        <p:spPr>
          <a:xfrm>
            <a:off x="7066149" y="3160911"/>
            <a:ext cx="435031" cy="435031"/>
          </a:xfrm>
          <a:prstGeom prst="ellipse">
            <a:avLst/>
          </a:prstGeom>
          <a:solidFill>
            <a:srgbClr val="FED668"/>
          </a:solidFill>
          <a:ln w="28575">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bg1"/>
                </a:solidFill>
                <a:latin typeface="Georgia" panose="02040502050405020303" pitchFamily="18" charset="0"/>
              </a:rPr>
              <a:t>2</a:t>
            </a:r>
          </a:p>
        </p:txBody>
      </p:sp>
      <p:sp>
        <p:nvSpPr>
          <p:cNvPr id="30" name="TextBox 29">
            <a:extLst>
              <a:ext uri="{FF2B5EF4-FFF2-40B4-BE49-F238E27FC236}">
                <a16:creationId xmlns:a16="http://schemas.microsoft.com/office/drawing/2014/main" id="{A9597785-646C-D062-095C-B8DE4FB38738}"/>
              </a:ext>
            </a:extLst>
          </p:cNvPr>
          <p:cNvSpPr txBox="1"/>
          <p:nvPr/>
        </p:nvSpPr>
        <p:spPr>
          <a:xfrm>
            <a:off x="7625166" y="3240684"/>
            <a:ext cx="5257800" cy="307777"/>
          </a:xfrm>
          <a:prstGeom prst="rect">
            <a:avLst/>
          </a:prstGeom>
          <a:noFill/>
        </p:spPr>
        <p:txBody>
          <a:bodyPr wrap="square" rtlCol="0">
            <a:spAutoFit/>
          </a:bodyPr>
          <a:lstStyle/>
          <a:p>
            <a:r>
              <a:rPr lang="en-US" sz="1400" b="1">
                <a:latin typeface="Georgia" panose="02040502050405020303" pitchFamily="18" charset="0"/>
              </a:rPr>
              <a:t>Identifying &amp; removing missing values</a:t>
            </a:r>
          </a:p>
        </p:txBody>
      </p:sp>
      <p:sp>
        <p:nvSpPr>
          <p:cNvPr id="31" name="Oval 30">
            <a:extLst>
              <a:ext uri="{FF2B5EF4-FFF2-40B4-BE49-F238E27FC236}">
                <a16:creationId xmlns:a16="http://schemas.microsoft.com/office/drawing/2014/main" id="{B90D7086-1504-4961-9BA0-DBEED93FD520}"/>
              </a:ext>
            </a:extLst>
          </p:cNvPr>
          <p:cNvSpPr/>
          <p:nvPr/>
        </p:nvSpPr>
        <p:spPr>
          <a:xfrm>
            <a:off x="7066149" y="3738292"/>
            <a:ext cx="435031" cy="435031"/>
          </a:xfrm>
          <a:prstGeom prst="ellipse">
            <a:avLst/>
          </a:prstGeom>
          <a:solidFill>
            <a:srgbClr val="FED668"/>
          </a:solidFill>
          <a:ln w="28575">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bg1"/>
                </a:solidFill>
                <a:latin typeface="Georgia" panose="02040502050405020303" pitchFamily="18" charset="0"/>
              </a:rPr>
              <a:t>3</a:t>
            </a:r>
          </a:p>
        </p:txBody>
      </p:sp>
      <p:sp>
        <p:nvSpPr>
          <p:cNvPr id="32" name="TextBox 31">
            <a:extLst>
              <a:ext uri="{FF2B5EF4-FFF2-40B4-BE49-F238E27FC236}">
                <a16:creationId xmlns:a16="http://schemas.microsoft.com/office/drawing/2014/main" id="{AE565AB0-FA32-54B1-C81C-36BC5A9FA395}"/>
              </a:ext>
            </a:extLst>
          </p:cNvPr>
          <p:cNvSpPr txBox="1"/>
          <p:nvPr/>
        </p:nvSpPr>
        <p:spPr>
          <a:xfrm>
            <a:off x="7625166" y="3818065"/>
            <a:ext cx="5257800" cy="307777"/>
          </a:xfrm>
          <a:prstGeom prst="rect">
            <a:avLst/>
          </a:prstGeom>
          <a:noFill/>
        </p:spPr>
        <p:txBody>
          <a:bodyPr wrap="square" rtlCol="0">
            <a:spAutoFit/>
          </a:bodyPr>
          <a:lstStyle/>
          <a:p>
            <a:r>
              <a:rPr lang="en-US" sz="1400" b="1">
                <a:latin typeface="Georgia" panose="02040502050405020303" pitchFamily="18" charset="0"/>
              </a:rPr>
              <a:t>Variable transformation for ease of analysis</a:t>
            </a:r>
          </a:p>
        </p:txBody>
      </p:sp>
      <p:sp>
        <p:nvSpPr>
          <p:cNvPr id="33" name="Oval 32">
            <a:extLst>
              <a:ext uri="{FF2B5EF4-FFF2-40B4-BE49-F238E27FC236}">
                <a16:creationId xmlns:a16="http://schemas.microsoft.com/office/drawing/2014/main" id="{5DE13BD9-1E46-593E-E91F-917A7A91FE14}"/>
              </a:ext>
            </a:extLst>
          </p:cNvPr>
          <p:cNvSpPr/>
          <p:nvPr/>
        </p:nvSpPr>
        <p:spPr>
          <a:xfrm>
            <a:off x="7065338" y="4338993"/>
            <a:ext cx="435031" cy="435031"/>
          </a:xfrm>
          <a:prstGeom prst="ellipse">
            <a:avLst/>
          </a:prstGeom>
          <a:solidFill>
            <a:srgbClr val="FED668"/>
          </a:solidFill>
          <a:ln w="28575">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bg1"/>
                </a:solidFill>
                <a:latin typeface="Georgia" panose="02040502050405020303" pitchFamily="18" charset="0"/>
              </a:rPr>
              <a:t>4</a:t>
            </a:r>
          </a:p>
        </p:txBody>
      </p:sp>
      <p:sp>
        <p:nvSpPr>
          <p:cNvPr id="34" name="TextBox 33">
            <a:extLst>
              <a:ext uri="{FF2B5EF4-FFF2-40B4-BE49-F238E27FC236}">
                <a16:creationId xmlns:a16="http://schemas.microsoft.com/office/drawing/2014/main" id="{03C094E2-1380-6750-9607-E476AB436DA8}"/>
              </a:ext>
            </a:extLst>
          </p:cNvPr>
          <p:cNvSpPr txBox="1"/>
          <p:nvPr/>
        </p:nvSpPr>
        <p:spPr>
          <a:xfrm>
            <a:off x="7624355" y="4418766"/>
            <a:ext cx="5257800" cy="307777"/>
          </a:xfrm>
          <a:prstGeom prst="rect">
            <a:avLst/>
          </a:prstGeom>
          <a:noFill/>
        </p:spPr>
        <p:txBody>
          <a:bodyPr wrap="square" rtlCol="0">
            <a:spAutoFit/>
          </a:bodyPr>
          <a:lstStyle/>
          <a:p>
            <a:r>
              <a:rPr lang="en-US" sz="1400" b="1">
                <a:latin typeface="Georgia" panose="02040502050405020303" pitchFamily="18" charset="0"/>
              </a:rPr>
              <a:t>Data Merging on ‘State’ and ‘Year’ columns</a:t>
            </a:r>
          </a:p>
        </p:txBody>
      </p:sp>
      <p:sp>
        <p:nvSpPr>
          <p:cNvPr id="35" name="Oval 34">
            <a:extLst>
              <a:ext uri="{FF2B5EF4-FFF2-40B4-BE49-F238E27FC236}">
                <a16:creationId xmlns:a16="http://schemas.microsoft.com/office/drawing/2014/main" id="{2708AFCF-7A60-0170-E267-DC1AB843B387}"/>
              </a:ext>
            </a:extLst>
          </p:cNvPr>
          <p:cNvSpPr/>
          <p:nvPr/>
        </p:nvSpPr>
        <p:spPr>
          <a:xfrm>
            <a:off x="7065338" y="5003584"/>
            <a:ext cx="435031" cy="435031"/>
          </a:xfrm>
          <a:prstGeom prst="ellipse">
            <a:avLst/>
          </a:prstGeom>
          <a:solidFill>
            <a:srgbClr val="FED668"/>
          </a:solidFill>
          <a:ln w="28575">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bg1"/>
                </a:solidFill>
                <a:latin typeface="Georgia" panose="02040502050405020303" pitchFamily="18" charset="0"/>
              </a:rPr>
              <a:t>5</a:t>
            </a:r>
          </a:p>
        </p:txBody>
      </p:sp>
      <p:sp>
        <p:nvSpPr>
          <p:cNvPr id="36" name="TextBox 35">
            <a:extLst>
              <a:ext uri="{FF2B5EF4-FFF2-40B4-BE49-F238E27FC236}">
                <a16:creationId xmlns:a16="http://schemas.microsoft.com/office/drawing/2014/main" id="{DFFDA94D-628E-EF9C-44AF-CFFCD03843B3}"/>
              </a:ext>
            </a:extLst>
          </p:cNvPr>
          <p:cNvSpPr txBox="1"/>
          <p:nvPr/>
        </p:nvSpPr>
        <p:spPr>
          <a:xfrm>
            <a:off x="7627296" y="5104903"/>
            <a:ext cx="2026452" cy="307777"/>
          </a:xfrm>
          <a:prstGeom prst="rect">
            <a:avLst/>
          </a:prstGeom>
          <a:noFill/>
        </p:spPr>
        <p:txBody>
          <a:bodyPr wrap="square" rtlCol="0">
            <a:spAutoFit/>
          </a:bodyPr>
          <a:lstStyle/>
          <a:p>
            <a:r>
              <a:rPr lang="en-US" sz="1400" b="1">
                <a:latin typeface="Georgia" panose="02040502050405020303" pitchFamily="18" charset="0"/>
              </a:rPr>
              <a:t>Feature Reduction</a:t>
            </a:r>
          </a:p>
        </p:txBody>
      </p:sp>
      <p:sp>
        <p:nvSpPr>
          <p:cNvPr id="37" name="Chevron 36">
            <a:extLst>
              <a:ext uri="{FF2B5EF4-FFF2-40B4-BE49-F238E27FC236}">
                <a16:creationId xmlns:a16="http://schemas.microsoft.com/office/drawing/2014/main" id="{4FC7C80F-AC46-2D81-8687-6921444EEA90}"/>
              </a:ext>
            </a:extLst>
          </p:cNvPr>
          <p:cNvSpPr/>
          <p:nvPr/>
        </p:nvSpPr>
        <p:spPr>
          <a:xfrm>
            <a:off x="9650807" y="5112787"/>
            <a:ext cx="201478" cy="276148"/>
          </a:xfrm>
          <a:prstGeom prst="chevron">
            <a:avLst/>
          </a:prstGeom>
          <a:solidFill>
            <a:srgbClr val="FED6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8" name="Chevron 37">
            <a:extLst>
              <a:ext uri="{FF2B5EF4-FFF2-40B4-BE49-F238E27FC236}">
                <a16:creationId xmlns:a16="http://schemas.microsoft.com/office/drawing/2014/main" id="{5D81DBE8-3F9A-A23E-DDE8-90C98095476C}"/>
              </a:ext>
            </a:extLst>
          </p:cNvPr>
          <p:cNvSpPr/>
          <p:nvPr/>
        </p:nvSpPr>
        <p:spPr>
          <a:xfrm>
            <a:off x="9852285" y="5110588"/>
            <a:ext cx="201478" cy="276148"/>
          </a:xfrm>
          <a:prstGeom prst="chevron">
            <a:avLst/>
          </a:prstGeom>
          <a:solidFill>
            <a:srgbClr val="FED6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9" name="Chevron 38">
            <a:extLst>
              <a:ext uri="{FF2B5EF4-FFF2-40B4-BE49-F238E27FC236}">
                <a16:creationId xmlns:a16="http://schemas.microsoft.com/office/drawing/2014/main" id="{9706DA90-03C1-0575-B989-57D702632036}"/>
              </a:ext>
            </a:extLst>
          </p:cNvPr>
          <p:cNvSpPr/>
          <p:nvPr/>
        </p:nvSpPr>
        <p:spPr>
          <a:xfrm>
            <a:off x="10053763" y="5110588"/>
            <a:ext cx="201478" cy="276148"/>
          </a:xfrm>
          <a:prstGeom prst="chevron">
            <a:avLst/>
          </a:prstGeom>
          <a:solidFill>
            <a:srgbClr val="FED6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0" name="Chevron 39">
            <a:extLst>
              <a:ext uri="{FF2B5EF4-FFF2-40B4-BE49-F238E27FC236}">
                <a16:creationId xmlns:a16="http://schemas.microsoft.com/office/drawing/2014/main" id="{38A62773-C083-BE65-C33D-2A5F203C7981}"/>
              </a:ext>
            </a:extLst>
          </p:cNvPr>
          <p:cNvSpPr/>
          <p:nvPr/>
        </p:nvSpPr>
        <p:spPr>
          <a:xfrm>
            <a:off x="10255241" y="5108389"/>
            <a:ext cx="201478" cy="276148"/>
          </a:xfrm>
          <a:prstGeom prst="chevron">
            <a:avLst/>
          </a:prstGeom>
          <a:solidFill>
            <a:srgbClr val="FED6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1" name="Chevron 40">
            <a:extLst>
              <a:ext uri="{FF2B5EF4-FFF2-40B4-BE49-F238E27FC236}">
                <a16:creationId xmlns:a16="http://schemas.microsoft.com/office/drawing/2014/main" id="{D8481615-EB57-E4BB-B75A-0B05F7CBD6C9}"/>
              </a:ext>
            </a:extLst>
          </p:cNvPr>
          <p:cNvSpPr/>
          <p:nvPr/>
        </p:nvSpPr>
        <p:spPr>
          <a:xfrm>
            <a:off x="10456719" y="5110588"/>
            <a:ext cx="201478" cy="276148"/>
          </a:xfrm>
          <a:prstGeom prst="chevron">
            <a:avLst/>
          </a:prstGeom>
          <a:solidFill>
            <a:srgbClr val="FED6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2" name="Chevron 41">
            <a:extLst>
              <a:ext uri="{FF2B5EF4-FFF2-40B4-BE49-F238E27FC236}">
                <a16:creationId xmlns:a16="http://schemas.microsoft.com/office/drawing/2014/main" id="{5BF6C44D-7761-D2E0-035C-BA474B3EB42C}"/>
              </a:ext>
            </a:extLst>
          </p:cNvPr>
          <p:cNvSpPr/>
          <p:nvPr/>
        </p:nvSpPr>
        <p:spPr>
          <a:xfrm>
            <a:off x="10658197" y="5108389"/>
            <a:ext cx="201478" cy="276148"/>
          </a:xfrm>
          <a:prstGeom prst="chevron">
            <a:avLst/>
          </a:prstGeom>
          <a:solidFill>
            <a:srgbClr val="FED6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3" name="Chevron 42">
            <a:extLst>
              <a:ext uri="{FF2B5EF4-FFF2-40B4-BE49-F238E27FC236}">
                <a16:creationId xmlns:a16="http://schemas.microsoft.com/office/drawing/2014/main" id="{5BF4359F-A6BD-098D-DAE4-B9189900E8AF}"/>
              </a:ext>
            </a:extLst>
          </p:cNvPr>
          <p:cNvSpPr/>
          <p:nvPr/>
        </p:nvSpPr>
        <p:spPr>
          <a:xfrm>
            <a:off x="10859675" y="5108389"/>
            <a:ext cx="201478" cy="276148"/>
          </a:xfrm>
          <a:prstGeom prst="chevron">
            <a:avLst/>
          </a:prstGeom>
          <a:solidFill>
            <a:srgbClr val="FED6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4" name="Chevron 43">
            <a:extLst>
              <a:ext uri="{FF2B5EF4-FFF2-40B4-BE49-F238E27FC236}">
                <a16:creationId xmlns:a16="http://schemas.microsoft.com/office/drawing/2014/main" id="{688A921A-2B0B-9ED1-B78D-274A99904B24}"/>
              </a:ext>
            </a:extLst>
          </p:cNvPr>
          <p:cNvSpPr/>
          <p:nvPr/>
        </p:nvSpPr>
        <p:spPr>
          <a:xfrm>
            <a:off x="11061153" y="5106190"/>
            <a:ext cx="201478" cy="276148"/>
          </a:xfrm>
          <a:prstGeom prst="chevron">
            <a:avLst/>
          </a:prstGeom>
          <a:solidFill>
            <a:srgbClr val="FED6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5" name="Chevron 44">
            <a:extLst>
              <a:ext uri="{FF2B5EF4-FFF2-40B4-BE49-F238E27FC236}">
                <a16:creationId xmlns:a16="http://schemas.microsoft.com/office/drawing/2014/main" id="{4D55963D-07F9-DF6C-1CFE-512C62EEF28D}"/>
              </a:ext>
            </a:extLst>
          </p:cNvPr>
          <p:cNvSpPr/>
          <p:nvPr/>
        </p:nvSpPr>
        <p:spPr>
          <a:xfrm>
            <a:off x="11274303" y="5109301"/>
            <a:ext cx="201478" cy="276148"/>
          </a:xfrm>
          <a:prstGeom prst="chevron">
            <a:avLst/>
          </a:prstGeom>
          <a:solidFill>
            <a:srgbClr val="FED6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6" name="Chevron 45">
            <a:extLst>
              <a:ext uri="{FF2B5EF4-FFF2-40B4-BE49-F238E27FC236}">
                <a16:creationId xmlns:a16="http://schemas.microsoft.com/office/drawing/2014/main" id="{88282FBF-5923-08C6-BFE0-FACF4BEA9ADC}"/>
              </a:ext>
            </a:extLst>
          </p:cNvPr>
          <p:cNvSpPr/>
          <p:nvPr/>
        </p:nvSpPr>
        <p:spPr>
          <a:xfrm>
            <a:off x="11475781" y="5107102"/>
            <a:ext cx="201478" cy="276148"/>
          </a:xfrm>
          <a:prstGeom prst="chevron">
            <a:avLst/>
          </a:prstGeom>
          <a:solidFill>
            <a:srgbClr val="FED6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7" name="Chevron 46">
            <a:extLst>
              <a:ext uri="{FF2B5EF4-FFF2-40B4-BE49-F238E27FC236}">
                <a16:creationId xmlns:a16="http://schemas.microsoft.com/office/drawing/2014/main" id="{988BADBC-F8DC-3A56-494F-DBA24EC7C60D}"/>
              </a:ext>
            </a:extLst>
          </p:cNvPr>
          <p:cNvSpPr/>
          <p:nvPr/>
        </p:nvSpPr>
        <p:spPr>
          <a:xfrm>
            <a:off x="11677259" y="5107102"/>
            <a:ext cx="201478" cy="276148"/>
          </a:xfrm>
          <a:prstGeom prst="chevron">
            <a:avLst/>
          </a:prstGeom>
          <a:solidFill>
            <a:srgbClr val="FED6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8" name="Chevron 47">
            <a:extLst>
              <a:ext uri="{FF2B5EF4-FFF2-40B4-BE49-F238E27FC236}">
                <a16:creationId xmlns:a16="http://schemas.microsoft.com/office/drawing/2014/main" id="{F2CFFC80-C10B-2A55-33E2-C3AFAB565BAE}"/>
              </a:ext>
            </a:extLst>
          </p:cNvPr>
          <p:cNvSpPr/>
          <p:nvPr/>
        </p:nvSpPr>
        <p:spPr>
          <a:xfrm>
            <a:off x="11878737" y="5104903"/>
            <a:ext cx="201478" cy="276148"/>
          </a:xfrm>
          <a:prstGeom prst="chevron">
            <a:avLst/>
          </a:prstGeom>
          <a:solidFill>
            <a:srgbClr val="FED6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9" name="TextBox 48">
            <a:extLst>
              <a:ext uri="{FF2B5EF4-FFF2-40B4-BE49-F238E27FC236}">
                <a16:creationId xmlns:a16="http://schemas.microsoft.com/office/drawing/2014/main" id="{FD4B5DE9-509B-51C5-619A-F9EAA6D0EED0}"/>
              </a:ext>
            </a:extLst>
          </p:cNvPr>
          <p:cNvSpPr txBox="1"/>
          <p:nvPr/>
        </p:nvSpPr>
        <p:spPr>
          <a:xfrm>
            <a:off x="9650807" y="4774024"/>
            <a:ext cx="2537822" cy="274614"/>
          </a:xfrm>
          <a:prstGeom prst="rect">
            <a:avLst/>
          </a:prstGeom>
          <a:noFill/>
        </p:spPr>
        <p:txBody>
          <a:bodyPr wrap="square" rtlCol="0">
            <a:spAutoFit/>
          </a:bodyPr>
          <a:lstStyle/>
          <a:p>
            <a:r>
              <a:rPr lang="en-US" sz="1200">
                <a:latin typeface="Georgia" panose="02040502050405020303" pitchFamily="18" charset="0"/>
              </a:rPr>
              <a:t>CONTINUED ON NEXT SLIDE</a:t>
            </a:r>
          </a:p>
        </p:txBody>
      </p:sp>
    </p:spTree>
    <p:extLst>
      <p:ext uri="{BB962C8B-B14F-4D97-AF65-F5344CB8AC3E}">
        <p14:creationId xmlns:p14="http://schemas.microsoft.com/office/powerpoint/2010/main" val="14452699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F1143A60-3D07-D074-F073-C93E117DA78E}"/>
              </a:ext>
            </a:extLst>
          </p:cNvPr>
          <p:cNvSpPr/>
          <p:nvPr/>
        </p:nvSpPr>
        <p:spPr>
          <a:xfrm>
            <a:off x="4591875" y="3574554"/>
            <a:ext cx="2003994" cy="342084"/>
          </a:xfrm>
          <a:prstGeom prst="rect">
            <a:avLst/>
          </a:prstGeom>
          <a:solidFill>
            <a:srgbClr val="FED6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5D1EE895-46AD-33FA-1FAB-12E405E60DA1}"/>
              </a:ext>
            </a:extLst>
          </p:cNvPr>
          <p:cNvSpPr/>
          <p:nvPr/>
        </p:nvSpPr>
        <p:spPr>
          <a:xfrm>
            <a:off x="4617495" y="2008953"/>
            <a:ext cx="2316545" cy="338554"/>
          </a:xfrm>
          <a:prstGeom prst="rect">
            <a:avLst/>
          </a:prstGeom>
          <a:solidFill>
            <a:srgbClr val="FED6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AB988430-57E2-19A2-B6CE-833560198CD7}"/>
              </a:ext>
            </a:extLst>
          </p:cNvPr>
          <p:cNvSpPr/>
          <p:nvPr/>
        </p:nvSpPr>
        <p:spPr>
          <a:xfrm>
            <a:off x="906714" y="3541042"/>
            <a:ext cx="3330829" cy="338554"/>
          </a:xfrm>
          <a:prstGeom prst="rect">
            <a:avLst/>
          </a:prstGeom>
          <a:solidFill>
            <a:srgbClr val="FED6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38776454-0F8E-38E7-5AD2-68153CC3E15C}"/>
              </a:ext>
            </a:extLst>
          </p:cNvPr>
          <p:cNvSpPr/>
          <p:nvPr/>
        </p:nvSpPr>
        <p:spPr>
          <a:xfrm>
            <a:off x="906714" y="2012811"/>
            <a:ext cx="2316545" cy="338554"/>
          </a:xfrm>
          <a:prstGeom prst="rect">
            <a:avLst/>
          </a:prstGeom>
          <a:solidFill>
            <a:srgbClr val="FED6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3CCB31-5D31-5BCD-1473-2086453CC4A9}"/>
              </a:ext>
            </a:extLst>
          </p:cNvPr>
          <p:cNvSpPr>
            <a:spLocks noGrp="1"/>
          </p:cNvSpPr>
          <p:nvPr>
            <p:ph type="title"/>
          </p:nvPr>
        </p:nvSpPr>
        <p:spPr/>
        <p:txBody>
          <a:bodyPr>
            <a:noAutofit/>
          </a:bodyPr>
          <a:lstStyle/>
          <a:p>
            <a:r>
              <a:rPr lang="en-US" sz="3600">
                <a:latin typeface="Georgia" panose="02040502050405020303" pitchFamily="18" charset="0"/>
                <a:cs typeface="Calibri Light"/>
              </a:rPr>
              <a:t>Lasso, PCA, multicollinearity, correlation, and literature review informed final variable selection </a:t>
            </a:r>
            <a:endParaRPr lang="en-US" sz="3600"/>
          </a:p>
        </p:txBody>
      </p:sp>
      <p:sp>
        <p:nvSpPr>
          <p:cNvPr id="4" name="Snip Single Corner Rectangle 3">
            <a:extLst>
              <a:ext uri="{FF2B5EF4-FFF2-40B4-BE49-F238E27FC236}">
                <a16:creationId xmlns:a16="http://schemas.microsoft.com/office/drawing/2014/main" id="{2CB94096-D776-D4EE-71D5-3AA07B6AECC5}"/>
              </a:ext>
            </a:extLst>
          </p:cNvPr>
          <p:cNvSpPr/>
          <p:nvPr/>
        </p:nvSpPr>
        <p:spPr>
          <a:xfrm>
            <a:off x="0" y="0"/>
            <a:ext cx="3390900" cy="365125"/>
          </a:xfrm>
          <a:prstGeom prst="snip1Rect">
            <a:avLst/>
          </a:prstGeom>
          <a:solidFill>
            <a:srgbClr val="FED6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Georgia" panose="02040502050405020303" pitchFamily="18" charset="0"/>
              </a:rPr>
              <a:t>Feature Selection</a:t>
            </a:r>
          </a:p>
        </p:txBody>
      </p:sp>
      <p:sp>
        <p:nvSpPr>
          <p:cNvPr id="13" name="Rectangle 12">
            <a:extLst>
              <a:ext uri="{FF2B5EF4-FFF2-40B4-BE49-F238E27FC236}">
                <a16:creationId xmlns:a16="http://schemas.microsoft.com/office/drawing/2014/main" id="{CC549A61-9271-65C9-5F90-AE9137AB8A0C}"/>
              </a:ext>
            </a:extLst>
          </p:cNvPr>
          <p:cNvSpPr/>
          <p:nvPr/>
        </p:nvSpPr>
        <p:spPr>
          <a:xfrm>
            <a:off x="0" y="5833525"/>
            <a:ext cx="12192000" cy="908901"/>
          </a:xfrm>
          <a:prstGeom prst="rect">
            <a:avLst/>
          </a:prstGeom>
          <a:solidFill>
            <a:srgbClr val="FED6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81042C3D-EB22-EC4C-3F25-56AAC419D7CE}"/>
              </a:ext>
            </a:extLst>
          </p:cNvPr>
          <p:cNvSpPr txBox="1"/>
          <p:nvPr/>
        </p:nvSpPr>
        <p:spPr>
          <a:xfrm>
            <a:off x="879702" y="2019375"/>
            <a:ext cx="3436749" cy="338554"/>
          </a:xfrm>
          <a:prstGeom prst="rect">
            <a:avLst/>
          </a:prstGeom>
          <a:noFill/>
        </p:spPr>
        <p:txBody>
          <a:bodyPr wrap="square">
            <a:spAutoFit/>
          </a:bodyPr>
          <a:lstStyle/>
          <a:p>
            <a:r>
              <a:rPr lang="en-US" sz="1600" b="1" spc="700">
                <a:latin typeface="Georgia" panose="02040502050405020303" pitchFamily="18" charset="0"/>
                <a:ea typeface="+mn-lt"/>
                <a:cs typeface="+mn-lt"/>
              </a:rPr>
              <a:t>Lasso &amp; PCA</a:t>
            </a:r>
            <a:endParaRPr lang="en-US" sz="1600" b="1" spc="700">
              <a:latin typeface="Georgia" panose="02040502050405020303" pitchFamily="18" charset="0"/>
            </a:endParaRPr>
          </a:p>
        </p:txBody>
      </p:sp>
      <p:sp>
        <p:nvSpPr>
          <p:cNvPr id="15" name="TextBox 14">
            <a:extLst>
              <a:ext uri="{FF2B5EF4-FFF2-40B4-BE49-F238E27FC236}">
                <a16:creationId xmlns:a16="http://schemas.microsoft.com/office/drawing/2014/main" id="{0625D4CA-E839-F605-88DF-1BBE7D2B0C1D}"/>
              </a:ext>
            </a:extLst>
          </p:cNvPr>
          <p:cNvSpPr txBox="1"/>
          <p:nvPr/>
        </p:nvSpPr>
        <p:spPr>
          <a:xfrm>
            <a:off x="4583833" y="2019375"/>
            <a:ext cx="3436749" cy="338554"/>
          </a:xfrm>
          <a:prstGeom prst="rect">
            <a:avLst/>
          </a:prstGeom>
          <a:noFill/>
        </p:spPr>
        <p:txBody>
          <a:bodyPr wrap="square">
            <a:spAutoFit/>
          </a:bodyPr>
          <a:lstStyle>
            <a:defPPr>
              <a:defRPr lang="en-US"/>
            </a:defPPr>
            <a:lvl1pPr>
              <a:defRPr sz="1600" b="1" spc="700">
                <a:latin typeface="Georgia" panose="02040502050405020303" pitchFamily="18" charset="0"/>
                <a:ea typeface="+mn-lt"/>
                <a:cs typeface="+mn-lt"/>
              </a:defRPr>
            </a:lvl1pPr>
          </a:lstStyle>
          <a:p>
            <a:r>
              <a:rPr lang="en-US"/>
              <a:t>Correlation</a:t>
            </a:r>
          </a:p>
        </p:txBody>
      </p:sp>
      <p:sp>
        <p:nvSpPr>
          <p:cNvPr id="16" name="TextBox 15">
            <a:extLst>
              <a:ext uri="{FF2B5EF4-FFF2-40B4-BE49-F238E27FC236}">
                <a16:creationId xmlns:a16="http://schemas.microsoft.com/office/drawing/2014/main" id="{0BDDAF59-6B42-9B35-E56F-6CE3A3D01B45}"/>
              </a:ext>
            </a:extLst>
          </p:cNvPr>
          <p:cNvSpPr txBox="1"/>
          <p:nvPr/>
        </p:nvSpPr>
        <p:spPr>
          <a:xfrm>
            <a:off x="4591876" y="3562092"/>
            <a:ext cx="3436749" cy="338554"/>
          </a:xfrm>
          <a:prstGeom prst="rect">
            <a:avLst/>
          </a:prstGeom>
          <a:noFill/>
        </p:spPr>
        <p:txBody>
          <a:bodyPr wrap="square">
            <a:spAutoFit/>
          </a:bodyPr>
          <a:lstStyle/>
          <a:p>
            <a:r>
              <a:rPr lang="en-US" sz="1600" b="1" spc="700">
                <a:latin typeface="Georgia" panose="02040502050405020303" pitchFamily="18" charset="0"/>
                <a:ea typeface="+mn-lt"/>
                <a:cs typeface="+mn-lt"/>
              </a:rPr>
              <a:t>Lit review</a:t>
            </a:r>
            <a:endParaRPr lang="en-US" sz="1600" b="1" spc="700">
              <a:latin typeface="Georgia" panose="02040502050405020303" pitchFamily="18" charset="0"/>
            </a:endParaRPr>
          </a:p>
        </p:txBody>
      </p:sp>
      <p:sp>
        <p:nvSpPr>
          <p:cNvPr id="17" name="TextBox 16">
            <a:extLst>
              <a:ext uri="{FF2B5EF4-FFF2-40B4-BE49-F238E27FC236}">
                <a16:creationId xmlns:a16="http://schemas.microsoft.com/office/drawing/2014/main" id="{68A815C7-35A3-1EBB-5131-AAB1DAB94FEF}"/>
              </a:ext>
            </a:extLst>
          </p:cNvPr>
          <p:cNvSpPr txBox="1"/>
          <p:nvPr/>
        </p:nvSpPr>
        <p:spPr>
          <a:xfrm>
            <a:off x="152271" y="5416863"/>
            <a:ext cx="3436749" cy="369332"/>
          </a:xfrm>
          <a:prstGeom prst="rect">
            <a:avLst/>
          </a:prstGeom>
          <a:noFill/>
        </p:spPr>
        <p:txBody>
          <a:bodyPr wrap="square">
            <a:spAutoFit/>
          </a:bodyPr>
          <a:lstStyle/>
          <a:p>
            <a:r>
              <a:rPr lang="en-US" b="1" spc="700">
                <a:ea typeface="+mn-lt"/>
                <a:cs typeface="+mn-lt"/>
              </a:rPr>
              <a:t>FINAL DATA SET</a:t>
            </a:r>
            <a:endParaRPr lang="en-US" b="1" spc="700"/>
          </a:p>
        </p:txBody>
      </p:sp>
      <p:sp>
        <p:nvSpPr>
          <p:cNvPr id="18" name="TextBox 17">
            <a:extLst>
              <a:ext uri="{FF2B5EF4-FFF2-40B4-BE49-F238E27FC236}">
                <a16:creationId xmlns:a16="http://schemas.microsoft.com/office/drawing/2014/main" id="{C8E87509-843B-DBB2-F657-5CC40A4CC078}"/>
              </a:ext>
            </a:extLst>
          </p:cNvPr>
          <p:cNvSpPr txBox="1"/>
          <p:nvPr/>
        </p:nvSpPr>
        <p:spPr>
          <a:xfrm>
            <a:off x="127312" y="5879245"/>
            <a:ext cx="12095134" cy="784830"/>
          </a:xfrm>
          <a:prstGeom prst="rect">
            <a:avLst/>
          </a:prstGeom>
          <a:noFill/>
        </p:spPr>
        <p:txBody>
          <a:bodyPr wrap="square" rtlCol="0">
            <a:spAutoFit/>
          </a:bodyPr>
          <a:lstStyle/>
          <a:p>
            <a:r>
              <a:rPr lang="en-US" sz="1500">
                <a:latin typeface="Georgia" panose="02040502050405020303" pitchFamily="18" charset="0"/>
              </a:rPr>
              <a:t>Our final dataset was reduced from 438,693 rows and 303 columns to </a:t>
            </a:r>
            <a:r>
              <a:rPr lang="en-US" sz="1500" b="1">
                <a:latin typeface="Georgia" panose="02040502050405020303" pitchFamily="18" charset="0"/>
              </a:rPr>
              <a:t>134,702 rows</a:t>
            </a:r>
            <a:r>
              <a:rPr lang="en-US" sz="1500">
                <a:latin typeface="Georgia" panose="02040502050405020303" pitchFamily="18" charset="0"/>
              </a:rPr>
              <a:t> and </a:t>
            </a:r>
            <a:r>
              <a:rPr lang="en-US" sz="1500" b="1">
                <a:latin typeface="Georgia" panose="02040502050405020303" pitchFamily="18" charset="0"/>
              </a:rPr>
              <a:t>22 columns</a:t>
            </a:r>
            <a:r>
              <a:rPr lang="en-US" sz="1500">
                <a:latin typeface="Georgia" panose="02040502050405020303" pitchFamily="18" charset="0"/>
              </a:rPr>
              <a:t>. The final variables include state, race, gender, general health, physical activity, employment, cholesterol medicine, kidney disease, health insurance, BMI, age, blood pressure, education, and income, among others. </a:t>
            </a:r>
          </a:p>
        </p:txBody>
      </p:sp>
      <p:pic>
        <p:nvPicPr>
          <p:cNvPr id="20" name="Imagem 1">
            <a:extLst>
              <a:ext uri="{FF2B5EF4-FFF2-40B4-BE49-F238E27FC236}">
                <a16:creationId xmlns:a16="http://schemas.microsoft.com/office/drawing/2014/main" id="{43403155-2083-3AC4-B8BD-85C6F0F8DD1B}"/>
              </a:ext>
            </a:extLst>
          </p:cNvPr>
          <p:cNvPicPr>
            <a:picLocks noChangeAspect="1"/>
          </p:cNvPicPr>
          <p:nvPr/>
        </p:nvPicPr>
        <p:blipFill rotWithShape="1">
          <a:blip r:embed="rId2"/>
          <a:srcRect t="5560" b="5332"/>
          <a:stretch/>
        </p:blipFill>
        <p:spPr>
          <a:xfrm>
            <a:off x="7640777" y="1522021"/>
            <a:ext cx="3997730" cy="3894841"/>
          </a:xfrm>
          <a:prstGeom prst="rect">
            <a:avLst/>
          </a:prstGeom>
        </p:spPr>
      </p:pic>
      <p:sp>
        <p:nvSpPr>
          <p:cNvPr id="23" name="TextBox 22">
            <a:extLst>
              <a:ext uri="{FF2B5EF4-FFF2-40B4-BE49-F238E27FC236}">
                <a16:creationId xmlns:a16="http://schemas.microsoft.com/office/drawing/2014/main" id="{D6F08EB9-28B5-3192-9096-78601FE7BBF8}"/>
              </a:ext>
            </a:extLst>
          </p:cNvPr>
          <p:cNvSpPr txBox="1"/>
          <p:nvPr/>
        </p:nvSpPr>
        <p:spPr>
          <a:xfrm>
            <a:off x="8006538" y="5207276"/>
            <a:ext cx="3918336" cy="661207"/>
          </a:xfrm>
          <a:prstGeom prst="rect">
            <a:avLst/>
          </a:prstGeom>
          <a:noFill/>
        </p:spPr>
        <p:txBody>
          <a:bodyPr wrap="square">
            <a:spAutoFit/>
          </a:bodyPr>
          <a:lstStyle/>
          <a:p>
            <a:pPr marR="0" algn="ctr">
              <a:lnSpc>
                <a:spcPct val="105000"/>
              </a:lnSpc>
              <a:spcBef>
                <a:spcPts val="0"/>
              </a:spcBef>
              <a:spcAft>
                <a:spcPts val="0"/>
              </a:spcAft>
            </a:pPr>
            <a:r>
              <a:rPr lang="en-US" sz="1200" b="1">
                <a:solidFill>
                  <a:srgbClr val="000000"/>
                </a:solidFill>
                <a:effectLst/>
                <a:latin typeface="Georgia" panose="02040502050405020303" pitchFamily="18" charset="0"/>
                <a:ea typeface="Calibri" panose="020F0502020204030204" pitchFamily="34" charset="0"/>
                <a:cs typeface="Calibri" panose="020F0502020204030204" pitchFamily="34" charset="0"/>
              </a:rPr>
              <a:t>Correlation Matrix </a:t>
            </a:r>
          </a:p>
          <a:p>
            <a:pPr marR="0" algn="ctr">
              <a:lnSpc>
                <a:spcPct val="105000"/>
              </a:lnSpc>
              <a:spcBef>
                <a:spcPts val="0"/>
              </a:spcBef>
              <a:spcAft>
                <a:spcPts val="0"/>
              </a:spcAft>
            </a:pPr>
            <a:r>
              <a:rPr lang="en-US" sz="1200">
                <a:solidFill>
                  <a:srgbClr val="000000"/>
                </a:solidFill>
                <a:effectLst/>
                <a:latin typeface="Georgia" panose="02040502050405020303" pitchFamily="18" charset="0"/>
                <a:ea typeface="Calibri" panose="020F0502020204030204" pitchFamily="34" charset="0"/>
                <a:cs typeface="Calibri" panose="020F0502020204030204" pitchFamily="34" charset="0"/>
              </a:rPr>
              <a:t>None of the pairs of predictors is significantly correlated after variable reduction.</a:t>
            </a:r>
            <a:endParaRPr lang="en-US" sz="1200">
              <a:effectLst/>
              <a:latin typeface="Georgia" panose="02040502050405020303" pitchFamily="18" charset="0"/>
              <a:ea typeface="Calibri" panose="020F0502020204030204" pitchFamily="34" charset="0"/>
              <a:cs typeface="Times New Roman" panose="02020603050405020304" pitchFamily="18" charset="0"/>
            </a:endParaRPr>
          </a:p>
        </p:txBody>
      </p:sp>
      <p:sp>
        <p:nvSpPr>
          <p:cNvPr id="25" name="TextBox 24">
            <a:extLst>
              <a:ext uri="{FF2B5EF4-FFF2-40B4-BE49-F238E27FC236}">
                <a16:creationId xmlns:a16="http://schemas.microsoft.com/office/drawing/2014/main" id="{93AF37E4-77F3-7C57-8063-AB16BCD9C095}"/>
              </a:ext>
            </a:extLst>
          </p:cNvPr>
          <p:cNvSpPr txBox="1"/>
          <p:nvPr/>
        </p:nvSpPr>
        <p:spPr>
          <a:xfrm>
            <a:off x="879701" y="3572160"/>
            <a:ext cx="3661335" cy="338554"/>
          </a:xfrm>
          <a:prstGeom prst="rect">
            <a:avLst/>
          </a:prstGeom>
          <a:noFill/>
        </p:spPr>
        <p:txBody>
          <a:bodyPr wrap="square">
            <a:spAutoFit/>
          </a:bodyPr>
          <a:lstStyle>
            <a:defPPr>
              <a:defRPr lang="en-US"/>
            </a:defPPr>
            <a:lvl1pPr>
              <a:defRPr sz="1600" b="1" spc="700">
                <a:latin typeface="Georgia" panose="02040502050405020303" pitchFamily="18" charset="0"/>
                <a:ea typeface="+mn-lt"/>
                <a:cs typeface="+mn-lt"/>
              </a:defRPr>
            </a:lvl1pPr>
          </a:lstStyle>
          <a:p>
            <a:r>
              <a:rPr lang="en-US"/>
              <a:t>Multicollinearity</a:t>
            </a:r>
          </a:p>
        </p:txBody>
      </p:sp>
      <p:sp>
        <p:nvSpPr>
          <p:cNvPr id="26" name="TextBox 25">
            <a:extLst>
              <a:ext uri="{FF2B5EF4-FFF2-40B4-BE49-F238E27FC236}">
                <a16:creationId xmlns:a16="http://schemas.microsoft.com/office/drawing/2014/main" id="{914CEEF8-6A7B-22E1-20B7-7738233556D5}"/>
              </a:ext>
            </a:extLst>
          </p:cNvPr>
          <p:cNvSpPr txBox="1"/>
          <p:nvPr/>
        </p:nvSpPr>
        <p:spPr>
          <a:xfrm>
            <a:off x="879701" y="2357930"/>
            <a:ext cx="2709319" cy="461665"/>
          </a:xfrm>
          <a:prstGeom prst="rect">
            <a:avLst/>
          </a:prstGeom>
          <a:noFill/>
        </p:spPr>
        <p:txBody>
          <a:bodyPr wrap="square" rtlCol="0">
            <a:spAutoFit/>
          </a:bodyPr>
          <a:lstStyle/>
          <a:p>
            <a:r>
              <a:rPr lang="en-US" sz="1200">
                <a:latin typeface="Georgia" panose="02040502050405020303" pitchFamily="18" charset="0"/>
              </a:rPr>
              <a:t>Lasso &amp; PCA reduced variables by 2/3.</a:t>
            </a:r>
          </a:p>
        </p:txBody>
      </p:sp>
      <p:sp>
        <p:nvSpPr>
          <p:cNvPr id="27" name="TextBox 26">
            <a:extLst>
              <a:ext uri="{FF2B5EF4-FFF2-40B4-BE49-F238E27FC236}">
                <a16:creationId xmlns:a16="http://schemas.microsoft.com/office/drawing/2014/main" id="{ED0381B9-BFD9-B999-483A-1350446E5DF9}"/>
              </a:ext>
            </a:extLst>
          </p:cNvPr>
          <p:cNvSpPr txBox="1"/>
          <p:nvPr/>
        </p:nvSpPr>
        <p:spPr>
          <a:xfrm>
            <a:off x="879701" y="3928016"/>
            <a:ext cx="2511199" cy="461665"/>
          </a:xfrm>
          <a:prstGeom prst="rect">
            <a:avLst/>
          </a:prstGeom>
          <a:noFill/>
        </p:spPr>
        <p:txBody>
          <a:bodyPr wrap="square" rtlCol="0">
            <a:spAutoFit/>
          </a:bodyPr>
          <a:lstStyle/>
          <a:p>
            <a:r>
              <a:rPr lang="en-US" sz="1200">
                <a:latin typeface="Georgia" panose="02040502050405020303" pitchFamily="18" charset="0"/>
              </a:rPr>
              <a:t>We checked multicollinearity using functions outlined in class.</a:t>
            </a:r>
          </a:p>
        </p:txBody>
      </p:sp>
      <p:sp>
        <p:nvSpPr>
          <p:cNvPr id="28" name="TextBox 27">
            <a:extLst>
              <a:ext uri="{FF2B5EF4-FFF2-40B4-BE49-F238E27FC236}">
                <a16:creationId xmlns:a16="http://schemas.microsoft.com/office/drawing/2014/main" id="{C27FDB5C-887F-0EA9-CD8C-152B6ADCC38C}"/>
              </a:ext>
            </a:extLst>
          </p:cNvPr>
          <p:cNvSpPr txBox="1"/>
          <p:nvPr/>
        </p:nvSpPr>
        <p:spPr>
          <a:xfrm>
            <a:off x="4591875" y="3928016"/>
            <a:ext cx="2511200" cy="830997"/>
          </a:xfrm>
          <a:prstGeom prst="rect">
            <a:avLst/>
          </a:prstGeom>
          <a:noFill/>
        </p:spPr>
        <p:txBody>
          <a:bodyPr wrap="square" rtlCol="0">
            <a:spAutoFit/>
          </a:bodyPr>
          <a:lstStyle/>
          <a:p>
            <a:r>
              <a:rPr lang="en-US" sz="1200">
                <a:latin typeface="Georgia" panose="02040502050405020303" pitchFamily="18" charset="0"/>
              </a:rPr>
              <a:t>Our lit review solidified certain variable inclusion, like BMI, cholesterol, and race among others.</a:t>
            </a:r>
          </a:p>
        </p:txBody>
      </p:sp>
      <p:sp>
        <p:nvSpPr>
          <p:cNvPr id="29" name="TextBox 28">
            <a:extLst>
              <a:ext uri="{FF2B5EF4-FFF2-40B4-BE49-F238E27FC236}">
                <a16:creationId xmlns:a16="http://schemas.microsoft.com/office/drawing/2014/main" id="{2D0A914A-4F0E-E335-0514-C80AE8E459F9}"/>
              </a:ext>
            </a:extLst>
          </p:cNvPr>
          <p:cNvSpPr txBox="1"/>
          <p:nvPr/>
        </p:nvSpPr>
        <p:spPr>
          <a:xfrm>
            <a:off x="4583833" y="2347507"/>
            <a:ext cx="2511201" cy="830997"/>
          </a:xfrm>
          <a:prstGeom prst="rect">
            <a:avLst/>
          </a:prstGeom>
          <a:noFill/>
        </p:spPr>
        <p:txBody>
          <a:bodyPr wrap="square" rtlCol="0">
            <a:spAutoFit/>
          </a:bodyPr>
          <a:lstStyle/>
          <a:p>
            <a:r>
              <a:rPr lang="en-US" sz="1200">
                <a:latin typeface="Georgia" panose="02040502050405020303" pitchFamily="18" charset="0"/>
              </a:rPr>
              <a:t>We checked for correlation above .7, and removed compounding variables (</a:t>
            </a:r>
            <a:r>
              <a:rPr lang="en-US" sz="1200" err="1">
                <a:latin typeface="Georgia" panose="02040502050405020303" pitchFamily="18" charset="0"/>
              </a:rPr>
              <a:t>ie</a:t>
            </a:r>
            <a:r>
              <a:rPr lang="en-US" sz="1200">
                <a:latin typeface="Georgia" panose="02040502050405020303" pitchFamily="18" charset="0"/>
              </a:rPr>
              <a:t> removed weight in kilograms to keep BMI).</a:t>
            </a:r>
          </a:p>
        </p:txBody>
      </p:sp>
    </p:spTree>
    <p:extLst>
      <p:ext uri="{BB962C8B-B14F-4D97-AF65-F5344CB8AC3E}">
        <p14:creationId xmlns:p14="http://schemas.microsoft.com/office/powerpoint/2010/main" val="22235426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CCB31-5D31-5BCD-1473-2086453CC4A9}"/>
              </a:ext>
            </a:extLst>
          </p:cNvPr>
          <p:cNvSpPr>
            <a:spLocks noGrp="1"/>
          </p:cNvSpPr>
          <p:nvPr>
            <p:ph type="title"/>
          </p:nvPr>
        </p:nvSpPr>
        <p:spPr>
          <a:xfrm>
            <a:off x="411881" y="1734646"/>
            <a:ext cx="5120019" cy="1694354"/>
          </a:xfrm>
        </p:spPr>
        <p:txBody>
          <a:bodyPr>
            <a:normAutofit fontScale="90000"/>
          </a:bodyPr>
          <a:lstStyle/>
          <a:p>
            <a:r>
              <a:rPr lang="en-US">
                <a:latin typeface="Georgia" panose="02040502050405020303" pitchFamily="18" charset="0"/>
                <a:cs typeface="Calibri Light"/>
              </a:rPr>
              <a:t>Though all models have passable accuracy, </a:t>
            </a:r>
            <a:r>
              <a:rPr lang="en-US" b="1">
                <a:latin typeface="Georgia" panose="02040502050405020303" pitchFamily="18" charset="0"/>
                <a:cs typeface="Calibri Light"/>
              </a:rPr>
              <a:t>our models lack precision </a:t>
            </a:r>
            <a:endParaRPr lang="en-US" b="1"/>
          </a:p>
        </p:txBody>
      </p:sp>
      <p:sp>
        <p:nvSpPr>
          <p:cNvPr id="4" name="Snip Single Corner Rectangle 3">
            <a:extLst>
              <a:ext uri="{FF2B5EF4-FFF2-40B4-BE49-F238E27FC236}">
                <a16:creationId xmlns:a16="http://schemas.microsoft.com/office/drawing/2014/main" id="{2CB94096-D776-D4EE-71D5-3AA07B6AECC5}"/>
              </a:ext>
            </a:extLst>
          </p:cNvPr>
          <p:cNvSpPr/>
          <p:nvPr/>
        </p:nvSpPr>
        <p:spPr>
          <a:xfrm>
            <a:off x="0" y="0"/>
            <a:ext cx="3390900" cy="365125"/>
          </a:xfrm>
          <a:prstGeom prst="snip1Rect">
            <a:avLst/>
          </a:prstGeom>
          <a:solidFill>
            <a:srgbClr val="FED6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Georgia" panose="02040502050405020303" pitchFamily="18" charset="0"/>
              </a:rPr>
              <a:t>Model Comparison &amp; Selection</a:t>
            </a:r>
          </a:p>
        </p:txBody>
      </p:sp>
      <p:sp>
        <p:nvSpPr>
          <p:cNvPr id="7" name="TextBox 6">
            <a:extLst>
              <a:ext uri="{FF2B5EF4-FFF2-40B4-BE49-F238E27FC236}">
                <a16:creationId xmlns:a16="http://schemas.microsoft.com/office/drawing/2014/main" id="{A16BD814-EA0D-405E-2FBF-5C2C08FF8405}"/>
              </a:ext>
            </a:extLst>
          </p:cNvPr>
          <p:cNvSpPr txBox="1"/>
          <p:nvPr/>
        </p:nvSpPr>
        <p:spPr>
          <a:xfrm>
            <a:off x="411882" y="4102764"/>
            <a:ext cx="5120019" cy="1077218"/>
          </a:xfrm>
          <a:prstGeom prst="rect">
            <a:avLst/>
          </a:prstGeom>
          <a:noFill/>
        </p:spPr>
        <p:txBody>
          <a:bodyPr wrap="square" rtlCol="0">
            <a:spAutoFit/>
          </a:bodyPr>
          <a:lstStyle/>
          <a:p>
            <a:r>
              <a:rPr lang="en-US" sz="1600">
                <a:latin typeface="Georgia" panose="02040502050405020303" pitchFamily="18" charset="0"/>
              </a:rPr>
              <a:t>To predict someone’s likelihood of being diagnosed with diabetes, we scale the data where necessary, split the data into test and training sets, and compare classification models.</a:t>
            </a:r>
          </a:p>
        </p:txBody>
      </p:sp>
      <p:sp>
        <p:nvSpPr>
          <p:cNvPr id="10" name="TextBox 9">
            <a:extLst>
              <a:ext uri="{FF2B5EF4-FFF2-40B4-BE49-F238E27FC236}">
                <a16:creationId xmlns:a16="http://schemas.microsoft.com/office/drawing/2014/main" id="{E6650824-E7AE-A507-5E1A-7F97A7761D97}"/>
              </a:ext>
            </a:extLst>
          </p:cNvPr>
          <p:cNvSpPr txBox="1"/>
          <p:nvPr/>
        </p:nvSpPr>
        <p:spPr>
          <a:xfrm>
            <a:off x="411882" y="5424337"/>
            <a:ext cx="5120019" cy="584775"/>
          </a:xfrm>
          <a:prstGeom prst="rect">
            <a:avLst/>
          </a:prstGeom>
          <a:noFill/>
        </p:spPr>
        <p:txBody>
          <a:bodyPr wrap="square" rtlCol="0">
            <a:spAutoFit/>
          </a:bodyPr>
          <a:lstStyle/>
          <a:p>
            <a:r>
              <a:rPr lang="en-US" sz="1600">
                <a:latin typeface="Georgia" panose="02040502050405020303" pitchFamily="18" charset="0"/>
              </a:rPr>
              <a:t>After initial modeling, </a:t>
            </a:r>
            <a:r>
              <a:rPr lang="en-US" sz="1600" b="1">
                <a:latin typeface="Georgia" panose="02040502050405020303" pitchFamily="18" charset="0"/>
              </a:rPr>
              <a:t>up-sampling was required to balance the data </a:t>
            </a:r>
            <a:r>
              <a:rPr lang="en-US" sz="1600">
                <a:latin typeface="Georgia" panose="02040502050405020303" pitchFamily="18" charset="0"/>
              </a:rPr>
              <a:t>and improve scores. </a:t>
            </a:r>
          </a:p>
        </p:txBody>
      </p:sp>
      <p:graphicFrame>
        <p:nvGraphicFramePr>
          <p:cNvPr id="11" name="Table 10">
            <a:extLst>
              <a:ext uri="{FF2B5EF4-FFF2-40B4-BE49-F238E27FC236}">
                <a16:creationId xmlns:a16="http://schemas.microsoft.com/office/drawing/2014/main" id="{A82989D4-9D60-DB76-487E-31A3C3B66BBA}"/>
              </a:ext>
            </a:extLst>
          </p:cNvPr>
          <p:cNvGraphicFramePr>
            <a:graphicFrameLocks noGrp="1"/>
          </p:cNvGraphicFramePr>
          <p:nvPr>
            <p:extLst>
              <p:ext uri="{D42A27DB-BD31-4B8C-83A1-F6EECF244321}">
                <p14:modId xmlns:p14="http://schemas.microsoft.com/office/powerpoint/2010/main" val="1934910965"/>
              </p:ext>
            </p:extLst>
          </p:nvPr>
        </p:nvGraphicFramePr>
        <p:xfrm>
          <a:off x="5951018" y="1429496"/>
          <a:ext cx="6113247" cy="2411971"/>
        </p:xfrm>
        <a:graphic>
          <a:graphicData uri="http://schemas.openxmlformats.org/drawingml/2006/table">
            <a:tbl>
              <a:tblPr firstRow="1" firstCol="1">
                <a:tableStyleId>{00A15C55-8517-42AA-B614-E9B94910E393}</a:tableStyleId>
              </a:tblPr>
              <a:tblGrid>
                <a:gridCol w="873321">
                  <a:extLst>
                    <a:ext uri="{9D8B030D-6E8A-4147-A177-3AD203B41FA5}">
                      <a16:colId xmlns:a16="http://schemas.microsoft.com/office/drawing/2014/main" val="2850197982"/>
                    </a:ext>
                  </a:extLst>
                </a:gridCol>
                <a:gridCol w="873321">
                  <a:extLst>
                    <a:ext uri="{9D8B030D-6E8A-4147-A177-3AD203B41FA5}">
                      <a16:colId xmlns:a16="http://schemas.microsoft.com/office/drawing/2014/main" val="249936474"/>
                    </a:ext>
                  </a:extLst>
                </a:gridCol>
                <a:gridCol w="873321">
                  <a:extLst>
                    <a:ext uri="{9D8B030D-6E8A-4147-A177-3AD203B41FA5}">
                      <a16:colId xmlns:a16="http://schemas.microsoft.com/office/drawing/2014/main" val="1049623264"/>
                    </a:ext>
                  </a:extLst>
                </a:gridCol>
                <a:gridCol w="873321">
                  <a:extLst>
                    <a:ext uri="{9D8B030D-6E8A-4147-A177-3AD203B41FA5}">
                      <a16:colId xmlns:a16="http://schemas.microsoft.com/office/drawing/2014/main" val="3436808272"/>
                    </a:ext>
                  </a:extLst>
                </a:gridCol>
                <a:gridCol w="873321">
                  <a:extLst>
                    <a:ext uri="{9D8B030D-6E8A-4147-A177-3AD203B41FA5}">
                      <a16:colId xmlns:a16="http://schemas.microsoft.com/office/drawing/2014/main" val="656335970"/>
                    </a:ext>
                  </a:extLst>
                </a:gridCol>
                <a:gridCol w="873321">
                  <a:extLst>
                    <a:ext uri="{9D8B030D-6E8A-4147-A177-3AD203B41FA5}">
                      <a16:colId xmlns:a16="http://schemas.microsoft.com/office/drawing/2014/main" val="234891145"/>
                    </a:ext>
                  </a:extLst>
                </a:gridCol>
                <a:gridCol w="873321">
                  <a:extLst>
                    <a:ext uri="{9D8B030D-6E8A-4147-A177-3AD203B41FA5}">
                      <a16:colId xmlns:a16="http://schemas.microsoft.com/office/drawing/2014/main" val="3988398224"/>
                    </a:ext>
                  </a:extLst>
                </a:gridCol>
              </a:tblGrid>
              <a:tr h="350548">
                <a:tc gridSpan="7">
                  <a:txBody>
                    <a:bodyPr/>
                    <a:lstStyle/>
                    <a:p>
                      <a:pPr marL="0" marR="0" algn="ctr">
                        <a:spcBef>
                          <a:spcPts val="0"/>
                        </a:spcBef>
                        <a:spcAft>
                          <a:spcPts val="0"/>
                        </a:spcAft>
                      </a:pPr>
                      <a:r>
                        <a:rPr lang="en-US" sz="1200" b="0">
                          <a:solidFill>
                            <a:schemeClr val="tx1"/>
                          </a:solidFill>
                          <a:effectLst/>
                          <a:latin typeface="Georgia"/>
                        </a:rPr>
                        <a:t>Post Up-Sampling</a:t>
                      </a:r>
                      <a:endParaRPr lang="en-US" sz="1400" b="0">
                        <a:solidFill>
                          <a:schemeClr val="tx1"/>
                        </a:solidFill>
                        <a:effectLst/>
                        <a:latin typeface="Georgia"/>
                        <a:ea typeface="Calibri" panose="020F0502020204030204" pitchFamily="34" charset="0"/>
                        <a:cs typeface="Times New Roman" panose="02020603050405020304" pitchFamily="18" charset="0"/>
                      </a:endParaRPr>
                    </a:p>
                  </a:txBody>
                  <a:tcPr marL="9525" marR="9525" marT="9525" marB="0" anchor="ctr">
                    <a:solidFill>
                      <a:srgbClr val="FED668"/>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240268623"/>
                  </a:ext>
                </a:extLst>
              </a:tr>
              <a:tr h="350548">
                <a:tc>
                  <a:txBody>
                    <a:bodyPr/>
                    <a:lstStyle/>
                    <a:p>
                      <a:pPr marL="0" marR="0" algn="ctr">
                        <a:spcBef>
                          <a:spcPts val="0"/>
                        </a:spcBef>
                        <a:spcAft>
                          <a:spcPts val="0"/>
                        </a:spcAft>
                      </a:pPr>
                      <a:r>
                        <a:rPr lang="en-US" sz="1200" b="0">
                          <a:solidFill>
                            <a:schemeClr val="tx1"/>
                          </a:solidFill>
                          <a:effectLst/>
                          <a:latin typeface="Georgia"/>
                        </a:rPr>
                        <a:t>Model</a:t>
                      </a:r>
                      <a:endParaRPr lang="en-US" sz="1400" b="0">
                        <a:solidFill>
                          <a:schemeClr val="tx1"/>
                        </a:solidFill>
                        <a:effectLst/>
                        <a:latin typeface="Georgia"/>
                        <a:ea typeface="Calibri" panose="020F0502020204030204" pitchFamily="34" charset="0"/>
                        <a:cs typeface="Times New Roman" panose="02020603050405020304" pitchFamily="18" charset="0"/>
                      </a:endParaRPr>
                    </a:p>
                  </a:txBody>
                  <a:tcPr marL="9525" marR="9525" marT="9525" marB="0" anchor="ctr">
                    <a:solidFill>
                      <a:srgbClr val="FED668"/>
                    </a:solidFill>
                  </a:tcPr>
                </a:tc>
                <a:tc>
                  <a:txBody>
                    <a:bodyPr/>
                    <a:lstStyle/>
                    <a:p>
                      <a:pPr marL="0" marR="0" algn="ctr">
                        <a:spcBef>
                          <a:spcPts val="0"/>
                        </a:spcBef>
                        <a:spcAft>
                          <a:spcPts val="0"/>
                        </a:spcAft>
                      </a:pPr>
                      <a:r>
                        <a:rPr lang="en-US" sz="1200" b="0">
                          <a:solidFill>
                            <a:schemeClr val="tx1"/>
                          </a:solidFill>
                          <a:effectLst/>
                          <a:latin typeface="Georgia"/>
                        </a:rPr>
                        <a:t>Accuracy</a:t>
                      </a:r>
                      <a:endParaRPr lang="en-US" sz="1400" b="0">
                        <a:solidFill>
                          <a:schemeClr val="tx1"/>
                        </a:solidFill>
                        <a:effectLst/>
                        <a:latin typeface="Georgia"/>
                        <a:ea typeface="Calibri" panose="020F0502020204030204" pitchFamily="34" charset="0"/>
                        <a:cs typeface="Times New Roman" panose="02020603050405020304" pitchFamily="18" charset="0"/>
                      </a:endParaRPr>
                    </a:p>
                  </a:txBody>
                  <a:tcPr marL="9525" marR="9525" marT="9525" marB="0" anchor="ctr"/>
                </a:tc>
                <a:tc>
                  <a:txBody>
                    <a:bodyPr/>
                    <a:lstStyle/>
                    <a:p>
                      <a:pPr marL="0" marR="0" algn="ctr">
                        <a:spcBef>
                          <a:spcPts val="0"/>
                        </a:spcBef>
                        <a:spcAft>
                          <a:spcPts val="0"/>
                        </a:spcAft>
                      </a:pPr>
                      <a:r>
                        <a:rPr lang="en-US" sz="1200" b="0">
                          <a:solidFill>
                            <a:schemeClr val="tx1"/>
                          </a:solidFill>
                          <a:effectLst/>
                          <a:latin typeface="Georgia"/>
                        </a:rPr>
                        <a:t>Sensitivity</a:t>
                      </a:r>
                      <a:endParaRPr lang="en-US" sz="1400" b="0">
                        <a:solidFill>
                          <a:schemeClr val="tx1"/>
                        </a:solidFill>
                        <a:effectLst/>
                        <a:latin typeface="Georgia"/>
                        <a:ea typeface="Calibri" panose="020F0502020204030204" pitchFamily="34" charset="0"/>
                        <a:cs typeface="Times New Roman" panose="02020603050405020304" pitchFamily="18" charset="0"/>
                      </a:endParaRPr>
                    </a:p>
                  </a:txBody>
                  <a:tcPr marL="9525" marR="9525" marT="9525" marB="0" anchor="ctr"/>
                </a:tc>
                <a:tc>
                  <a:txBody>
                    <a:bodyPr/>
                    <a:lstStyle/>
                    <a:p>
                      <a:pPr marL="0" marR="0" algn="ctr">
                        <a:spcBef>
                          <a:spcPts val="0"/>
                        </a:spcBef>
                        <a:spcAft>
                          <a:spcPts val="0"/>
                        </a:spcAft>
                      </a:pPr>
                      <a:r>
                        <a:rPr lang="en-US" sz="1200" b="0">
                          <a:solidFill>
                            <a:schemeClr val="tx1"/>
                          </a:solidFill>
                          <a:effectLst/>
                          <a:latin typeface="Georgia"/>
                        </a:rPr>
                        <a:t>Specificity</a:t>
                      </a:r>
                      <a:endParaRPr lang="en-US" sz="1400" b="0">
                        <a:solidFill>
                          <a:schemeClr val="tx1"/>
                        </a:solidFill>
                        <a:effectLst/>
                        <a:latin typeface="Georgia"/>
                        <a:ea typeface="Calibri" panose="020F0502020204030204" pitchFamily="34" charset="0"/>
                        <a:cs typeface="Times New Roman" panose="02020603050405020304" pitchFamily="18" charset="0"/>
                      </a:endParaRPr>
                    </a:p>
                  </a:txBody>
                  <a:tcPr marL="9525" marR="9525" marT="9525" marB="0" anchor="ctr"/>
                </a:tc>
                <a:tc>
                  <a:txBody>
                    <a:bodyPr/>
                    <a:lstStyle/>
                    <a:p>
                      <a:pPr marL="0" marR="0" algn="ctr">
                        <a:spcBef>
                          <a:spcPts val="0"/>
                        </a:spcBef>
                        <a:spcAft>
                          <a:spcPts val="0"/>
                        </a:spcAft>
                      </a:pPr>
                      <a:r>
                        <a:rPr lang="en-US" sz="1200" b="0">
                          <a:solidFill>
                            <a:schemeClr val="tx1"/>
                          </a:solidFill>
                          <a:effectLst/>
                          <a:latin typeface="Georgia"/>
                        </a:rPr>
                        <a:t>Precision</a:t>
                      </a:r>
                      <a:endParaRPr lang="en-US" sz="1400" b="0">
                        <a:solidFill>
                          <a:schemeClr val="tx1"/>
                        </a:solidFill>
                        <a:effectLst/>
                        <a:latin typeface="Georgia"/>
                        <a:ea typeface="Calibri" panose="020F0502020204030204" pitchFamily="34" charset="0"/>
                        <a:cs typeface="Times New Roman" panose="02020603050405020304" pitchFamily="18" charset="0"/>
                      </a:endParaRPr>
                    </a:p>
                  </a:txBody>
                  <a:tcPr marL="9525" marR="9525" marT="9525" marB="0" anchor="ctr">
                    <a:solidFill>
                      <a:srgbClr val="FED668"/>
                    </a:solidFill>
                  </a:tcPr>
                </a:tc>
                <a:tc>
                  <a:txBody>
                    <a:bodyPr/>
                    <a:lstStyle/>
                    <a:p>
                      <a:pPr marL="0" marR="0" algn="ctr">
                        <a:spcBef>
                          <a:spcPts val="0"/>
                        </a:spcBef>
                        <a:spcAft>
                          <a:spcPts val="0"/>
                        </a:spcAft>
                      </a:pPr>
                      <a:r>
                        <a:rPr lang="en-US" sz="1200" b="0">
                          <a:solidFill>
                            <a:schemeClr val="tx1"/>
                          </a:solidFill>
                          <a:effectLst/>
                          <a:latin typeface="Georgia"/>
                        </a:rPr>
                        <a:t>Recall</a:t>
                      </a:r>
                      <a:endParaRPr lang="en-US" sz="1400" b="0">
                        <a:solidFill>
                          <a:schemeClr val="tx1"/>
                        </a:solidFill>
                        <a:effectLst/>
                        <a:latin typeface="Georgia"/>
                        <a:ea typeface="Calibri" panose="020F0502020204030204" pitchFamily="34" charset="0"/>
                        <a:cs typeface="Times New Roman" panose="02020603050405020304" pitchFamily="18" charset="0"/>
                      </a:endParaRPr>
                    </a:p>
                  </a:txBody>
                  <a:tcPr marL="9525" marR="9525" marT="9525" marB="0" anchor="ctr"/>
                </a:tc>
                <a:tc>
                  <a:txBody>
                    <a:bodyPr/>
                    <a:lstStyle/>
                    <a:p>
                      <a:pPr marL="0" marR="0" algn="ctr">
                        <a:spcBef>
                          <a:spcPts val="0"/>
                        </a:spcBef>
                        <a:spcAft>
                          <a:spcPts val="0"/>
                        </a:spcAft>
                      </a:pPr>
                      <a:r>
                        <a:rPr lang="en-US" sz="1200" b="0">
                          <a:solidFill>
                            <a:schemeClr val="tx1"/>
                          </a:solidFill>
                          <a:effectLst/>
                          <a:latin typeface="Georgia"/>
                        </a:rPr>
                        <a:t>AUC</a:t>
                      </a:r>
                      <a:endParaRPr lang="en-US" sz="1400" b="0">
                        <a:solidFill>
                          <a:schemeClr val="tx1"/>
                        </a:solidFill>
                        <a:effectLst/>
                        <a:latin typeface="Georgia"/>
                        <a:ea typeface="Calibri" panose="020F0502020204030204" pitchFamily="34" charset="0"/>
                        <a:cs typeface="Times New Roman" panose="02020603050405020304" pitchFamily="18" charset="0"/>
                      </a:endParaRPr>
                    </a:p>
                  </a:txBody>
                  <a:tcPr marL="9525" marR="9525" marT="9525" marB="0" anchor="ctr"/>
                </a:tc>
                <a:extLst>
                  <a:ext uri="{0D108BD9-81ED-4DB2-BD59-A6C34878D82A}">
                    <a16:rowId xmlns:a16="http://schemas.microsoft.com/office/drawing/2014/main" val="3412395115"/>
                  </a:ext>
                </a:extLst>
              </a:tr>
              <a:tr h="634494">
                <a:tc>
                  <a:txBody>
                    <a:bodyPr/>
                    <a:lstStyle/>
                    <a:p>
                      <a:pPr marL="0" marR="0" algn="ctr">
                        <a:spcBef>
                          <a:spcPts val="0"/>
                        </a:spcBef>
                        <a:spcAft>
                          <a:spcPts val="0"/>
                        </a:spcAft>
                      </a:pPr>
                      <a:r>
                        <a:rPr lang="en-US" sz="1200" b="0">
                          <a:solidFill>
                            <a:schemeClr val="tx1"/>
                          </a:solidFill>
                          <a:effectLst/>
                          <a:latin typeface="Georgia"/>
                        </a:rPr>
                        <a:t>Logistic Regression </a:t>
                      </a:r>
                      <a:endParaRPr lang="en-US" sz="1400" b="0">
                        <a:solidFill>
                          <a:schemeClr val="tx1"/>
                        </a:solidFill>
                        <a:effectLst/>
                        <a:latin typeface="Georgia" panose="02040502050405020303" pitchFamily="18" charset="0"/>
                        <a:ea typeface="Calibri" panose="020F0502020204030204" pitchFamily="34" charset="0"/>
                        <a:cs typeface="Times New Roman" panose="02020603050405020304" pitchFamily="18" charset="0"/>
                      </a:endParaRPr>
                    </a:p>
                  </a:txBody>
                  <a:tcPr marL="9525" marR="9525" marT="9525" marB="0" anchor="ctr">
                    <a:solidFill>
                      <a:srgbClr val="FED668"/>
                    </a:solidFill>
                  </a:tcPr>
                </a:tc>
                <a:tc>
                  <a:txBody>
                    <a:bodyPr/>
                    <a:lstStyle/>
                    <a:p>
                      <a:pPr marL="0" marR="0" algn="ctr">
                        <a:spcBef>
                          <a:spcPts val="0"/>
                        </a:spcBef>
                        <a:spcAft>
                          <a:spcPts val="0"/>
                        </a:spcAft>
                      </a:pPr>
                      <a:r>
                        <a:rPr lang="en-US" sz="1100">
                          <a:solidFill>
                            <a:schemeClr val="tx1"/>
                          </a:solidFill>
                          <a:effectLst/>
                          <a:latin typeface="Calibri"/>
                          <a:ea typeface="Calibri" panose="020F0502020204030204" pitchFamily="34" charset="0"/>
                          <a:cs typeface="Calibri"/>
                        </a:rPr>
                        <a:t>0.716</a:t>
                      </a:r>
                      <a:endParaRPr lang="en-US" sz="1200">
                        <a:solidFill>
                          <a:schemeClr val="tx1"/>
                        </a:solidFill>
                        <a:effectLst/>
                        <a:latin typeface="Calibri"/>
                        <a:ea typeface="Calibri" panose="020F0502020204030204" pitchFamily="34" charset="0"/>
                        <a:cs typeface="Calibri"/>
                      </a:endParaRPr>
                    </a:p>
                  </a:txBody>
                  <a:tcPr marL="9525" marR="9525" marT="9525" marB="0" anchor="ctr"/>
                </a:tc>
                <a:tc>
                  <a:txBody>
                    <a:bodyPr/>
                    <a:lstStyle/>
                    <a:p>
                      <a:pPr marL="0" marR="0" algn="ctr">
                        <a:spcBef>
                          <a:spcPts val="0"/>
                        </a:spcBef>
                        <a:spcAft>
                          <a:spcPts val="0"/>
                        </a:spcAft>
                      </a:pPr>
                      <a:r>
                        <a:rPr lang="en-US" sz="1100">
                          <a:solidFill>
                            <a:schemeClr val="tx1"/>
                          </a:solidFill>
                          <a:effectLst/>
                          <a:latin typeface="Calibri"/>
                          <a:ea typeface="Calibri" panose="020F0502020204030204" pitchFamily="34" charset="0"/>
                          <a:cs typeface="Calibri"/>
                        </a:rPr>
                        <a:t>0.834</a:t>
                      </a:r>
                      <a:endParaRPr lang="en-US" sz="1200">
                        <a:solidFill>
                          <a:schemeClr val="tx1"/>
                        </a:solidFill>
                        <a:effectLst/>
                        <a:latin typeface="Calibri"/>
                        <a:ea typeface="Calibri" panose="020F0502020204030204" pitchFamily="34" charset="0"/>
                        <a:cs typeface="Calibri"/>
                      </a:endParaRPr>
                    </a:p>
                  </a:txBody>
                  <a:tcPr marL="9525" marR="9525" marT="9525" marB="0" anchor="ctr"/>
                </a:tc>
                <a:tc>
                  <a:txBody>
                    <a:bodyPr/>
                    <a:lstStyle/>
                    <a:p>
                      <a:pPr marL="0" marR="0" algn="ctr">
                        <a:spcBef>
                          <a:spcPts val="0"/>
                        </a:spcBef>
                        <a:spcAft>
                          <a:spcPts val="0"/>
                        </a:spcAft>
                      </a:pPr>
                      <a:r>
                        <a:rPr lang="en-US" sz="1100">
                          <a:solidFill>
                            <a:schemeClr val="tx1"/>
                          </a:solidFill>
                          <a:effectLst/>
                          <a:latin typeface="Calibri"/>
                          <a:ea typeface="Calibri" panose="020F0502020204030204" pitchFamily="34" charset="0"/>
                          <a:cs typeface="Calibri"/>
                        </a:rPr>
                        <a:t>0.698</a:t>
                      </a:r>
                      <a:endParaRPr lang="en-US" sz="1200">
                        <a:solidFill>
                          <a:schemeClr val="tx1"/>
                        </a:solidFill>
                        <a:effectLst/>
                        <a:latin typeface="Calibri"/>
                        <a:ea typeface="Calibri" panose="020F0502020204030204" pitchFamily="34" charset="0"/>
                        <a:cs typeface="Calibri"/>
                      </a:endParaRPr>
                    </a:p>
                  </a:txBody>
                  <a:tcPr marL="9525" marR="9525" marT="9525" marB="0" anchor="ctr"/>
                </a:tc>
                <a:tc>
                  <a:txBody>
                    <a:bodyPr/>
                    <a:lstStyle/>
                    <a:p>
                      <a:pPr marL="0" marR="0" algn="ctr">
                        <a:spcBef>
                          <a:spcPts val="0"/>
                        </a:spcBef>
                        <a:spcAft>
                          <a:spcPts val="0"/>
                        </a:spcAft>
                      </a:pPr>
                      <a:r>
                        <a:rPr lang="en-US" sz="1100">
                          <a:solidFill>
                            <a:schemeClr val="tx1"/>
                          </a:solidFill>
                          <a:effectLst/>
                          <a:latin typeface="Calibri"/>
                          <a:ea typeface="Calibri" panose="020F0502020204030204" pitchFamily="34" charset="0"/>
                          <a:cs typeface="Calibri"/>
                        </a:rPr>
                        <a:t>0.29</a:t>
                      </a:r>
                      <a:endParaRPr lang="en-US" sz="1200">
                        <a:solidFill>
                          <a:schemeClr val="tx1"/>
                        </a:solidFill>
                        <a:effectLst/>
                        <a:latin typeface="Calibri"/>
                        <a:ea typeface="Calibri" panose="020F0502020204030204" pitchFamily="34" charset="0"/>
                        <a:cs typeface="Calibri"/>
                      </a:endParaRPr>
                    </a:p>
                  </a:txBody>
                  <a:tcPr marL="9525" marR="9525" marT="9525" marB="0" anchor="ctr">
                    <a:solidFill>
                      <a:srgbClr val="FED668"/>
                    </a:solidFill>
                  </a:tcPr>
                </a:tc>
                <a:tc>
                  <a:txBody>
                    <a:bodyPr/>
                    <a:lstStyle/>
                    <a:p>
                      <a:pPr marL="0" marR="0" algn="ctr">
                        <a:spcBef>
                          <a:spcPts val="0"/>
                        </a:spcBef>
                        <a:spcAft>
                          <a:spcPts val="0"/>
                        </a:spcAft>
                      </a:pPr>
                      <a:r>
                        <a:rPr lang="en-US" sz="1100">
                          <a:solidFill>
                            <a:schemeClr val="tx1"/>
                          </a:solidFill>
                          <a:effectLst/>
                          <a:latin typeface="Calibri"/>
                          <a:ea typeface="Calibri" panose="020F0502020204030204" pitchFamily="34" charset="0"/>
                          <a:cs typeface="Calibri"/>
                        </a:rPr>
                        <a:t>0.834</a:t>
                      </a:r>
                      <a:endParaRPr lang="en-US" sz="1200">
                        <a:solidFill>
                          <a:schemeClr val="tx1"/>
                        </a:solidFill>
                        <a:effectLst/>
                        <a:latin typeface="Calibri"/>
                        <a:ea typeface="Calibri" panose="020F0502020204030204" pitchFamily="34" charset="0"/>
                        <a:cs typeface="Calibri"/>
                      </a:endParaRPr>
                    </a:p>
                  </a:txBody>
                  <a:tcPr marL="9525" marR="9525" marT="9525" marB="0" anchor="ctr"/>
                </a:tc>
                <a:tc>
                  <a:txBody>
                    <a:bodyPr/>
                    <a:lstStyle/>
                    <a:p>
                      <a:pPr marL="0" marR="0" algn="ctr">
                        <a:spcBef>
                          <a:spcPts val="0"/>
                        </a:spcBef>
                        <a:spcAft>
                          <a:spcPts val="0"/>
                        </a:spcAft>
                      </a:pPr>
                      <a:r>
                        <a:rPr lang="en-US" sz="1100">
                          <a:solidFill>
                            <a:schemeClr val="tx1"/>
                          </a:solidFill>
                          <a:effectLst/>
                          <a:latin typeface="Calibri"/>
                          <a:ea typeface="Calibri" panose="020F0502020204030204" pitchFamily="34" charset="0"/>
                          <a:cs typeface="Calibri"/>
                        </a:rPr>
                        <a:t>0.848</a:t>
                      </a:r>
                      <a:endParaRPr lang="en-US" sz="1200">
                        <a:solidFill>
                          <a:schemeClr val="tx1"/>
                        </a:solidFill>
                        <a:effectLst/>
                        <a:latin typeface="Calibri"/>
                        <a:ea typeface="Calibri" panose="020F0502020204030204" pitchFamily="34" charset="0"/>
                        <a:cs typeface="Calibri"/>
                      </a:endParaRPr>
                    </a:p>
                  </a:txBody>
                  <a:tcPr marL="9525" marR="9525" marT="9525" marB="0" anchor="ctr"/>
                </a:tc>
                <a:extLst>
                  <a:ext uri="{0D108BD9-81ED-4DB2-BD59-A6C34878D82A}">
                    <a16:rowId xmlns:a16="http://schemas.microsoft.com/office/drawing/2014/main" val="2885830489"/>
                  </a:ext>
                </a:extLst>
              </a:tr>
              <a:tr h="350548">
                <a:tc>
                  <a:txBody>
                    <a:bodyPr/>
                    <a:lstStyle/>
                    <a:p>
                      <a:pPr marL="0" marR="0" algn="ctr">
                        <a:spcBef>
                          <a:spcPts val="0"/>
                        </a:spcBef>
                        <a:spcAft>
                          <a:spcPts val="0"/>
                        </a:spcAft>
                      </a:pPr>
                      <a:r>
                        <a:rPr lang="en-US" sz="1200" b="0">
                          <a:solidFill>
                            <a:schemeClr val="tx1"/>
                          </a:solidFill>
                          <a:effectLst/>
                          <a:latin typeface="Georgia"/>
                        </a:rPr>
                        <a:t>KNN</a:t>
                      </a:r>
                      <a:endParaRPr lang="en-US" sz="1400" b="0">
                        <a:solidFill>
                          <a:schemeClr val="tx1"/>
                        </a:solidFill>
                        <a:effectLst/>
                        <a:latin typeface="Georgia"/>
                        <a:ea typeface="Calibri" panose="020F0502020204030204" pitchFamily="34" charset="0"/>
                        <a:cs typeface="Times New Roman" panose="02020603050405020304" pitchFamily="18" charset="0"/>
                      </a:endParaRPr>
                    </a:p>
                  </a:txBody>
                  <a:tcPr marL="9525" marR="9525" marT="9525" marB="0" anchor="ctr">
                    <a:solidFill>
                      <a:srgbClr val="FED668"/>
                    </a:solidFill>
                  </a:tcPr>
                </a:tc>
                <a:tc>
                  <a:txBody>
                    <a:bodyPr/>
                    <a:lstStyle/>
                    <a:p>
                      <a:pPr marL="0" marR="0" algn="ctr">
                        <a:spcBef>
                          <a:spcPts val="0"/>
                        </a:spcBef>
                        <a:spcAft>
                          <a:spcPts val="0"/>
                        </a:spcAft>
                      </a:pPr>
                      <a:r>
                        <a:rPr lang="en-US" sz="1100">
                          <a:solidFill>
                            <a:schemeClr val="tx1"/>
                          </a:solidFill>
                          <a:effectLst/>
                          <a:latin typeface="Calibri"/>
                          <a:ea typeface="Calibri" panose="020F0502020204030204" pitchFamily="34" charset="0"/>
                          <a:cs typeface="Calibri"/>
                        </a:rPr>
                        <a:t>0.817</a:t>
                      </a:r>
                      <a:endParaRPr lang="en-US" sz="1200">
                        <a:solidFill>
                          <a:schemeClr val="tx1"/>
                        </a:solidFill>
                        <a:effectLst/>
                        <a:latin typeface="Calibri"/>
                        <a:ea typeface="Calibri" panose="020F0502020204030204" pitchFamily="34" charset="0"/>
                        <a:cs typeface="Calibri"/>
                      </a:endParaRPr>
                    </a:p>
                  </a:txBody>
                  <a:tcPr marL="9525" marR="9525" marT="9525" marB="0" anchor="ctr"/>
                </a:tc>
                <a:tc>
                  <a:txBody>
                    <a:bodyPr/>
                    <a:lstStyle/>
                    <a:p>
                      <a:pPr marL="0" marR="0" algn="ctr">
                        <a:spcBef>
                          <a:spcPts val="0"/>
                        </a:spcBef>
                        <a:spcAft>
                          <a:spcPts val="0"/>
                        </a:spcAft>
                      </a:pPr>
                      <a:r>
                        <a:rPr lang="en-US" sz="1100">
                          <a:solidFill>
                            <a:schemeClr val="tx1"/>
                          </a:solidFill>
                          <a:effectLst/>
                          <a:latin typeface="Calibri"/>
                          <a:ea typeface="Calibri" panose="020F0502020204030204" pitchFamily="34" charset="0"/>
                          <a:cs typeface="Calibri"/>
                        </a:rPr>
                        <a:t>0.897</a:t>
                      </a:r>
                      <a:endParaRPr lang="en-US" sz="1200">
                        <a:solidFill>
                          <a:schemeClr val="tx1"/>
                        </a:solidFill>
                        <a:effectLst/>
                        <a:latin typeface="Calibri"/>
                        <a:ea typeface="Calibri" panose="020F0502020204030204" pitchFamily="34" charset="0"/>
                        <a:cs typeface="Calibri"/>
                      </a:endParaRPr>
                    </a:p>
                  </a:txBody>
                  <a:tcPr marL="9525" marR="9525" marT="9525" marB="0" anchor="ctr"/>
                </a:tc>
                <a:tc>
                  <a:txBody>
                    <a:bodyPr/>
                    <a:lstStyle/>
                    <a:p>
                      <a:pPr marL="0" marR="0" algn="ctr">
                        <a:spcBef>
                          <a:spcPts val="0"/>
                        </a:spcBef>
                        <a:spcAft>
                          <a:spcPts val="0"/>
                        </a:spcAft>
                      </a:pPr>
                      <a:r>
                        <a:rPr lang="en-US" sz="1100">
                          <a:solidFill>
                            <a:schemeClr val="tx1"/>
                          </a:solidFill>
                          <a:effectLst/>
                          <a:latin typeface="Calibri"/>
                          <a:ea typeface="Calibri" panose="020F0502020204030204" pitchFamily="34" charset="0"/>
                          <a:cs typeface="Calibri"/>
                        </a:rPr>
                        <a:t>0.805</a:t>
                      </a:r>
                      <a:endParaRPr lang="en-US" sz="1200">
                        <a:solidFill>
                          <a:schemeClr val="tx1"/>
                        </a:solidFill>
                        <a:effectLst/>
                        <a:latin typeface="Calibri"/>
                        <a:ea typeface="Calibri" panose="020F0502020204030204" pitchFamily="34" charset="0"/>
                        <a:cs typeface="Calibri"/>
                      </a:endParaRPr>
                    </a:p>
                  </a:txBody>
                  <a:tcPr marL="9525" marR="9525" marT="9525" marB="0" anchor="ctr"/>
                </a:tc>
                <a:tc>
                  <a:txBody>
                    <a:bodyPr/>
                    <a:lstStyle/>
                    <a:p>
                      <a:pPr marL="0" marR="0" algn="ctr">
                        <a:spcBef>
                          <a:spcPts val="0"/>
                        </a:spcBef>
                        <a:spcAft>
                          <a:spcPts val="0"/>
                        </a:spcAft>
                      </a:pPr>
                      <a:r>
                        <a:rPr lang="en-US" sz="1100">
                          <a:solidFill>
                            <a:schemeClr val="tx1"/>
                          </a:solidFill>
                          <a:effectLst/>
                          <a:latin typeface="Calibri"/>
                          <a:ea typeface="Calibri" panose="020F0502020204030204" pitchFamily="34" charset="0"/>
                          <a:cs typeface="Calibri"/>
                        </a:rPr>
                        <a:t>0.405</a:t>
                      </a:r>
                      <a:endParaRPr lang="en-US" sz="1200">
                        <a:solidFill>
                          <a:schemeClr val="tx1"/>
                        </a:solidFill>
                        <a:effectLst/>
                        <a:latin typeface="Calibri"/>
                        <a:ea typeface="Calibri" panose="020F0502020204030204" pitchFamily="34" charset="0"/>
                        <a:cs typeface="Calibri"/>
                      </a:endParaRPr>
                    </a:p>
                  </a:txBody>
                  <a:tcPr marL="9525" marR="9525" marT="9525" marB="0" anchor="ctr">
                    <a:solidFill>
                      <a:srgbClr val="FED668"/>
                    </a:solidFill>
                  </a:tcPr>
                </a:tc>
                <a:tc>
                  <a:txBody>
                    <a:bodyPr/>
                    <a:lstStyle/>
                    <a:p>
                      <a:pPr marL="0" marR="0" algn="ctr">
                        <a:spcBef>
                          <a:spcPts val="0"/>
                        </a:spcBef>
                        <a:spcAft>
                          <a:spcPts val="0"/>
                        </a:spcAft>
                      </a:pPr>
                      <a:r>
                        <a:rPr lang="en-US" sz="1100">
                          <a:solidFill>
                            <a:schemeClr val="tx1"/>
                          </a:solidFill>
                          <a:effectLst/>
                          <a:latin typeface="Calibri"/>
                          <a:ea typeface="Calibri" panose="020F0502020204030204" pitchFamily="34" charset="0"/>
                          <a:cs typeface="Calibri"/>
                        </a:rPr>
                        <a:t>0.897</a:t>
                      </a:r>
                      <a:endParaRPr lang="en-US" sz="1200">
                        <a:solidFill>
                          <a:schemeClr val="tx1"/>
                        </a:solidFill>
                        <a:effectLst/>
                        <a:latin typeface="Calibri"/>
                        <a:ea typeface="Calibri" panose="020F0502020204030204" pitchFamily="34" charset="0"/>
                        <a:cs typeface="Calibri"/>
                      </a:endParaRPr>
                    </a:p>
                  </a:txBody>
                  <a:tcPr marL="9525" marR="9525" marT="9525" marB="0" anchor="ctr"/>
                </a:tc>
                <a:tc>
                  <a:txBody>
                    <a:bodyPr/>
                    <a:lstStyle/>
                    <a:p>
                      <a:pPr marL="0" marR="0" algn="ctr">
                        <a:spcBef>
                          <a:spcPts val="0"/>
                        </a:spcBef>
                        <a:spcAft>
                          <a:spcPts val="0"/>
                        </a:spcAft>
                      </a:pPr>
                      <a:r>
                        <a:rPr lang="en-US" sz="1100">
                          <a:solidFill>
                            <a:schemeClr val="tx1"/>
                          </a:solidFill>
                          <a:effectLst/>
                          <a:latin typeface="Calibri"/>
                          <a:ea typeface="Calibri" panose="020F0502020204030204" pitchFamily="34" charset="0"/>
                          <a:cs typeface="Calibri"/>
                        </a:rPr>
                        <a:t>0.851</a:t>
                      </a:r>
                      <a:endParaRPr lang="en-US" sz="1200">
                        <a:solidFill>
                          <a:schemeClr val="tx1"/>
                        </a:solidFill>
                        <a:effectLst/>
                        <a:latin typeface="Calibri"/>
                        <a:ea typeface="Calibri" panose="020F0502020204030204" pitchFamily="34" charset="0"/>
                        <a:cs typeface="Calibri"/>
                      </a:endParaRPr>
                    </a:p>
                  </a:txBody>
                  <a:tcPr marL="9525" marR="9525" marT="9525" marB="0" anchor="ctr"/>
                </a:tc>
                <a:extLst>
                  <a:ext uri="{0D108BD9-81ED-4DB2-BD59-A6C34878D82A}">
                    <a16:rowId xmlns:a16="http://schemas.microsoft.com/office/drawing/2014/main" val="3278798316"/>
                  </a:ext>
                </a:extLst>
              </a:tr>
              <a:tr h="350548">
                <a:tc>
                  <a:txBody>
                    <a:bodyPr/>
                    <a:lstStyle/>
                    <a:p>
                      <a:pPr marL="0" marR="0" algn="ctr">
                        <a:spcBef>
                          <a:spcPts val="0"/>
                        </a:spcBef>
                        <a:spcAft>
                          <a:spcPts val="0"/>
                        </a:spcAft>
                      </a:pPr>
                      <a:r>
                        <a:rPr lang="en-US" sz="1200" b="0">
                          <a:solidFill>
                            <a:schemeClr val="tx1"/>
                          </a:solidFill>
                          <a:effectLst/>
                          <a:latin typeface="Georgia"/>
                        </a:rPr>
                        <a:t>Decision-Tree</a:t>
                      </a:r>
                      <a:endParaRPr lang="en-US" sz="1400" b="0">
                        <a:solidFill>
                          <a:schemeClr val="tx1"/>
                        </a:solidFill>
                        <a:effectLst/>
                        <a:latin typeface="Georgia"/>
                        <a:ea typeface="Calibri" panose="020F0502020204030204" pitchFamily="34" charset="0"/>
                        <a:cs typeface="Times New Roman" panose="02020603050405020304" pitchFamily="18" charset="0"/>
                      </a:endParaRPr>
                    </a:p>
                  </a:txBody>
                  <a:tcPr marL="9525" marR="9525" marT="9525" marB="0" anchor="ctr">
                    <a:solidFill>
                      <a:srgbClr val="FED668"/>
                    </a:solidFill>
                  </a:tcPr>
                </a:tc>
                <a:tc>
                  <a:txBody>
                    <a:bodyPr/>
                    <a:lstStyle/>
                    <a:p>
                      <a:pPr marL="0" marR="0" algn="ctr">
                        <a:spcBef>
                          <a:spcPts val="0"/>
                        </a:spcBef>
                        <a:spcAft>
                          <a:spcPts val="0"/>
                        </a:spcAft>
                      </a:pPr>
                      <a:r>
                        <a:rPr lang="en-US" sz="1100">
                          <a:solidFill>
                            <a:schemeClr val="tx1"/>
                          </a:solidFill>
                          <a:effectLst/>
                          <a:latin typeface="Calibri"/>
                          <a:ea typeface="Calibri" panose="020F0502020204030204" pitchFamily="34" charset="0"/>
                          <a:cs typeface="Calibri"/>
                        </a:rPr>
                        <a:t>0.856</a:t>
                      </a:r>
                      <a:endParaRPr lang="en-US" sz="1200">
                        <a:solidFill>
                          <a:schemeClr val="tx1"/>
                        </a:solidFill>
                        <a:effectLst/>
                        <a:latin typeface="Calibri"/>
                        <a:ea typeface="Calibri" panose="020F0502020204030204" pitchFamily="34" charset="0"/>
                        <a:cs typeface="Calibri"/>
                      </a:endParaRPr>
                    </a:p>
                  </a:txBody>
                  <a:tcPr marL="9525" marR="9525" marT="9525" marB="0" anchor="ctr"/>
                </a:tc>
                <a:tc>
                  <a:txBody>
                    <a:bodyPr/>
                    <a:lstStyle/>
                    <a:p>
                      <a:pPr marL="0" marR="0" algn="ctr">
                        <a:spcBef>
                          <a:spcPts val="0"/>
                        </a:spcBef>
                        <a:spcAft>
                          <a:spcPts val="0"/>
                        </a:spcAft>
                      </a:pPr>
                      <a:r>
                        <a:rPr lang="en-US" sz="1100">
                          <a:solidFill>
                            <a:schemeClr val="tx1"/>
                          </a:solidFill>
                          <a:effectLst/>
                          <a:latin typeface="Calibri"/>
                          <a:ea typeface="Calibri" panose="020F0502020204030204" pitchFamily="34" charset="0"/>
                          <a:cs typeface="Calibri"/>
                        </a:rPr>
                        <a:t>0.328</a:t>
                      </a:r>
                      <a:endParaRPr lang="en-US" sz="1200">
                        <a:solidFill>
                          <a:schemeClr val="tx1"/>
                        </a:solidFill>
                        <a:effectLst/>
                        <a:latin typeface="Calibri"/>
                        <a:ea typeface="Calibri" panose="020F0502020204030204" pitchFamily="34" charset="0"/>
                        <a:cs typeface="Calibri"/>
                      </a:endParaRPr>
                    </a:p>
                  </a:txBody>
                  <a:tcPr marL="9525" marR="9525" marT="9525" marB="0" anchor="ctr"/>
                </a:tc>
                <a:tc>
                  <a:txBody>
                    <a:bodyPr/>
                    <a:lstStyle/>
                    <a:p>
                      <a:pPr marL="0" marR="0" algn="ctr">
                        <a:spcBef>
                          <a:spcPts val="0"/>
                        </a:spcBef>
                        <a:spcAft>
                          <a:spcPts val="0"/>
                        </a:spcAft>
                      </a:pPr>
                      <a:r>
                        <a:rPr lang="en-US" sz="1100">
                          <a:solidFill>
                            <a:schemeClr val="tx1"/>
                          </a:solidFill>
                          <a:effectLst/>
                          <a:latin typeface="Calibri"/>
                          <a:ea typeface="Calibri" panose="020F0502020204030204" pitchFamily="34" charset="0"/>
                          <a:cs typeface="Calibri"/>
                        </a:rPr>
                        <a:t>0.934</a:t>
                      </a:r>
                      <a:endParaRPr lang="en-US" sz="1200">
                        <a:solidFill>
                          <a:schemeClr val="tx1"/>
                        </a:solidFill>
                        <a:effectLst/>
                        <a:latin typeface="Calibri"/>
                        <a:ea typeface="Calibri" panose="020F0502020204030204" pitchFamily="34" charset="0"/>
                        <a:cs typeface="Calibri"/>
                      </a:endParaRPr>
                    </a:p>
                  </a:txBody>
                  <a:tcPr marL="9525" marR="9525" marT="9525" marB="0" anchor="ctr"/>
                </a:tc>
                <a:tc>
                  <a:txBody>
                    <a:bodyPr/>
                    <a:lstStyle/>
                    <a:p>
                      <a:pPr marL="0" marR="0" algn="ctr">
                        <a:spcBef>
                          <a:spcPts val="0"/>
                        </a:spcBef>
                        <a:spcAft>
                          <a:spcPts val="0"/>
                        </a:spcAft>
                      </a:pPr>
                      <a:r>
                        <a:rPr lang="en-US" sz="1100">
                          <a:solidFill>
                            <a:schemeClr val="tx1"/>
                          </a:solidFill>
                          <a:effectLst/>
                          <a:latin typeface="Calibri"/>
                          <a:ea typeface="Calibri" panose="020F0502020204030204" pitchFamily="34" charset="0"/>
                          <a:cs typeface="Calibri"/>
                        </a:rPr>
                        <a:t>0.424</a:t>
                      </a:r>
                      <a:endParaRPr lang="en-US" sz="1200">
                        <a:solidFill>
                          <a:schemeClr val="tx1"/>
                        </a:solidFill>
                        <a:effectLst/>
                        <a:latin typeface="Calibri"/>
                        <a:ea typeface="Calibri" panose="020F0502020204030204" pitchFamily="34" charset="0"/>
                        <a:cs typeface="Calibri"/>
                      </a:endParaRPr>
                    </a:p>
                  </a:txBody>
                  <a:tcPr marL="9525" marR="9525" marT="9525" marB="0" anchor="ctr">
                    <a:solidFill>
                      <a:srgbClr val="FED668"/>
                    </a:solidFill>
                  </a:tcPr>
                </a:tc>
                <a:tc>
                  <a:txBody>
                    <a:bodyPr/>
                    <a:lstStyle/>
                    <a:p>
                      <a:pPr marL="0" marR="0" algn="ctr">
                        <a:spcBef>
                          <a:spcPts val="0"/>
                        </a:spcBef>
                        <a:spcAft>
                          <a:spcPts val="0"/>
                        </a:spcAft>
                      </a:pPr>
                      <a:r>
                        <a:rPr lang="en-US" sz="1100">
                          <a:solidFill>
                            <a:schemeClr val="tx1"/>
                          </a:solidFill>
                          <a:effectLst/>
                          <a:latin typeface="Calibri"/>
                          <a:ea typeface="Calibri" panose="020F0502020204030204" pitchFamily="34" charset="0"/>
                          <a:cs typeface="Calibri"/>
                        </a:rPr>
                        <a:t>0.328</a:t>
                      </a:r>
                      <a:endParaRPr lang="en-US" sz="1200">
                        <a:solidFill>
                          <a:schemeClr val="tx1"/>
                        </a:solidFill>
                        <a:effectLst/>
                        <a:latin typeface="Calibri"/>
                        <a:ea typeface="Calibri" panose="020F0502020204030204" pitchFamily="34" charset="0"/>
                        <a:cs typeface="Calibri"/>
                      </a:endParaRPr>
                    </a:p>
                  </a:txBody>
                  <a:tcPr marL="9525" marR="9525" marT="9525" marB="0" anchor="ctr"/>
                </a:tc>
                <a:tc>
                  <a:txBody>
                    <a:bodyPr/>
                    <a:lstStyle/>
                    <a:p>
                      <a:pPr marL="0" marR="0" algn="ctr">
                        <a:spcBef>
                          <a:spcPts val="0"/>
                        </a:spcBef>
                        <a:spcAft>
                          <a:spcPts val="0"/>
                        </a:spcAft>
                      </a:pPr>
                      <a:r>
                        <a:rPr lang="en-US" sz="1100">
                          <a:solidFill>
                            <a:schemeClr val="tx1"/>
                          </a:solidFill>
                          <a:effectLst/>
                          <a:latin typeface="Calibri"/>
                          <a:ea typeface="Calibri" panose="020F0502020204030204" pitchFamily="34" charset="0"/>
                          <a:cs typeface="Calibri"/>
                        </a:rPr>
                        <a:t>0.63</a:t>
                      </a:r>
                      <a:endParaRPr lang="en-US" sz="1200">
                        <a:solidFill>
                          <a:schemeClr val="tx1"/>
                        </a:solidFill>
                        <a:effectLst/>
                        <a:latin typeface="Calibri"/>
                        <a:ea typeface="Calibri" panose="020F0502020204030204" pitchFamily="34" charset="0"/>
                        <a:cs typeface="Calibri"/>
                      </a:endParaRPr>
                    </a:p>
                  </a:txBody>
                  <a:tcPr marL="9525" marR="9525" marT="9525" marB="0" anchor="ctr"/>
                </a:tc>
                <a:extLst>
                  <a:ext uri="{0D108BD9-81ED-4DB2-BD59-A6C34878D82A}">
                    <a16:rowId xmlns:a16="http://schemas.microsoft.com/office/drawing/2014/main" val="1360337531"/>
                  </a:ext>
                </a:extLst>
              </a:tr>
              <a:tr h="350548">
                <a:tc>
                  <a:txBody>
                    <a:bodyPr/>
                    <a:lstStyle/>
                    <a:p>
                      <a:pPr marL="0" marR="0" algn="ctr">
                        <a:spcBef>
                          <a:spcPts val="0"/>
                        </a:spcBef>
                        <a:spcAft>
                          <a:spcPts val="0"/>
                        </a:spcAft>
                      </a:pPr>
                      <a:r>
                        <a:rPr lang="en-US" sz="1200" b="0">
                          <a:solidFill>
                            <a:schemeClr val="tx1"/>
                          </a:solidFill>
                          <a:effectLst/>
                          <a:latin typeface="Georgia"/>
                        </a:rPr>
                        <a:t>Naïve Bayes</a:t>
                      </a:r>
                      <a:endParaRPr lang="en-US" sz="1400" b="0">
                        <a:solidFill>
                          <a:schemeClr val="tx1"/>
                        </a:solidFill>
                        <a:effectLst/>
                        <a:latin typeface="Georgia"/>
                        <a:ea typeface="Calibri" panose="020F0502020204030204" pitchFamily="34" charset="0"/>
                        <a:cs typeface="Times New Roman" panose="02020603050405020304" pitchFamily="18" charset="0"/>
                      </a:endParaRPr>
                    </a:p>
                  </a:txBody>
                  <a:tcPr marL="9525" marR="9525" marT="9525" marB="0" anchor="ctr">
                    <a:solidFill>
                      <a:srgbClr val="FED668"/>
                    </a:solidFill>
                  </a:tcPr>
                </a:tc>
                <a:tc>
                  <a:txBody>
                    <a:bodyPr/>
                    <a:lstStyle/>
                    <a:p>
                      <a:pPr marL="0" marR="0" algn="ctr">
                        <a:spcBef>
                          <a:spcPts val="0"/>
                        </a:spcBef>
                        <a:spcAft>
                          <a:spcPts val="0"/>
                        </a:spcAft>
                      </a:pPr>
                      <a:r>
                        <a:rPr lang="en-US" sz="1100">
                          <a:solidFill>
                            <a:schemeClr val="tx1"/>
                          </a:solidFill>
                          <a:effectLst/>
                          <a:latin typeface="Calibri"/>
                          <a:ea typeface="Calibri" panose="020F0502020204030204" pitchFamily="34" charset="0"/>
                          <a:cs typeface="Calibri"/>
                        </a:rPr>
                        <a:t>0.787</a:t>
                      </a:r>
                      <a:endParaRPr lang="en-US" sz="1200">
                        <a:solidFill>
                          <a:schemeClr val="tx1"/>
                        </a:solidFill>
                        <a:effectLst/>
                        <a:latin typeface="Calibri"/>
                        <a:ea typeface="Calibri" panose="020F0502020204030204" pitchFamily="34" charset="0"/>
                        <a:cs typeface="Calibri"/>
                      </a:endParaRPr>
                    </a:p>
                  </a:txBody>
                  <a:tcPr marL="9525" marR="9525" marT="9525" marB="0" anchor="ctr"/>
                </a:tc>
                <a:tc>
                  <a:txBody>
                    <a:bodyPr/>
                    <a:lstStyle/>
                    <a:p>
                      <a:pPr marL="0" marR="0" algn="ctr">
                        <a:spcBef>
                          <a:spcPts val="0"/>
                        </a:spcBef>
                        <a:spcAft>
                          <a:spcPts val="0"/>
                        </a:spcAft>
                      </a:pPr>
                      <a:r>
                        <a:rPr lang="en-US" sz="1100">
                          <a:solidFill>
                            <a:schemeClr val="tx1"/>
                          </a:solidFill>
                          <a:effectLst/>
                          <a:latin typeface="Calibri"/>
                          <a:ea typeface="Calibri" panose="020F0502020204030204" pitchFamily="34" charset="0"/>
                          <a:cs typeface="Calibri"/>
                        </a:rPr>
                        <a:t>0.658</a:t>
                      </a:r>
                      <a:endParaRPr lang="en-US" sz="1200">
                        <a:solidFill>
                          <a:schemeClr val="tx1"/>
                        </a:solidFill>
                        <a:effectLst/>
                        <a:latin typeface="Calibri"/>
                        <a:ea typeface="Calibri" panose="020F0502020204030204" pitchFamily="34" charset="0"/>
                        <a:cs typeface="Calibri"/>
                      </a:endParaRPr>
                    </a:p>
                  </a:txBody>
                  <a:tcPr marL="9525" marR="9525" marT="9525" marB="0" anchor="ctr"/>
                </a:tc>
                <a:tc>
                  <a:txBody>
                    <a:bodyPr/>
                    <a:lstStyle/>
                    <a:p>
                      <a:pPr marL="0" marR="0" algn="ctr">
                        <a:spcBef>
                          <a:spcPts val="0"/>
                        </a:spcBef>
                        <a:spcAft>
                          <a:spcPts val="0"/>
                        </a:spcAft>
                      </a:pPr>
                      <a:r>
                        <a:rPr lang="en-US" sz="1100">
                          <a:solidFill>
                            <a:schemeClr val="tx1"/>
                          </a:solidFill>
                          <a:effectLst/>
                          <a:latin typeface="Calibri"/>
                          <a:ea typeface="Calibri" panose="020F0502020204030204" pitchFamily="34" charset="0"/>
                          <a:cs typeface="Calibri"/>
                        </a:rPr>
                        <a:t>0.806</a:t>
                      </a:r>
                      <a:endParaRPr lang="en-US" sz="1200">
                        <a:solidFill>
                          <a:schemeClr val="tx1"/>
                        </a:solidFill>
                        <a:effectLst/>
                        <a:latin typeface="Calibri"/>
                        <a:ea typeface="Calibri" panose="020F0502020204030204" pitchFamily="34" charset="0"/>
                        <a:cs typeface="Calibri"/>
                      </a:endParaRPr>
                    </a:p>
                  </a:txBody>
                  <a:tcPr marL="9525" marR="9525" marT="9525" marB="0" anchor="ctr"/>
                </a:tc>
                <a:tc>
                  <a:txBody>
                    <a:bodyPr/>
                    <a:lstStyle/>
                    <a:p>
                      <a:pPr marL="0" marR="0" algn="ctr">
                        <a:spcBef>
                          <a:spcPts val="0"/>
                        </a:spcBef>
                        <a:spcAft>
                          <a:spcPts val="0"/>
                        </a:spcAft>
                      </a:pPr>
                      <a:r>
                        <a:rPr lang="en-US" sz="1100">
                          <a:solidFill>
                            <a:schemeClr val="tx1"/>
                          </a:solidFill>
                          <a:effectLst/>
                          <a:latin typeface="Calibri"/>
                          <a:ea typeface="Calibri" panose="020F0502020204030204" pitchFamily="34" charset="0"/>
                          <a:cs typeface="Calibri"/>
                        </a:rPr>
                        <a:t>0.334</a:t>
                      </a:r>
                      <a:endParaRPr lang="en-US" sz="1200">
                        <a:solidFill>
                          <a:schemeClr val="tx1"/>
                        </a:solidFill>
                        <a:effectLst/>
                        <a:latin typeface="Calibri"/>
                        <a:ea typeface="Calibri" panose="020F0502020204030204" pitchFamily="34" charset="0"/>
                        <a:cs typeface="Calibri"/>
                      </a:endParaRPr>
                    </a:p>
                  </a:txBody>
                  <a:tcPr marL="9525" marR="9525" marT="9525" marB="0" anchor="ctr">
                    <a:solidFill>
                      <a:srgbClr val="FED668"/>
                    </a:solidFill>
                  </a:tcPr>
                </a:tc>
                <a:tc>
                  <a:txBody>
                    <a:bodyPr/>
                    <a:lstStyle/>
                    <a:p>
                      <a:pPr marL="0" marR="0" algn="ctr">
                        <a:spcBef>
                          <a:spcPts val="0"/>
                        </a:spcBef>
                        <a:spcAft>
                          <a:spcPts val="0"/>
                        </a:spcAft>
                      </a:pPr>
                      <a:r>
                        <a:rPr lang="en-US" sz="1100">
                          <a:solidFill>
                            <a:schemeClr val="tx1"/>
                          </a:solidFill>
                          <a:effectLst/>
                          <a:latin typeface="Calibri"/>
                          <a:ea typeface="Calibri" panose="020F0502020204030204" pitchFamily="34" charset="0"/>
                          <a:cs typeface="Calibri"/>
                        </a:rPr>
                        <a:t>0.658</a:t>
                      </a:r>
                      <a:endParaRPr lang="en-US" sz="1200">
                        <a:solidFill>
                          <a:schemeClr val="tx1"/>
                        </a:solidFill>
                        <a:effectLst/>
                        <a:latin typeface="Calibri"/>
                        <a:ea typeface="Calibri" panose="020F0502020204030204" pitchFamily="34" charset="0"/>
                        <a:cs typeface="Calibri"/>
                      </a:endParaRPr>
                    </a:p>
                  </a:txBody>
                  <a:tcPr marL="9525" marR="9525" marT="9525" marB="0" anchor="ctr"/>
                </a:tc>
                <a:tc>
                  <a:txBody>
                    <a:bodyPr/>
                    <a:lstStyle/>
                    <a:p>
                      <a:pPr marL="0" marR="0" algn="ctr">
                        <a:spcBef>
                          <a:spcPts val="0"/>
                        </a:spcBef>
                        <a:spcAft>
                          <a:spcPts val="0"/>
                        </a:spcAft>
                      </a:pPr>
                      <a:r>
                        <a:rPr lang="en-US" sz="1100">
                          <a:solidFill>
                            <a:schemeClr val="tx1"/>
                          </a:solidFill>
                          <a:effectLst/>
                          <a:latin typeface="Calibri"/>
                          <a:ea typeface="Calibri" panose="020F0502020204030204" pitchFamily="34" charset="0"/>
                          <a:cs typeface="Calibri"/>
                        </a:rPr>
                        <a:t>0.732</a:t>
                      </a:r>
                      <a:endParaRPr lang="en-US" sz="12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extLst>
                  <a:ext uri="{0D108BD9-81ED-4DB2-BD59-A6C34878D82A}">
                    <a16:rowId xmlns:a16="http://schemas.microsoft.com/office/drawing/2014/main" val="3634940063"/>
                  </a:ext>
                </a:extLst>
              </a:tr>
            </a:tbl>
          </a:graphicData>
        </a:graphic>
      </p:graphicFrame>
      <p:sp>
        <p:nvSpPr>
          <p:cNvPr id="16" name="TextBox 15">
            <a:extLst>
              <a:ext uri="{FF2B5EF4-FFF2-40B4-BE49-F238E27FC236}">
                <a16:creationId xmlns:a16="http://schemas.microsoft.com/office/drawing/2014/main" id="{B544B942-0937-1A76-3EC7-FC63D6A10A1F}"/>
              </a:ext>
            </a:extLst>
          </p:cNvPr>
          <p:cNvSpPr txBox="1"/>
          <p:nvPr/>
        </p:nvSpPr>
        <p:spPr>
          <a:xfrm>
            <a:off x="5951017" y="3999742"/>
            <a:ext cx="6113247" cy="1569660"/>
          </a:xfrm>
          <a:prstGeom prst="rect">
            <a:avLst/>
          </a:prstGeom>
          <a:noFill/>
        </p:spPr>
        <p:txBody>
          <a:bodyPr wrap="square" rtlCol="0">
            <a:spAutoFit/>
          </a:bodyPr>
          <a:lstStyle/>
          <a:p>
            <a:r>
              <a:rPr lang="en-US" sz="1600">
                <a:latin typeface="Georgia" panose="02040502050405020303" pitchFamily="18" charset="0"/>
              </a:rPr>
              <a:t>KNN is the best performing model overall. However, Decision-Tree has the highest precision scores, which measures the accuracy of positive predictions. Logistic Regression has high sensitivity and ease of interpretation for stakeholders.</a:t>
            </a:r>
            <a:br>
              <a:rPr lang="en-US" sz="1600">
                <a:latin typeface="Georgia" panose="02040502050405020303" pitchFamily="18" charset="0"/>
              </a:rPr>
            </a:br>
            <a:endParaRPr lang="en-US" sz="1600">
              <a:latin typeface="Georgia" panose="02040502050405020303" pitchFamily="18" charset="0"/>
            </a:endParaRPr>
          </a:p>
          <a:p>
            <a:endParaRPr lang="en-US" sz="1600">
              <a:latin typeface="Georgia" panose="02040502050405020303" pitchFamily="18" charset="0"/>
            </a:endParaRPr>
          </a:p>
        </p:txBody>
      </p:sp>
      <p:grpSp>
        <p:nvGrpSpPr>
          <p:cNvPr id="21" name="Group 20">
            <a:extLst>
              <a:ext uri="{FF2B5EF4-FFF2-40B4-BE49-F238E27FC236}">
                <a16:creationId xmlns:a16="http://schemas.microsoft.com/office/drawing/2014/main" id="{1F229E2E-16AE-95F9-F583-E546659734D0}"/>
              </a:ext>
            </a:extLst>
          </p:cNvPr>
          <p:cNvGrpSpPr/>
          <p:nvPr/>
        </p:nvGrpSpPr>
        <p:grpSpPr>
          <a:xfrm>
            <a:off x="5606507" y="5368549"/>
            <a:ext cx="6609556" cy="1069012"/>
            <a:chOff x="5606507" y="5368549"/>
            <a:chExt cx="6609556" cy="1069012"/>
          </a:xfrm>
        </p:grpSpPr>
        <p:sp>
          <p:nvSpPr>
            <p:cNvPr id="17" name="Rectangle 16">
              <a:extLst>
                <a:ext uri="{FF2B5EF4-FFF2-40B4-BE49-F238E27FC236}">
                  <a16:creationId xmlns:a16="http://schemas.microsoft.com/office/drawing/2014/main" id="{364D04FA-B1F8-DD61-014B-6BE18A153827}"/>
                </a:ext>
              </a:extLst>
            </p:cNvPr>
            <p:cNvSpPr/>
            <p:nvPr/>
          </p:nvSpPr>
          <p:spPr>
            <a:xfrm>
              <a:off x="5823284" y="5394359"/>
              <a:ext cx="6392779" cy="1017392"/>
            </a:xfrm>
            <a:prstGeom prst="rect">
              <a:avLst/>
            </a:prstGeom>
            <a:solidFill>
              <a:srgbClr val="FED668"/>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Graphic 17" descr="Exclamation mark with solid fill">
              <a:extLst>
                <a:ext uri="{FF2B5EF4-FFF2-40B4-BE49-F238E27FC236}">
                  <a16:creationId xmlns:a16="http://schemas.microsoft.com/office/drawing/2014/main" id="{05683A78-9192-EE29-447F-7B2493DE7AB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06507" y="5368549"/>
              <a:ext cx="1069012" cy="1069012"/>
            </a:xfrm>
            <a:prstGeom prst="rect">
              <a:avLst/>
            </a:prstGeom>
            <a:effectLst>
              <a:outerShdw blurRad="50800" dist="38100" dir="2700000" algn="tl" rotWithShape="0">
                <a:prstClr val="black">
                  <a:alpha val="40000"/>
                </a:prstClr>
              </a:outerShdw>
            </a:effectLst>
          </p:spPr>
        </p:pic>
        <p:sp>
          <p:nvSpPr>
            <p:cNvPr id="20" name="TextBox 19">
              <a:extLst>
                <a:ext uri="{FF2B5EF4-FFF2-40B4-BE49-F238E27FC236}">
                  <a16:creationId xmlns:a16="http://schemas.microsoft.com/office/drawing/2014/main" id="{59A4C09E-E6B4-ACFB-09EE-EF07917C79C2}"/>
                </a:ext>
              </a:extLst>
            </p:cNvPr>
            <p:cNvSpPr txBox="1"/>
            <p:nvPr/>
          </p:nvSpPr>
          <p:spPr>
            <a:xfrm>
              <a:off x="6324190" y="5465453"/>
              <a:ext cx="5786385" cy="923330"/>
            </a:xfrm>
            <a:prstGeom prst="rect">
              <a:avLst/>
            </a:prstGeom>
            <a:noFill/>
          </p:spPr>
          <p:txBody>
            <a:bodyPr wrap="square">
              <a:spAutoFit/>
            </a:bodyPr>
            <a:lstStyle/>
            <a:p>
              <a:r>
                <a:rPr lang="en-US" sz="1800">
                  <a:latin typeface="Georgia" panose="02040502050405020303" pitchFamily="18" charset="0"/>
                </a:rPr>
                <a:t>Unfortunately, </a:t>
              </a:r>
              <a:r>
                <a:rPr lang="en-US" sz="1800" b="1">
                  <a:latin typeface="Georgia" panose="02040502050405020303" pitchFamily="18" charset="0"/>
                </a:rPr>
                <a:t>all models’ precision scores are below .5, </a:t>
              </a:r>
              <a:r>
                <a:rPr lang="en-US" sz="1800">
                  <a:latin typeface="Georgia" panose="02040502050405020303" pitchFamily="18" charset="0"/>
                </a:rPr>
                <a:t>indicating more work need be done to use and trust the model</a:t>
              </a:r>
              <a:r>
                <a:rPr lang="en-US">
                  <a:latin typeface="Georgia" panose="02040502050405020303" pitchFamily="18" charset="0"/>
                </a:rPr>
                <a:t> to predict presence of diabetes.</a:t>
              </a:r>
              <a:endParaRPr lang="en-US" sz="1800">
                <a:latin typeface="Georgia" panose="02040502050405020303" pitchFamily="18" charset="0"/>
              </a:endParaRPr>
            </a:p>
          </p:txBody>
        </p:sp>
      </p:grpSp>
    </p:spTree>
    <p:extLst>
      <p:ext uri="{BB962C8B-B14F-4D97-AF65-F5344CB8AC3E}">
        <p14:creationId xmlns:p14="http://schemas.microsoft.com/office/powerpoint/2010/main" val="25750779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CCB31-5D31-5BCD-1473-2086453CC4A9}"/>
              </a:ext>
            </a:extLst>
          </p:cNvPr>
          <p:cNvSpPr>
            <a:spLocks noGrp="1"/>
          </p:cNvSpPr>
          <p:nvPr>
            <p:ph type="title"/>
          </p:nvPr>
        </p:nvSpPr>
        <p:spPr>
          <a:xfrm>
            <a:off x="0" y="754697"/>
            <a:ext cx="12192000" cy="1325563"/>
          </a:xfrm>
        </p:spPr>
        <p:txBody>
          <a:bodyPr>
            <a:normAutofit/>
          </a:bodyPr>
          <a:lstStyle/>
          <a:p>
            <a:pPr algn="ctr"/>
            <a:r>
              <a:rPr lang="en-US">
                <a:latin typeface="Georgia" panose="02040502050405020303" pitchFamily="18" charset="0"/>
              </a:rPr>
              <a:t>Logistic regression validates hypotheses on BMI, general health, &amp; co-morbidities</a:t>
            </a:r>
          </a:p>
        </p:txBody>
      </p:sp>
      <p:sp>
        <p:nvSpPr>
          <p:cNvPr id="4" name="Snip Single Corner Rectangle 3">
            <a:extLst>
              <a:ext uri="{FF2B5EF4-FFF2-40B4-BE49-F238E27FC236}">
                <a16:creationId xmlns:a16="http://schemas.microsoft.com/office/drawing/2014/main" id="{2CB94096-D776-D4EE-71D5-3AA07B6AECC5}"/>
              </a:ext>
            </a:extLst>
          </p:cNvPr>
          <p:cNvSpPr/>
          <p:nvPr/>
        </p:nvSpPr>
        <p:spPr>
          <a:xfrm>
            <a:off x="0" y="0"/>
            <a:ext cx="3390900" cy="365125"/>
          </a:xfrm>
          <a:prstGeom prst="snip1Rect">
            <a:avLst/>
          </a:prstGeom>
          <a:solidFill>
            <a:srgbClr val="FED6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Georgia" panose="02040502050405020303" pitchFamily="18" charset="0"/>
              </a:rPr>
              <a:t>Initial Analysis</a:t>
            </a:r>
          </a:p>
        </p:txBody>
      </p:sp>
      <p:sp>
        <p:nvSpPr>
          <p:cNvPr id="7" name="Rectangle 6">
            <a:extLst>
              <a:ext uri="{FF2B5EF4-FFF2-40B4-BE49-F238E27FC236}">
                <a16:creationId xmlns:a16="http://schemas.microsoft.com/office/drawing/2014/main" id="{3CE3E509-DC5B-DBF8-A929-98C5B7BF2D8F}"/>
              </a:ext>
            </a:extLst>
          </p:cNvPr>
          <p:cNvSpPr/>
          <p:nvPr/>
        </p:nvSpPr>
        <p:spPr>
          <a:xfrm>
            <a:off x="0" y="2080260"/>
            <a:ext cx="12192000" cy="617220"/>
          </a:xfrm>
          <a:prstGeom prst="rect">
            <a:avLst/>
          </a:prstGeom>
          <a:solidFill>
            <a:srgbClr val="FED668"/>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solidFill>
                  <a:schemeClr val="tx1"/>
                </a:solidFill>
                <a:latin typeface="Georgia"/>
              </a:rPr>
              <a:t>While not yet the most accurate model, logistic regression reveals variable level insights that can be more digestible and actionable for new entrants than KNN or Decision tree results</a:t>
            </a:r>
          </a:p>
        </p:txBody>
      </p:sp>
      <p:sp>
        <p:nvSpPr>
          <p:cNvPr id="8" name="TextBox 7">
            <a:extLst>
              <a:ext uri="{FF2B5EF4-FFF2-40B4-BE49-F238E27FC236}">
                <a16:creationId xmlns:a16="http://schemas.microsoft.com/office/drawing/2014/main" id="{F33BDAF1-92D5-5C43-9D63-3316D8029E9B}"/>
              </a:ext>
            </a:extLst>
          </p:cNvPr>
          <p:cNvSpPr txBox="1"/>
          <p:nvPr/>
        </p:nvSpPr>
        <p:spPr>
          <a:xfrm>
            <a:off x="853438" y="3513665"/>
            <a:ext cx="2034540" cy="461665"/>
          </a:xfrm>
          <a:prstGeom prst="rect">
            <a:avLst/>
          </a:prstGeom>
          <a:noFill/>
        </p:spPr>
        <p:txBody>
          <a:bodyPr wrap="square" rtlCol="0">
            <a:spAutoFit/>
          </a:bodyPr>
          <a:lstStyle/>
          <a:p>
            <a:r>
              <a:rPr lang="en-US" sz="2400" b="1">
                <a:latin typeface="Georgia" panose="02040502050405020303" pitchFamily="18" charset="0"/>
              </a:rPr>
              <a:t>BMI</a:t>
            </a:r>
          </a:p>
        </p:txBody>
      </p:sp>
      <p:sp>
        <p:nvSpPr>
          <p:cNvPr id="9" name="TextBox 8">
            <a:extLst>
              <a:ext uri="{FF2B5EF4-FFF2-40B4-BE49-F238E27FC236}">
                <a16:creationId xmlns:a16="http://schemas.microsoft.com/office/drawing/2014/main" id="{E11DD771-9644-EA53-E5E3-AD8E462C68B5}"/>
              </a:ext>
            </a:extLst>
          </p:cNvPr>
          <p:cNvSpPr txBox="1"/>
          <p:nvPr/>
        </p:nvSpPr>
        <p:spPr>
          <a:xfrm>
            <a:off x="4535168" y="3513665"/>
            <a:ext cx="3749040" cy="461665"/>
          </a:xfrm>
          <a:prstGeom prst="rect">
            <a:avLst/>
          </a:prstGeom>
          <a:noFill/>
        </p:spPr>
        <p:txBody>
          <a:bodyPr wrap="square" rtlCol="0">
            <a:spAutoFit/>
          </a:bodyPr>
          <a:lstStyle/>
          <a:p>
            <a:r>
              <a:rPr lang="en-US" sz="2400" b="1">
                <a:latin typeface="Georgia" panose="02040502050405020303" pitchFamily="18" charset="0"/>
              </a:rPr>
              <a:t>General Health</a:t>
            </a:r>
          </a:p>
        </p:txBody>
      </p:sp>
      <p:sp>
        <p:nvSpPr>
          <p:cNvPr id="10" name="TextBox 9">
            <a:extLst>
              <a:ext uri="{FF2B5EF4-FFF2-40B4-BE49-F238E27FC236}">
                <a16:creationId xmlns:a16="http://schemas.microsoft.com/office/drawing/2014/main" id="{4EB03EEC-90CE-175B-3B4B-43F9E2D359E0}"/>
              </a:ext>
            </a:extLst>
          </p:cNvPr>
          <p:cNvSpPr txBox="1"/>
          <p:nvPr/>
        </p:nvSpPr>
        <p:spPr>
          <a:xfrm>
            <a:off x="8235529" y="3490487"/>
            <a:ext cx="3384545" cy="461665"/>
          </a:xfrm>
          <a:prstGeom prst="rect">
            <a:avLst/>
          </a:prstGeom>
          <a:noFill/>
        </p:spPr>
        <p:txBody>
          <a:bodyPr wrap="square" rtlCol="0">
            <a:spAutoFit/>
          </a:bodyPr>
          <a:lstStyle/>
          <a:p>
            <a:r>
              <a:rPr lang="en-US" sz="2400" b="1">
                <a:latin typeface="Georgia" panose="02040502050405020303" pitchFamily="18" charset="0"/>
              </a:rPr>
              <a:t>Cholesterol Meds</a:t>
            </a:r>
          </a:p>
        </p:txBody>
      </p:sp>
      <p:sp>
        <p:nvSpPr>
          <p:cNvPr id="12" name="TextBox 11">
            <a:extLst>
              <a:ext uri="{FF2B5EF4-FFF2-40B4-BE49-F238E27FC236}">
                <a16:creationId xmlns:a16="http://schemas.microsoft.com/office/drawing/2014/main" id="{3D106577-7F9C-E098-70D9-0E458FC4928F}"/>
              </a:ext>
            </a:extLst>
          </p:cNvPr>
          <p:cNvSpPr txBox="1"/>
          <p:nvPr/>
        </p:nvSpPr>
        <p:spPr>
          <a:xfrm>
            <a:off x="8235529" y="4114164"/>
            <a:ext cx="3352372" cy="2554545"/>
          </a:xfrm>
          <a:prstGeom prst="rect">
            <a:avLst/>
          </a:prstGeom>
          <a:noFill/>
        </p:spPr>
        <p:txBody>
          <a:bodyPr wrap="square">
            <a:spAutoFit/>
          </a:bodyPr>
          <a:lstStyle/>
          <a:p>
            <a:r>
              <a:rPr lang="en-US" sz="1600">
                <a:latin typeface="Georgia" panose="02040502050405020303" pitchFamily="18" charset="0"/>
              </a:rPr>
              <a:t>The predicted odds of having diabetes decreases by nearly half if someone is not taking medicine for high cholesterol. </a:t>
            </a:r>
          </a:p>
          <a:p>
            <a:endParaRPr lang="en-US" sz="1600">
              <a:latin typeface="Georgia" panose="02040502050405020303" pitchFamily="18" charset="0"/>
            </a:endParaRPr>
          </a:p>
          <a:p>
            <a:endParaRPr lang="en-US" sz="1600">
              <a:latin typeface="Georgia" panose="02040502050405020303" pitchFamily="18" charset="0"/>
            </a:endParaRPr>
          </a:p>
          <a:p>
            <a:r>
              <a:rPr lang="en-US" sz="1600">
                <a:latin typeface="Georgia" panose="02040502050405020303" pitchFamily="18" charset="0"/>
              </a:rPr>
              <a:t>Cholesterol medication is often prescribed for those at risk for stroke and heart attack, co-morbidities of diabetes. </a:t>
            </a:r>
          </a:p>
        </p:txBody>
      </p:sp>
      <p:sp>
        <p:nvSpPr>
          <p:cNvPr id="13" name="TextBox 12">
            <a:extLst>
              <a:ext uri="{FF2B5EF4-FFF2-40B4-BE49-F238E27FC236}">
                <a16:creationId xmlns:a16="http://schemas.microsoft.com/office/drawing/2014/main" id="{90FD6DA0-ECF1-977C-7A02-028A21E2D07B}"/>
              </a:ext>
            </a:extLst>
          </p:cNvPr>
          <p:cNvSpPr txBox="1"/>
          <p:nvPr/>
        </p:nvSpPr>
        <p:spPr>
          <a:xfrm>
            <a:off x="4535168" y="4114164"/>
            <a:ext cx="3510280" cy="2308324"/>
          </a:xfrm>
          <a:prstGeom prst="rect">
            <a:avLst/>
          </a:prstGeom>
          <a:noFill/>
        </p:spPr>
        <p:txBody>
          <a:bodyPr wrap="square">
            <a:spAutoFit/>
          </a:bodyPr>
          <a:lstStyle/>
          <a:p>
            <a:r>
              <a:rPr lang="en-US" sz="1600">
                <a:latin typeface="Georgia" panose="02040502050405020303" pitchFamily="18" charset="0"/>
              </a:rPr>
              <a:t>The predicted odds of having diabetes increases by 80% as a person reports worse health (excellent, very good, good, fair, poor).</a:t>
            </a:r>
            <a:br>
              <a:rPr lang="en-US" sz="1600">
                <a:latin typeface="Georgia" panose="02040502050405020303" pitchFamily="18" charset="0"/>
              </a:rPr>
            </a:br>
            <a:endParaRPr lang="en-US" sz="1600">
              <a:latin typeface="Georgia" panose="02040502050405020303" pitchFamily="18" charset="0"/>
            </a:endParaRPr>
          </a:p>
          <a:p>
            <a:r>
              <a:rPr lang="en-US" sz="1600">
                <a:latin typeface="Georgia" panose="02040502050405020303" pitchFamily="18" charset="0"/>
              </a:rPr>
              <a:t>A person’s self reported general health may be a key indicator in segmenting.</a:t>
            </a:r>
          </a:p>
        </p:txBody>
      </p:sp>
      <p:sp>
        <p:nvSpPr>
          <p:cNvPr id="14" name="TextBox 13">
            <a:extLst>
              <a:ext uri="{FF2B5EF4-FFF2-40B4-BE49-F238E27FC236}">
                <a16:creationId xmlns:a16="http://schemas.microsoft.com/office/drawing/2014/main" id="{313ED629-2B36-6E24-7BD2-72657D395DF4}"/>
              </a:ext>
            </a:extLst>
          </p:cNvPr>
          <p:cNvSpPr txBox="1"/>
          <p:nvPr/>
        </p:nvSpPr>
        <p:spPr>
          <a:xfrm>
            <a:off x="853438" y="4113528"/>
            <a:ext cx="3510280" cy="2308324"/>
          </a:xfrm>
          <a:prstGeom prst="rect">
            <a:avLst/>
          </a:prstGeom>
          <a:noFill/>
        </p:spPr>
        <p:txBody>
          <a:bodyPr wrap="square">
            <a:spAutoFit/>
          </a:bodyPr>
          <a:lstStyle/>
          <a:p>
            <a:r>
              <a:rPr lang="en-US" sz="1600">
                <a:latin typeface="Georgia" panose="02040502050405020303" pitchFamily="18" charset="0"/>
              </a:rPr>
              <a:t>The predicted odds of having diabetes is 1.5 times higher as someone goes from overweight to obese.</a:t>
            </a:r>
            <a:br>
              <a:rPr lang="en-US" sz="1600">
                <a:latin typeface="Georgia" panose="02040502050405020303" pitchFamily="18" charset="0"/>
              </a:rPr>
            </a:br>
            <a:endParaRPr lang="en-US" sz="1600">
              <a:latin typeface="Georgia" panose="02040502050405020303" pitchFamily="18" charset="0"/>
            </a:endParaRPr>
          </a:p>
          <a:p>
            <a:endParaRPr lang="en-US" sz="1600">
              <a:latin typeface="Georgia" panose="02040502050405020303" pitchFamily="18" charset="0"/>
            </a:endParaRPr>
          </a:p>
          <a:p>
            <a:r>
              <a:rPr lang="en-US" sz="1600">
                <a:latin typeface="Georgia" panose="02040502050405020303" pitchFamily="18" charset="0"/>
              </a:rPr>
              <a:t>Maintaining a normal BMI range may reduce a person’s likelihood of being diagnoses.</a:t>
            </a:r>
          </a:p>
        </p:txBody>
      </p:sp>
      <p:sp>
        <p:nvSpPr>
          <p:cNvPr id="15" name="TextBox 14">
            <a:extLst>
              <a:ext uri="{FF2B5EF4-FFF2-40B4-BE49-F238E27FC236}">
                <a16:creationId xmlns:a16="http://schemas.microsoft.com/office/drawing/2014/main" id="{E5AB6A47-B74D-9D97-C9B6-688490A0F298}"/>
              </a:ext>
            </a:extLst>
          </p:cNvPr>
          <p:cNvSpPr txBox="1"/>
          <p:nvPr/>
        </p:nvSpPr>
        <p:spPr>
          <a:xfrm>
            <a:off x="0" y="2697480"/>
            <a:ext cx="12192000" cy="523220"/>
          </a:xfrm>
          <a:prstGeom prst="rect">
            <a:avLst/>
          </a:prstGeom>
          <a:noFill/>
        </p:spPr>
        <p:txBody>
          <a:bodyPr wrap="square" lIns="91440" tIns="45720" rIns="91440" bIns="45720" rtlCol="0" anchor="t">
            <a:spAutoFit/>
          </a:bodyPr>
          <a:lstStyle/>
          <a:p>
            <a:pPr algn="ctr"/>
            <a:r>
              <a:rPr lang="en-US" sz="1400">
                <a:latin typeface="Georgia"/>
              </a:rPr>
              <a:t>Significant variables include: state, race, gender, employment, children at home, alcohol consumption, kidney disease, age, last routine checkup, blood pressure, arthritis, pneumonia, and income</a:t>
            </a:r>
            <a:endParaRPr lang="en-US" sz="1400">
              <a:latin typeface="Georgia" panose="02040502050405020303" pitchFamily="18" charset="0"/>
            </a:endParaRPr>
          </a:p>
        </p:txBody>
      </p:sp>
      <p:sp>
        <p:nvSpPr>
          <p:cNvPr id="16" name="Rounded Rectangle 15">
            <a:extLst>
              <a:ext uri="{FF2B5EF4-FFF2-40B4-BE49-F238E27FC236}">
                <a16:creationId xmlns:a16="http://schemas.microsoft.com/office/drawing/2014/main" id="{F214955C-29E3-266B-ECBB-545C466BE8A9}"/>
              </a:ext>
            </a:extLst>
          </p:cNvPr>
          <p:cNvSpPr/>
          <p:nvPr/>
        </p:nvSpPr>
        <p:spPr>
          <a:xfrm>
            <a:off x="706118" y="3314700"/>
            <a:ext cx="3510280" cy="3354009"/>
          </a:xfrm>
          <a:prstGeom prst="roundRect">
            <a:avLst/>
          </a:prstGeom>
          <a:noFill/>
          <a:ln w="38100">
            <a:solidFill>
              <a:srgbClr val="FED668"/>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a:extLst>
              <a:ext uri="{FF2B5EF4-FFF2-40B4-BE49-F238E27FC236}">
                <a16:creationId xmlns:a16="http://schemas.microsoft.com/office/drawing/2014/main" id="{19C95B31-6129-332B-DC98-0FF59994683B}"/>
              </a:ext>
            </a:extLst>
          </p:cNvPr>
          <p:cNvSpPr/>
          <p:nvPr/>
        </p:nvSpPr>
        <p:spPr>
          <a:xfrm>
            <a:off x="4387848" y="3314700"/>
            <a:ext cx="3510280" cy="3354009"/>
          </a:xfrm>
          <a:prstGeom prst="roundRect">
            <a:avLst/>
          </a:prstGeom>
          <a:noFill/>
          <a:ln w="38100">
            <a:solidFill>
              <a:srgbClr val="FED668"/>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a:extLst>
              <a:ext uri="{FF2B5EF4-FFF2-40B4-BE49-F238E27FC236}">
                <a16:creationId xmlns:a16="http://schemas.microsoft.com/office/drawing/2014/main" id="{427190AE-7D6A-B4A0-C2C4-A7ACE231AAA1}"/>
              </a:ext>
            </a:extLst>
          </p:cNvPr>
          <p:cNvSpPr/>
          <p:nvPr/>
        </p:nvSpPr>
        <p:spPr>
          <a:xfrm>
            <a:off x="8077621" y="3314700"/>
            <a:ext cx="3510280" cy="3354009"/>
          </a:xfrm>
          <a:prstGeom prst="roundRect">
            <a:avLst/>
          </a:prstGeom>
          <a:noFill/>
          <a:ln w="38100">
            <a:solidFill>
              <a:srgbClr val="FED668"/>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45483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9427AF5F-9A0E-42B7-A252-FD64C9885F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3CCB31-5D31-5BCD-1473-2086453CC4A9}"/>
              </a:ext>
            </a:extLst>
          </p:cNvPr>
          <p:cNvSpPr>
            <a:spLocks noGrp="1"/>
          </p:cNvSpPr>
          <p:nvPr>
            <p:ph type="title"/>
          </p:nvPr>
        </p:nvSpPr>
        <p:spPr>
          <a:xfrm>
            <a:off x="838200" y="365125"/>
            <a:ext cx="10515600" cy="1306443"/>
          </a:xfrm>
        </p:spPr>
        <p:txBody>
          <a:bodyPr vert="horz" lIns="91440" tIns="45720" rIns="91440" bIns="45720" rtlCol="0" anchor="ctr">
            <a:normAutofit/>
          </a:bodyPr>
          <a:lstStyle/>
          <a:p>
            <a:r>
              <a:rPr lang="en-US" sz="4000">
                <a:latin typeface="Georgia" panose="02040502050405020303" pitchFamily="18" charset="0"/>
              </a:rPr>
              <a:t>Further transformation of the diabetes variable is required </a:t>
            </a:r>
          </a:p>
        </p:txBody>
      </p:sp>
      <p:grpSp>
        <p:nvGrpSpPr>
          <p:cNvPr id="28" name="Group 27">
            <a:extLst>
              <a:ext uri="{FF2B5EF4-FFF2-40B4-BE49-F238E27FC236}">
                <a16:creationId xmlns:a16="http://schemas.microsoft.com/office/drawing/2014/main" id="{1F2A6492-0CCA-8640-9F51-01A85EC56AFF}"/>
              </a:ext>
            </a:extLst>
          </p:cNvPr>
          <p:cNvGrpSpPr/>
          <p:nvPr/>
        </p:nvGrpSpPr>
        <p:grpSpPr>
          <a:xfrm>
            <a:off x="6495855" y="934282"/>
            <a:ext cx="5708647" cy="4989435"/>
            <a:chOff x="6436542" y="539416"/>
            <a:chExt cx="5708647" cy="4989435"/>
          </a:xfrm>
        </p:grpSpPr>
        <p:sp>
          <p:nvSpPr>
            <p:cNvPr id="14" name="Rectangle 13">
              <a:extLst>
                <a:ext uri="{FF2B5EF4-FFF2-40B4-BE49-F238E27FC236}">
                  <a16:creationId xmlns:a16="http://schemas.microsoft.com/office/drawing/2014/main" id="{5C51DAA2-1A86-0B8B-706D-B3D8505A5CC7}"/>
                </a:ext>
              </a:extLst>
            </p:cNvPr>
            <p:cNvSpPr/>
            <p:nvPr/>
          </p:nvSpPr>
          <p:spPr>
            <a:xfrm>
              <a:off x="7129191" y="1678886"/>
              <a:ext cx="1750114" cy="1750114"/>
            </a:xfrm>
            <a:prstGeom prst="rect">
              <a:avLst/>
            </a:prstGeom>
            <a:solidFill>
              <a:srgbClr val="FED668">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C32A54C-D2D0-55C0-E5A6-98B597D6B4D1}"/>
                </a:ext>
              </a:extLst>
            </p:cNvPr>
            <p:cNvSpPr/>
            <p:nvPr/>
          </p:nvSpPr>
          <p:spPr>
            <a:xfrm>
              <a:off x="9301372" y="1678886"/>
              <a:ext cx="1750114" cy="1750114"/>
            </a:xfrm>
            <a:prstGeom prst="rect">
              <a:avLst/>
            </a:prstGeom>
            <a:solidFill>
              <a:srgbClr val="FED6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3E41506-46F6-CBE6-4B49-1535D1E90CFA}"/>
                </a:ext>
              </a:extLst>
            </p:cNvPr>
            <p:cNvSpPr/>
            <p:nvPr/>
          </p:nvSpPr>
          <p:spPr>
            <a:xfrm>
              <a:off x="9301372" y="3778737"/>
              <a:ext cx="1750114" cy="1750114"/>
            </a:xfrm>
            <a:prstGeom prst="rect">
              <a:avLst/>
            </a:prstGeom>
            <a:solidFill>
              <a:srgbClr val="FED668">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1AFF476-983C-E096-BB72-3486082156C1}"/>
                </a:ext>
              </a:extLst>
            </p:cNvPr>
            <p:cNvSpPr/>
            <p:nvPr/>
          </p:nvSpPr>
          <p:spPr>
            <a:xfrm>
              <a:off x="7129191" y="3778737"/>
              <a:ext cx="1750114" cy="1750114"/>
            </a:xfrm>
            <a:prstGeom prst="rect">
              <a:avLst/>
            </a:prstGeom>
            <a:solidFill>
              <a:srgbClr val="FED6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FF49BADE-2C38-2E5E-1B31-E52BD1B726AC}"/>
                </a:ext>
              </a:extLst>
            </p:cNvPr>
            <p:cNvSpPr txBox="1"/>
            <p:nvPr/>
          </p:nvSpPr>
          <p:spPr>
            <a:xfrm rot="16200000">
              <a:off x="4435471" y="2540487"/>
              <a:ext cx="4371474" cy="369332"/>
            </a:xfrm>
            <a:prstGeom prst="rect">
              <a:avLst/>
            </a:prstGeom>
            <a:noFill/>
          </p:spPr>
          <p:txBody>
            <a:bodyPr wrap="square" rtlCol="0">
              <a:spAutoFit/>
            </a:bodyPr>
            <a:lstStyle/>
            <a:p>
              <a:r>
                <a:rPr lang="en-US" b="1">
                  <a:latin typeface="Georgia" panose="02040502050405020303" pitchFamily="18" charset="0"/>
                </a:rPr>
                <a:t>PREDICTED VALUES</a:t>
              </a:r>
            </a:p>
          </p:txBody>
        </p:sp>
        <p:sp>
          <p:nvSpPr>
            <p:cNvPr id="19" name="TextBox 18">
              <a:extLst>
                <a:ext uri="{FF2B5EF4-FFF2-40B4-BE49-F238E27FC236}">
                  <a16:creationId xmlns:a16="http://schemas.microsoft.com/office/drawing/2014/main" id="{89FE2A94-6873-25E5-0313-3F92E3C45B9E}"/>
                </a:ext>
              </a:extLst>
            </p:cNvPr>
            <p:cNvSpPr txBox="1"/>
            <p:nvPr/>
          </p:nvSpPr>
          <p:spPr>
            <a:xfrm>
              <a:off x="7773715" y="1131930"/>
              <a:ext cx="4371474" cy="369332"/>
            </a:xfrm>
            <a:prstGeom prst="rect">
              <a:avLst/>
            </a:prstGeom>
            <a:noFill/>
          </p:spPr>
          <p:txBody>
            <a:bodyPr wrap="square" rtlCol="0">
              <a:spAutoFit/>
            </a:bodyPr>
            <a:lstStyle/>
            <a:p>
              <a:r>
                <a:rPr lang="en-US" b="1">
                  <a:latin typeface="Georgia" panose="02040502050405020303" pitchFamily="18" charset="0"/>
                </a:rPr>
                <a:t>ACTUAL VALUES</a:t>
              </a:r>
            </a:p>
          </p:txBody>
        </p:sp>
        <p:sp>
          <p:nvSpPr>
            <p:cNvPr id="20" name="TextBox 19">
              <a:extLst>
                <a:ext uri="{FF2B5EF4-FFF2-40B4-BE49-F238E27FC236}">
                  <a16:creationId xmlns:a16="http://schemas.microsoft.com/office/drawing/2014/main" id="{04C08B19-F748-9A27-173E-4D36B6C730CB}"/>
                </a:ext>
              </a:extLst>
            </p:cNvPr>
            <p:cNvSpPr txBox="1"/>
            <p:nvPr/>
          </p:nvSpPr>
          <p:spPr>
            <a:xfrm>
              <a:off x="7812517" y="1370812"/>
              <a:ext cx="1904989" cy="369332"/>
            </a:xfrm>
            <a:prstGeom prst="rect">
              <a:avLst/>
            </a:prstGeom>
            <a:noFill/>
          </p:spPr>
          <p:txBody>
            <a:bodyPr wrap="square" rtlCol="0">
              <a:spAutoFit/>
            </a:bodyPr>
            <a:lstStyle/>
            <a:p>
              <a:r>
                <a:rPr lang="en-US" b="1">
                  <a:latin typeface="Georgia" panose="02040502050405020303" pitchFamily="18" charset="0"/>
                </a:rPr>
                <a:t>0</a:t>
              </a:r>
            </a:p>
          </p:txBody>
        </p:sp>
        <p:sp>
          <p:nvSpPr>
            <p:cNvPr id="21" name="TextBox 20">
              <a:extLst>
                <a:ext uri="{FF2B5EF4-FFF2-40B4-BE49-F238E27FC236}">
                  <a16:creationId xmlns:a16="http://schemas.microsoft.com/office/drawing/2014/main" id="{64C32D15-2877-C59C-4E6A-A6642A4565B1}"/>
                </a:ext>
              </a:extLst>
            </p:cNvPr>
            <p:cNvSpPr txBox="1"/>
            <p:nvPr/>
          </p:nvSpPr>
          <p:spPr>
            <a:xfrm>
              <a:off x="6794804" y="2363771"/>
              <a:ext cx="1904989" cy="369332"/>
            </a:xfrm>
            <a:prstGeom prst="rect">
              <a:avLst/>
            </a:prstGeom>
            <a:noFill/>
          </p:spPr>
          <p:txBody>
            <a:bodyPr wrap="square" rtlCol="0">
              <a:spAutoFit/>
            </a:bodyPr>
            <a:lstStyle/>
            <a:p>
              <a:r>
                <a:rPr lang="en-US" b="1">
                  <a:latin typeface="Georgia" panose="02040502050405020303" pitchFamily="18" charset="0"/>
                </a:rPr>
                <a:t>0</a:t>
              </a:r>
            </a:p>
          </p:txBody>
        </p:sp>
        <p:sp>
          <p:nvSpPr>
            <p:cNvPr id="22" name="TextBox 21">
              <a:extLst>
                <a:ext uri="{FF2B5EF4-FFF2-40B4-BE49-F238E27FC236}">
                  <a16:creationId xmlns:a16="http://schemas.microsoft.com/office/drawing/2014/main" id="{9FAC54D1-9DB1-1F40-585B-25BA8F9C36CE}"/>
                </a:ext>
              </a:extLst>
            </p:cNvPr>
            <p:cNvSpPr txBox="1"/>
            <p:nvPr/>
          </p:nvSpPr>
          <p:spPr>
            <a:xfrm>
              <a:off x="6794803" y="4354997"/>
              <a:ext cx="1904989" cy="369332"/>
            </a:xfrm>
            <a:prstGeom prst="rect">
              <a:avLst/>
            </a:prstGeom>
            <a:noFill/>
          </p:spPr>
          <p:txBody>
            <a:bodyPr wrap="square" rtlCol="0">
              <a:spAutoFit/>
            </a:bodyPr>
            <a:lstStyle/>
            <a:p>
              <a:r>
                <a:rPr lang="en-US" b="1">
                  <a:latin typeface="Georgia" panose="02040502050405020303" pitchFamily="18" charset="0"/>
                </a:rPr>
                <a:t>1</a:t>
              </a:r>
            </a:p>
          </p:txBody>
        </p:sp>
        <p:sp>
          <p:nvSpPr>
            <p:cNvPr id="23" name="TextBox 22">
              <a:extLst>
                <a:ext uri="{FF2B5EF4-FFF2-40B4-BE49-F238E27FC236}">
                  <a16:creationId xmlns:a16="http://schemas.microsoft.com/office/drawing/2014/main" id="{9E92872F-5B46-B0EE-D80C-A5501076DE6F}"/>
                </a:ext>
              </a:extLst>
            </p:cNvPr>
            <p:cNvSpPr txBox="1"/>
            <p:nvPr/>
          </p:nvSpPr>
          <p:spPr>
            <a:xfrm>
              <a:off x="10041789" y="1332291"/>
              <a:ext cx="1904989" cy="369332"/>
            </a:xfrm>
            <a:prstGeom prst="rect">
              <a:avLst/>
            </a:prstGeom>
            <a:noFill/>
          </p:spPr>
          <p:txBody>
            <a:bodyPr wrap="square" rtlCol="0">
              <a:spAutoFit/>
            </a:bodyPr>
            <a:lstStyle/>
            <a:p>
              <a:r>
                <a:rPr lang="en-US" b="1">
                  <a:latin typeface="Georgia" panose="02040502050405020303" pitchFamily="18" charset="0"/>
                </a:rPr>
                <a:t>1</a:t>
              </a:r>
            </a:p>
          </p:txBody>
        </p:sp>
        <p:sp>
          <p:nvSpPr>
            <p:cNvPr id="24" name="TextBox 23">
              <a:extLst>
                <a:ext uri="{FF2B5EF4-FFF2-40B4-BE49-F238E27FC236}">
                  <a16:creationId xmlns:a16="http://schemas.microsoft.com/office/drawing/2014/main" id="{36EE94AE-6D70-832B-A907-D8AE711DC4F7}"/>
                </a:ext>
              </a:extLst>
            </p:cNvPr>
            <p:cNvSpPr txBox="1"/>
            <p:nvPr/>
          </p:nvSpPr>
          <p:spPr>
            <a:xfrm>
              <a:off x="7113640" y="2290161"/>
              <a:ext cx="1765666" cy="646331"/>
            </a:xfrm>
            <a:prstGeom prst="rect">
              <a:avLst/>
            </a:prstGeom>
            <a:noFill/>
          </p:spPr>
          <p:txBody>
            <a:bodyPr wrap="square" rtlCol="0">
              <a:spAutoFit/>
            </a:bodyPr>
            <a:lstStyle>
              <a:defPPr>
                <a:defRPr lang="en-US"/>
              </a:defPPr>
              <a:lvl1pPr>
                <a:defRPr b="1">
                  <a:latin typeface="Georgia" panose="02040502050405020303" pitchFamily="18" charset="0"/>
                </a:defRPr>
              </a:lvl1pPr>
            </a:lstStyle>
            <a:p>
              <a:pPr algn="ctr"/>
              <a:r>
                <a:rPr lang="en-US"/>
                <a:t>18,894</a:t>
              </a:r>
            </a:p>
            <a:p>
              <a:pPr algn="ctr"/>
              <a:r>
                <a:rPr lang="en-US"/>
                <a:t>TN</a:t>
              </a:r>
            </a:p>
          </p:txBody>
        </p:sp>
        <p:sp>
          <p:nvSpPr>
            <p:cNvPr id="25" name="TextBox 24">
              <a:extLst>
                <a:ext uri="{FF2B5EF4-FFF2-40B4-BE49-F238E27FC236}">
                  <a16:creationId xmlns:a16="http://schemas.microsoft.com/office/drawing/2014/main" id="{33B8813F-6ECC-A430-2E0D-6981266F47BA}"/>
                </a:ext>
              </a:extLst>
            </p:cNvPr>
            <p:cNvSpPr txBox="1"/>
            <p:nvPr/>
          </p:nvSpPr>
          <p:spPr>
            <a:xfrm>
              <a:off x="7113640" y="4286248"/>
              <a:ext cx="1765665" cy="646331"/>
            </a:xfrm>
            <a:prstGeom prst="rect">
              <a:avLst/>
            </a:prstGeom>
            <a:noFill/>
          </p:spPr>
          <p:txBody>
            <a:bodyPr wrap="square" rtlCol="0">
              <a:spAutoFit/>
            </a:bodyPr>
            <a:lstStyle>
              <a:defPPr>
                <a:defRPr lang="en-US"/>
              </a:defPPr>
              <a:lvl1pPr>
                <a:defRPr b="1">
                  <a:latin typeface="Georgia" panose="02040502050405020303" pitchFamily="18" charset="0"/>
                </a:defRPr>
              </a:lvl1pPr>
            </a:lstStyle>
            <a:p>
              <a:pPr algn="ctr"/>
              <a:r>
                <a:rPr lang="en-US"/>
                <a:t>4575</a:t>
              </a:r>
            </a:p>
            <a:p>
              <a:pPr algn="ctr"/>
              <a:r>
                <a:rPr lang="en-US"/>
                <a:t>FP</a:t>
              </a:r>
            </a:p>
          </p:txBody>
        </p:sp>
        <p:sp>
          <p:nvSpPr>
            <p:cNvPr id="26" name="TextBox 25">
              <a:extLst>
                <a:ext uri="{FF2B5EF4-FFF2-40B4-BE49-F238E27FC236}">
                  <a16:creationId xmlns:a16="http://schemas.microsoft.com/office/drawing/2014/main" id="{FD9CB7FB-F911-614D-2FA8-BA11325DC922}"/>
                </a:ext>
              </a:extLst>
            </p:cNvPr>
            <p:cNvSpPr txBox="1"/>
            <p:nvPr/>
          </p:nvSpPr>
          <p:spPr>
            <a:xfrm>
              <a:off x="9285821" y="4286248"/>
              <a:ext cx="1765666" cy="646331"/>
            </a:xfrm>
            <a:prstGeom prst="rect">
              <a:avLst/>
            </a:prstGeom>
            <a:noFill/>
          </p:spPr>
          <p:txBody>
            <a:bodyPr wrap="square" rtlCol="0">
              <a:spAutoFit/>
            </a:bodyPr>
            <a:lstStyle>
              <a:defPPr>
                <a:defRPr lang="en-US"/>
              </a:defPPr>
              <a:lvl1pPr>
                <a:defRPr b="1">
                  <a:latin typeface="Georgia" panose="02040502050405020303" pitchFamily="18" charset="0"/>
                </a:defRPr>
              </a:lvl1pPr>
            </a:lstStyle>
            <a:p>
              <a:pPr algn="ctr"/>
              <a:r>
                <a:rPr lang="en-US"/>
                <a:t>3113</a:t>
              </a:r>
            </a:p>
            <a:p>
              <a:pPr algn="ctr"/>
              <a:r>
                <a:rPr lang="en-US"/>
                <a:t>TP</a:t>
              </a:r>
            </a:p>
          </p:txBody>
        </p:sp>
        <p:sp>
          <p:nvSpPr>
            <p:cNvPr id="27" name="TextBox 26">
              <a:extLst>
                <a:ext uri="{FF2B5EF4-FFF2-40B4-BE49-F238E27FC236}">
                  <a16:creationId xmlns:a16="http://schemas.microsoft.com/office/drawing/2014/main" id="{CDEB7625-B6F3-D6AC-4AC5-7665BBFE3242}"/>
                </a:ext>
              </a:extLst>
            </p:cNvPr>
            <p:cNvSpPr txBox="1"/>
            <p:nvPr/>
          </p:nvSpPr>
          <p:spPr>
            <a:xfrm>
              <a:off x="9301372" y="2290161"/>
              <a:ext cx="1765666" cy="646331"/>
            </a:xfrm>
            <a:prstGeom prst="rect">
              <a:avLst/>
            </a:prstGeom>
            <a:noFill/>
          </p:spPr>
          <p:txBody>
            <a:bodyPr wrap="square" rtlCol="0">
              <a:spAutoFit/>
            </a:bodyPr>
            <a:lstStyle>
              <a:defPPr>
                <a:defRPr lang="en-US"/>
              </a:defPPr>
              <a:lvl1pPr>
                <a:defRPr b="1">
                  <a:latin typeface="Georgia" panose="02040502050405020303" pitchFamily="18" charset="0"/>
                </a:defRPr>
              </a:lvl1pPr>
            </a:lstStyle>
            <a:p>
              <a:pPr algn="ctr"/>
              <a:r>
                <a:rPr lang="en-US"/>
                <a:t>359</a:t>
              </a:r>
              <a:br>
                <a:rPr lang="en-US"/>
              </a:br>
              <a:r>
                <a:rPr lang="en-US"/>
                <a:t>FN</a:t>
              </a:r>
            </a:p>
          </p:txBody>
        </p:sp>
      </p:grpSp>
      <p:sp>
        <p:nvSpPr>
          <p:cNvPr id="29" name="TextBox 28">
            <a:extLst>
              <a:ext uri="{FF2B5EF4-FFF2-40B4-BE49-F238E27FC236}">
                <a16:creationId xmlns:a16="http://schemas.microsoft.com/office/drawing/2014/main" id="{57B1E1A0-B78B-2ABA-B7C1-1667D1364A41}"/>
              </a:ext>
            </a:extLst>
          </p:cNvPr>
          <p:cNvSpPr txBox="1"/>
          <p:nvPr/>
        </p:nvSpPr>
        <p:spPr>
          <a:xfrm>
            <a:off x="7188504" y="6045868"/>
            <a:ext cx="3865092" cy="646331"/>
          </a:xfrm>
          <a:prstGeom prst="rect">
            <a:avLst/>
          </a:prstGeom>
          <a:noFill/>
        </p:spPr>
        <p:txBody>
          <a:bodyPr wrap="square" rtlCol="0">
            <a:spAutoFit/>
          </a:bodyPr>
          <a:lstStyle/>
          <a:p>
            <a:pPr algn="ctr"/>
            <a:r>
              <a:rPr lang="en-US" b="1">
                <a:latin typeface="Georgia" panose="02040502050405020303" pitchFamily="18" charset="0"/>
              </a:rPr>
              <a:t>Up-sampling KNN Confusion Matrix</a:t>
            </a:r>
          </a:p>
        </p:txBody>
      </p:sp>
      <p:sp>
        <p:nvSpPr>
          <p:cNvPr id="30" name="Snip Single Corner Rectangle 29">
            <a:extLst>
              <a:ext uri="{FF2B5EF4-FFF2-40B4-BE49-F238E27FC236}">
                <a16:creationId xmlns:a16="http://schemas.microsoft.com/office/drawing/2014/main" id="{AE257138-404B-5F97-DF84-0FADCD399721}"/>
              </a:ext>
            </a:extLst>
          </p:cNvPr>
          <p:cNvSpPr/>
          <p:nvPr/>
        </p:nvSpPr>
        <p:spPr>
          <a:xfrm>
            <a:off x="0" y="0"/>
            <a:ext cx="3390900" cy="365125"/>
          </a:xfrm>
          <a:prstGeom prst="snip1Rect">
            <a:avLst/>
          </a:prstGeom>
          <a:solidFill>
            <a:srgbClr val="FED6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Georgia" panose="02040502050405020303" pitchFamily="18" charset="0"/>
              </a:rPr>
              <a:t>Next Steps</a:t>
            </a:r>
          </a:p>
        </p:txBody>
      </p:sp>
      <p:grpSp>
        <p:nvGrpSpPr>
          <p:cNvPr id="40" name="Group 39">
            <a:extLst>
              <a:ext uri="{FF2B5EF4-FFF2-40B4-BE49-F238E27FC236}">
                <a16:creationId xmlns:a16="http://schemas.microsoft.com/office/drawing/2014/main" id="{B912D83A-D451-29B8-BB3C-62EF921F5887}"/>
              </a:ext>
            </a:extLst>
          </p:cNvPr>
          <p:cNvGrpSpPr/>
          <p:nvPr/>
        </p:nvGrpSpPr>
        <p:grpSpPr>
          <a:xfrm>
            <a:off x="746418" y="1950344"/>
            <a:ext cx="5102803" cy="3808262"/>
            <a:chOff x="746418" y="2257623"/>
            <a:chExt cx="5102803" cy="3808262"/>
          </a:xfrm>
        </p:grpSpPr>
        <p:pic>
          <p:nvPicPr>
            <p:cNvPr id="10" name="Graphic 9" descr="Checkmark with solid fill">
              <a:extLst>
                <a:ext uri="{FF2B5EF4-FFF2-40B4-BE49-F238E27FC236}">
                  <a16:creationId xmlns:a16="http://schemas.microsoft.com/office/drawing/2014/main" id="{6C2B7A28-3414-D0D0-42CE-6B9A4673D3F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15443" y="2257623"/>
              <a:ext cx="914400" cy="914400"/>
            </a:xfrm>
            <a:prstGeom prst="rect">
              <a:avLst/>
            </a:prstGeom>
          </p:spPr>
        </p:pic>
        <p:pic>
          <p:nvPicPr>
            <p:cNvPr id="12" name="Graphic 11" descr="Close with solid fill">
              <a:extLst>
                <a:ext uri="{FF2B5EF4-FFF2-40B4-BE49-F238E27FC236}">
                  <a16:creationId xmlns:a16="http://schemas.microsoft.com/office/drawing/2014/main" id="{D787664A-EE17-67CF-AEE6-CEFB67F8BED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46418" y="3685978"/>
              <a:ext cx="914400" cy="914400"/>
            </a:xfrm>
            <a:prstGeom prst="rect">
              <a:avLst/>
            </a:prstGeom>
          </p:spPr>
        </p:pic>
        <p:sp>
          <p:nvSpPr>
            <p:cNvPr id="31" name="TextBox 30">
              <a:extLst>
                <a:ext uri="{FF2B5EF4-FFF2-40B4-BE49-F238E27FC236}">
                  <a16:creationId xmlns:a16="http://schemas.microsoft.com/office/drawing/2014/main" id="{9A238B2B-5B38-BDA7-8033-2F99BC0266DA}"/>
                </a:ext>
              </a:extLst>
            </p:cNvPr>
            <p:cNvSpPr txBox="1"/>
            <p:nvPr/>
          </p:nvSpPr>
          <p:spPr>
            <a:xfrm>
              <a:off x="1999116" y="2260470"/>
              <a:ext cx="3850105" cy="1077218"/>
            </a:xfrm>
            <a:prstGeom prst="rect">
              <a:avLst/>
            </a:prstGeom>
            <a:noFill/>
          </p:spPr>
          <p:txBody>
            <a:bodyPr wrap="square" lIns="91440" tIns="45720" rIns="91440" bIns="45720" rtlCol="0" anchor="t">
              <a:spAutoFit/>
            </a:bodyPr>
            <a:lstStyle/>
            <a:p>
              <a:r>
                <a:rPr lang="en-US" sz="1600">
                  <a:latin typeface="Georgia"/>
                </a:rPr>
                <a:t>Our selected model, KNN, has high recall, F1, AUC  and </a:t>
              </a:r>
              <a:r>
                <a:rPr lang="en-US" sz="1600" b="1">
                  <a:latin typeface="Georgia"/>
                </a:rPr>
                <a:t>less Type II error,</a:t>
              </a:r>
              <a:r>
                <a:rPr lang="en-US" sz="1600">
                  <a:latin typeface="Georgia"/>
                </a:rPr>
                <a:t> with sensitivity and recall at 89.7%</a:t>
              </a:r>
            </a:p>
          </p:txBody>
        </p:sp>
        <p:sp>
          <p:nvSpPr>
            <p:cNvPr id="32" name="TextBox 31">
              <a:extLst>
                <a:ext uri="{FF2B5EF4-FFF2-40B4-BE49-F238E27FC236}">
                  <a16:creationId xmlns:a16="http://schemas.microsoft.com/office/drawing/2014/main" id="{EF024B7B-55FF-703A-2089-83643F7034D8}"/>
                </a:ext>
              </a:extLst>
            </p:cNvPr>
            <p:cNvSpPr txBox="1"/>
            <p:nvPr/>
          </p:nvSpPr>
          <p:spPr>
            <a:xfrm>
              <a:off x="1959543" y="3733778"/>
              <a:ext cx="3850105" cy="830997"/>
            </a:xfrm>
            <a:prstGeom prst="rect">
              <a:avLst/>
            </a:prstGeom>
            <a:noFill/>
          </p:spPr>
          <p:txBody>
            <a:bodyPr wrap="square" lIns="91440" tIns="45720" rIns="91440" bIns="45720" rtlCol="0" anchor="t">
              <a:spAutoFit/>
            </a:bodyPr>
            <a:lstStyle/>
            <a:p>
              <a:r>
                <a:rPr lang="en-US" sz="1600" b="1">
                  <a:latin typeface="Georgia"/>
                </a:rPr>
                <a:t>KNN has high Type I error.</a:t>
              </a:r>
              <a:r>
                <a:rPr lang="en-US" sz="1600">
                  <a:latin typeface="Georgia"/>
                </a:rPr>
                <a:t> Only 40.5 % of the correctly predicted cases are actually positive. </a:t>
              </a:r>
            </a:p>
          </p:txBody>
        </p:sp>
        <p:pic>
          <p:nvPicPr>
            <p:cNvPr id="34" name="Graphic 33" descr="Shoe footprints with solid fill">
              <a:extLst>
                <a:ext uri="{FF2B5EF4-FFF2-40B4-BE49-F238E27FC236}">
                  <a16:creationId xmlns:a16="http://schemas.microsoft.com/office/drawing/2014/main" id="{1D0F0FF6-63F5-A855-95DA-F05E3F488CE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15443" y="5151485"/>
              <a:ext cx="914400" cy="914400"/>
            </a:xfrm>
            <a:prstGeom prst="rect">
              <a:avLst/>
            </a:prstGeom>
          </p:spPr>
        </p:pic>
        <p:sp>
          <p:nvSpPr>
            <p:cNvPr id="35" name="TextBox 34">
              <a:extLst>
                <a:ext uri="{FF2B5EF4-FFF2-40B4-BE49-F238E27FC236}">
                  <a16:creationId xmlns:a16="http://schemas.microsoft.com/office/drawing/2014/main" id="{320EE52A-BAEB-6E1B-11CB-E14FCBBF1F6C}"/>
                </a:ext>
              </a:extLst>
            </p:cNvPr>
            <p:cNvSpPr txBox="1"/>
            <p:nvPr/>
          </p:nvSpPr>
          <p:spPr>
            <a:xfrm>
              <a:off x="1999116" y="5195623"/>
              <a:ext cx="3850105" cy="830997"/>
            </a:xfrm>
            <a:prstGeom prst="rect">
              <a:avLst/>
            </a:prstGeom>
            <a:noFill/>
          </p:spPr>
          <p:txBody>
            <a:bodyPr wrap="square" rtlCol="0">
              <a:spAutoFit/>
            </a:bodyPr>
            <a:lstStyle/>
            <a:p>
              <a:r>
                <a:rPr lang="en-US" sz="1600">
                  <a:latin typeface="Georgia" panose="02040502050405020303" pitchFamily="18" charset="0"/>
                </a:rPr>
                <a:t>Further transformation using logs or other models may improve our precision. </a:t>
              </a:r>
            </a:p>
          </p:txBody>
        </p:sp>
      </p:grpSp>
      <p:sp>
        <p:nvSpPr>
          <p:cNvPr id="39" name="Rectangle 38">
            <a:extLst>
              <a:ext uri="{FF2B5EF4-FFF2-40B4-BE49-F238E27FC236}">
                <a16:creationId xmlns:a16="http://schemas.microsoft.com/office/drawing/2014/main" id="{B9DFEA6E-6B9B-7F2D-0C41-B004D848FA60}"/>
              </a:ext>
            </a:extLst>
          </p:cNvPr>
          <p:cNvSpPr/>
          <p:nvPr/>
        </p:nvSpPr>
        <p:spPr>
          <a:xfrm>
            <a:off x="-1" y="6033940"/>
            <a:ext cx="6495855" cy="735798"/>
          </a:xfrm>
          <a:prstGeom prst="rect">
            <a:avLst/>
          </a:prstGeom>
          <a:solidFill>
            <a:srgbClr val="FED6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707F515E-E2D9-A284-1E23-D1B7E035CCE1}"/>
              </a:ext>
            </a:extLst>
          </p:cNvPr>
          <p:cNvSpPr txBox="1"/>
          <p:nvPr/>
        </p:nvSpPr>
        <p:spPr>
          <a:xfrm>
            <a:off x="20322" y="6112785"/>
            <a:ext cx="6592367" cy="584775"/>
          </a:xfrm>
          <a:prstGeom prst="rect">
            <a:avLst/>
          </a:prstGeom>
          <a:noFill/>
        </p:spPr>
        <p:txBody>
          <a:bodyPr wrap="square">
            <a:spAutoFit/>
          </a:bodyPr>
          <a:lstStyle/>
          <a:p>
            <a:r>
              <a:rPr lang="en-US" sz="1600">
                <a:latin typeface="Georgia" panose="02040502050405020303" pitchFamily="18" charset="0"/>
              </a:rPr>
              <a:t>It’s critical to avoid misclassification so as not to </a:t>
            </a:r>
            <a:r>
              <a:rPr lang="en-US" sz="1600" b="1">
                <a:latin typeface="Georgia" panose="02040502050405020303" pitchFamily="18" charset="0"/>
              </a:rPr>
              <a:t>overwhelm the healthcare system </a:t>
            </a:r>
            <a:r>
              <a:rPr lang="en-US" sz="1600">
                <a:latin typeface="Georgia" panose="02040502050405020303" pitchFamily="18" charset="0"/>
              </a:rPr>
              <a:t>or </a:t>
            </a:r>
            <a:r>
              <a:rPr lang="en-US" sz="1600" b="1">
                <a:latin typeface="Georgia" panose="02040502050405020303" pitchFamily="18" charset="0"/>
              </a:rPr>
              <a:t>spend additional funds unnecessarily</a:t>
            </a:r>
            <a:r>
              <a:rPr lang="en-US" sz="1600">
                <a:latin typeface="Georgia" panose="02040502050405020303" pitchFamily="18" charset="0"/>
              </a:rPr>
              <a:t>. </a:t>
            </a:r>
            <a:endParaRPr lang="en-US" sz="1600"/>
          </a:p>
        </p:txBody>
      </p:sp>
    </p:spTree>
    <p:extLst>
      <p:ext uri="{BB962C8B-B14F-4D97-AF65-F5344CB8AC3E}">
        <p14:creationId xmlns:p14="http://schemas.microsoft.com/office/powerpoint/2010/main" val="6213417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80B4D07-9D43-EB0D-D00B-CE282803EFEA}"/>
              </a:ext>
            </a:extLst>
          </p:cNvPr>
          <p:cNvSpPr/>
          <p:nvPr/>
        </p:nvSpPr>
        <p:spPr>
          <a:xfrm>
            <a:off x="0" y="-38100"/>
            <a:ext cx="12192000" cy="6896100"/>
          </a:xfrm>
          <a:prstGeom prst="rect">
            <a:avLst/>
          </a:prstGeom>
          <a:solidFill>
            <a:srgbClr val="FED66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9" name="Rectangle 8">
            <a:extLst>
              <a:ext uri="{FF2B5EF4-FFF2-40B4-BE49-F238E27FC236}">
                <a16:creationId xmlns:a16="http://schemas.microsoft.com/office/drawing/2014/main" id="{DA1695CE-6A6A-21FB-687F-68C6B231720F}"/>
              </a:ext>
            </a:extLst>
          </p:cNvPr>
          <p:cNvSpPr/>
          <p:nvPr/>
        </p:nvSpPr>
        <p:spPr>
          <a:xfrm>
            <a:off x="466725" y="2258218"/>
            <a:ext cx="11258550" cy="2000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841DAA-1AF9-17FB-6FEF-9C16A28D4FEC}"/>
              </a:ext>
            </a:extLst>
          </p:cNvPr>
          <p:cNvSpPr>
            <a:spLocks noGrp="1"/>
          </p:cNvSpPr>
          <p:nvPr>
            <p:ph type="title"/>
          </p:nvPr>
        </p:nvSpPr>
        <p:spPr>
          <a:xfrm>
            <a:off x="838200" y="2595562"/>
            <a:ext cx="10515600" cy="1325563"/>
          </a:xfrm>
        </p:spPr>
        <p:txBody>
          <a:bodyPr>
            <a:normAutofit/>
          </a:bodyPr>
          <a:lstStyle/>
          <a:p>
            <a:pPr algn="ctr"/>
            <a:r>
              <a:rPr lang="en-US">
                <a:latin typeface="Georgia" panose="02040502050405020303" pitchFamily="18" charset="0"/>
                <a:ea typeface="+mj-lt"/>
                <a:cs typeface="+mj-lt"/>
              </a:rPr>
              <a:t>Thank you!</a:t>
            </a:r>
            <a:endParaRPr lang="en-US">
              <a:latin typeface="Georgia" panose="02040502050405020303" pitchFamily="18" charset="0"/>
            </a:endParaRPr>
          </a:p>
        </p:txBody>
      </p:sp>
    </p:spTree>
    <p:extLst>
      <p:ext uri="{BB962C8B-B14F-4D97-AF65-F5344CB8AC3E}">
        <p14:creationId xmlns:p14="http://schemas.microsoft.com/office/powerpoint/2010/main" val="23233469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F51FB-8ECB-058A-FC78-9F37E841FE38}"/>
              </a:ext>
            </a:extLst>
          </p:cNvPr>
          <p:cNvSpPr>
            <a:spLocks noGrp="1"/>
          </p:cNvSpPr>
          <p:nvPr>
            <p:ph type="title"/>
          </p:nvPr>
        </p:nvSpPr>
        <p:spPr/>
        <p:txBody>
          <a:bodyPr/>
          <a:lstStyle/>
          <a:p>
            <a:r>
              <a:rPr lang="en-US">
                <a:latin typeface="Georgia" panose="02040502050405020303" pitchFamily="18" charset="0"/>
                <a:cs typeface="Geeza Pro" panose="02000400000000000000" pitchFamily="2" charset="-78"/>
              </a:rPr>
              <a:t>Citations</a:t>
            </a:r>
          </a:p>
        </p:txBody>
      </p:sp>
      <p:sp>
        <p:nvSpPr>
          <p:cNvPr id="3" name="Content Placeholder 2">
            <a:extLst>
              <a:ext uri="{FF2B5EF4-FFF2-40B4-BE49-F238E27FC236}">
                <a16:creationId xmlns:a16="http://schemas.microsoft.com/office/drawing/2014/main" id="{304B806D-84C5-C887-CA2F-A0F339658E4A}"/>
              </a:ext>
            </a:extLst>
          </p:cNvPr>
          <p:cNvSpPr>
            <a:spLocks noGrp="1"/>
          </p:cNvSpPr>
          <p:nvPr>
            <p:ph idx="1"/>
          </p:nvPr>
        </p:nvSpPr>
        <p:spPr>
          <a:xfrm>
            <a:off x="838200" y="1422400"/>
            <a:ext cx="10515600" cy="4890030"/>
          </a:xfrm>
        </p:spPr>
        <p:txBody>
          <a:bodyPr vert="horz" lIns="91440" tIns="45720" rIns="91440" bIns="45720" rtlCol="0" anchor="t">
            <a:normAutofit fontScale="62500" lnSpcReduction="20000"/>
          </a:bodyPr>
          <a:lstStyle/>
          <a:p>
            <a:pPr marL="0" marR="0" indent="0">
              <a:lnSpc>
                <a:spcPct val="103000"/>
              </a:lnSpc>
              <a:spcBef>
                <a:spcPts val="0"/>
              </a:spcBef>
              <a:spcAft>
                <a:spcPts val="155"/>
              </a:spcAft>
              <a:buNone/>
            </a:pPr>
            <a:r>
              <a:rPr lang="en-US" sz="1800">
                <a:effectLst/>
                <a:latin typeface="Arial Nova" panose="020B0504020202020204" pitchFamily="34" charset="0"/>
                <a:ea typeface="Arial Nova" panose="020B0504020202020204" pitchFamily="34" charset="0"/>
                <a:cs typeface="Arial Nova" panose="020B0504020202020204" pitchFamily="34" charset="0"/>
              </a:rPr>
              <a:t>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3000"/>
              </a:lnSpc>
              <a:spcBef>
                <a:spcPts val="0"/>
              </a:spcBef>
              <a:spcAft>
                <a:spcPts val="155"/>
              </a:spcAft>
              <a:buNone/>
            </a:pPr>
            <a:r>
              <a:rPr lang="en-US" sz="1800">
                <a:effectLst/>
                <a:latin typeface="Arial Nova" panose="020B0504020202020204" pitchFamily="34" charset="0"/>
                <a:ea typeface="Arial Nova" panose="020B0504020202020204" pitchFamily="34" charset="0"/>
                <a:cs typeface="Arial Nova" panose="020B0504020202020204" pitchFamily="34" charset="0"/>
              </a:rPr>
              <a:t>Type 2 Diabetes | CDC </a:t>
            </a:r>
            <a:r>
              <a:rPr lang="en-US" sz="1800" u="sng">
                <a:solidFill>
                  <a:srgbClr val="0563C1"/>
                </a:solidFill>
                <a:effectLst/>
                <a:latin typeface="Arial Nova" panose="020B0504020202020204" pitchFamily="34" charset="0"/>
                <a:ea typeface="Arial Nova" panose="020B0504020202020204" pitchFamily="34" charset="0"/>
                <a:cs typeface="Arial Nova" panose="020B0504020202020204" pitchFamily="34" charset="0"/>
                <a:hlinkClick r:id="rId2"/>
              </a:rPr>
              <a:t>https://www.cdc.gov/diabetes/basics/type2.html#:~:text=Healthy%20eating%20is%20your%20recipe,adults%20are%20also%20developing%20it</a:t>
            </a:r>
            <a:r>
              <a:rPr lang="en-US" sz="1800">
                <a:effectLst/>
                <a:latin typeface="Arial Nova" panose="020B0504020202020204" pitchFamily="34" charset="0"/>
                <a:ea typeface="Arial Nova" panose="020B0504020202020204" pitchFamily="34" charset="0"/>
                <a:cs typeface="Arial Nova" panose="020B0504020202020204" pitchFamily="34" charset="0"/>
              </a:rPr>
              <a:t>.</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3000"/>
              </a:lnSpc>
              <a:spcBef>
                <a:spcPts val="0"/>
              </a:spcBef>
              <a:spcAft>
                <a:spcPts val="155"/>
              </a:spcAft>
              <a:buNone/>
            </a:pPr>
            <a:r>
              <a:rPr lang="en-US" sz="1800">
                <a:effectLst/>
                <a:latin typeface="Arial Nova" panose="020B0504020202020204" pitchFamily="34" charset="0"/>
                <a:ea typeface="Arial Nova" panose="020B0504020202020204" pitchFamily="34" charset="0"/>
                <a:cs typeface="Arial Nova" panose="020B0504020202020204" pitchFamily="34" charset="0"/>
              </a:rPr>
              <a:t>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3000"/>
              </a:lnSpc>
              <a:spcBef>
                <a:spcPts val="0"/>
              </a:spcBef>
              <a:spcAft>
                <a:spcPts val="155"/>
              </a:spcAft>
              <a:buNone/>
            </a:pPr>
            <a:r>
              <a:rPr lang="en-US" sz="1800">
                <a:effectLst/>
                <a:latin typeface="Arial Nova" panose="020B0504020202020204" pitchFamily="34" charset="0"/>
                <a:ea typeface="Arial Nova" panose="020B0504020202020204" pitchFamily="34" charset="0"/>
                <a:cs typeface="Arial Nova" panose="020B0504020202020204" pitchFamily="34" charset="0"/>
              </a:rPr>
              <a:t>The Cost of Diabetes | ADA</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3000"/>
              </a:lnSpc>
              <a:spcBef>
                <a:spcPts val="0"/>
              </a:spcBef>
              <a:spcAft>
                <a:spcPts val="155"/>
              </a:spcAft>
              <a:buNone/>
            </a:pPr>
            <a:r>
              <a:rPr lang="en-US" sz="1800" u="sng">
                <a:solidFill>
                  <a:srgbClr val="0563C1"/>
                </a:solidFill>
                <a:effectLst/>
                <a:latin typeface="Arial Nova" panose="020B0504020202020204" pitchFamily="34" charset="0"/>
                <a:ea typeface="Arial Nova" panose="020B0504020202020204" pitchFamily="34" charset="0"/>
                <a:cs typeface="Arial Nova" panose="020B0504020202020204" pitchFamily="34" charset="0"/>
                <a:hlinkClick r:id="rId3"/>
              </a:rPr>
              <a:t>https://diabetes.org/about-us/statistics/cost-diabetes#:~:text=People%20with%20diagnosed%20diabetes%20incur,in%20the%20absence%20of%20diabetes</a:t>
            </a:r>
            <a:r>
              <a:rPr lang="en-US" sz="1800">
                <a:effectLst/>
                <a:latin typeface="Arial Nova" panose="020B0504020202020204" pitchFamily="34" charset="0"/>
                <a:ea typeface="Arial Nova" panose="020B0504020202020204" pitchFamily="34" charset="0"/>
                <a:cs typeface="Arial Nova" panose="020B0504020202020204" pitchFamily="34" charset="0"/>
              </a:rPr>
              <a:t>.</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3000"/>
              </a:lnSpc>
              <a:spcBef>
                <a:spcPts val="0"/>
              </a:spcBef>
              <a:spcAft>
                <a:spcPts val="155"/>
              </a:spcAft>
              <a:buNone/>
            </a:pPr>
            <a:r>
              <a:rPr lang="en-US" sz="1800">
                <a:effectLst/>
                <a:latin typeface="Arial Nova" panose="020B0504020202020204" pitchFamily="34" charset="0"/>
                <a:ea typeface="Arial Nova" panose="020B0504020202020204" pitchFamily="34" charset="0"/>
                <a:cs typeface="Arial Nova" panose="020B0504020202020204" pitchFamily="34" charset="0"/>
              </a:rPr>
              <a:t>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US" sz="1800">
                <a:effectLst/>
                <a:latin typeface="Arial Nova" panose="020B0504020202020204" pitchFamily="34" charset="0"/>
                <a:ea typeface="Arial Nova" panose="020B0504020202020204" pitchFamily="34" charset="0"/>
                <a:cs typeface="Arial Nova" panose="020B0504020202020204" pitchFamily="34" charset="0"/>
              </a:rPr>
              <a:t>CDC - 2021 BRFSS Survey Data and Documentation</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US" sz="1800" u="sng">
                <a:solidFill>
                  <a:srgbClr val="0563C1"/>
                </a:solidFill>
                <a:effectLst/>
                <a:latin typeface="Arial Nova" panose="020B0504020202020204" pitchFamily="34" charset="0"/>
                <a:ea typeface="Arial Nova" panose="020B0504020202020204" pitchFamily="34" charset="0"/>
                <a:cs typeface="Arial Nova" panose="020B0504020202020204" pitchFamily="34" charset="0"/>
              </a:rPr>
              <a:t>https://</a:t>
            </a:r>
            <a:r>
              <a:rPr lang="en-US" sz="1800" u="sng" err="1">
                <a:solidFill>
                  <a:srgbClr val="0563C1"/>
                </a:solidFill>
                <a:effectLst/>
                <a:latin typeface="Arial Nova" panose="020B0504020202020204" pitchFamily="34" charset="0"/>
                <a:ea typeface="Arial Nova" panose="020B0504020202020204" pitchFamily="34" charset="0"/>
                <a:cs typeface="Arial Nova" panose="020B0504020202020204" pitchFamily="34" charset="0"/>
              </a:rPr>
              <a:t>www.cdc.gov</a:t>
            </a:r>
            <a:r>
              <a:rPr lang="en-US" sz="1800" u="sng">
                <a:solidFill>
                  <a:srgbClr val="0563C1"/>
                </a:solidFill>
                <a:effectLst/>
                <a:latin typeface="Arial Nova" panose="020B0504020202020204" pitchFamily="34" charset="0"/>
                <a:ea typeface="Arial Nova" panose="020B0504020202020204" pitchFamily="34" charset="0"/>
                <a:cs typeface="Arial Nova" panose="020B0504020202020204" pitchFamily="34" charset="0"/>
              </a:rPr>
              <a:t>/</a:t>
            </a:r>
            <a:r>
              <a:rPr lang="en-US" sz="1800" u="sng" err="1">
                <a:solidFill>
                  <a:srgbClr val="0563C1"/>
                </a:solidFill>
                <a:effectLst/>
                <a:latin typeface="Arial Nova" panose="020B0504020202020204" pitchFamily="34" charset="0"/>
                <a:ea typeface="Arial Nova" panose="020B0504020202020204" pitchFamily="34" charset="0"/>
                <a:cs typeface="Arial Nova" panose="020B0504020202020204" pitchFamily="34" charset="0"/>
              </a:rPr>
              <a:t>brfss</a:t>
            </a:r>
            <a:r>
              <a:rPr lang="en-US" sz="1800" u="sng">
                <a:solidFill>
                  <a:srgbClr val="0563C1"/>
                </a:solidFill>
                <a:effectLst/>
                <a:latin typeface="Arial Nova" panose="020B0504020202020204" pitchFamily="34" charset="0"/>
                <a:ea typeface="Arial Nova" panose="020B0504020202020204" pitchFamily="34" charset="0"/>
                <a:cs typeface="Arial Nova" panose="020B0504020202020204" pitchFamily="34" charset="0"/>
              </a:rPr>
              <a:t>/</a:t>
            </a:r>
            <a:r>
              <a:rPr lang="en-US" sz="1800" u="sng" err="1">
                <a:solidFill>
                  <a:srgbClr val="0563C1"/>
                </a:solidFill>
                <a:effectLst/>
                <a:latin typeface="Arial Nova" panose="020B0504020202020204" pitchFamily="34" charset="0"/>
                <a:ea typeface="Arial Nova" panose="020B0504020202020204" pitchFamily="34" charset="0"/>
                <a:cs typeface="Arial Nova" panose="020B0504020202020204" pitchFamily="34" charset="0"/>
              </a:rPr>
              <a:t>annual_data</a:t>
            </a:r>
            <a:r>
              <a:rPr lang="en-US" sz="1800" u="sng">
                <a:solidFill>
                  <a:srgbClr val="0563C1"/>
                </a:solidFill>
                <a:effectLst/>
                <a:latin typeface="Arial Nova" panose="020B0504020202020204" pitchFamily="34" charset="0"/>
                <a:ea typeface="Arial Nova" panose="020B0504020202020204" pitchFamily="34" charset="0"/>
                <a:cs typeface="Arial Nova" panose="020B0504020202020204" pitchFamily="34" charset="0"/>
              </a:rPr>
              <a:t>/annual_2021.html</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US" sz="1800" u="none" strike="noStrike">
                <a:solidFill>
                  <a:srgbClr val="0563C1"/>
                </a:solidFill>
                <a:effectLst/>
                <a:latin typeface="Arial Nova" panose="020B0504020202020204" pitchFamily="34" charset="0"/>
                <a:ea typeface="Arial Nova" panose="020B0504020202020204" pitchFamily="34" charset="0"/>
                <a:cs typeface="Arial Nova" panose="020B0504020202020204" pitchFamily="34" charset="0"/>
              </a:rPr>
              <a:t>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US" sz="1800">
                <a:effectLst/>
                <a:latin typeface="Arial Nova" panose="020B0504020202020204" pitchFamily="34" charset="0"/>
                <a:ea typeface="Arial Nova" panose="020B0504020202020204" pitchFamily="34" charset="0"/>
                <a:cs typeface="Arial Nova" panose="020B0504020202020204" pitchFamily="34" charset="0"/>
              </a:rPr>
              <a:t>Cost-of-living index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US" sz="1800" u="sng">
                <a:solidFill>
                  <a:srgbClr val="0563C1"/>
                </a:solidFill>
                <a:effectLst/>
                <a:latin typeface="Arial Nova" panose="020B0504020202020204" pitchFamily="34" charset="0"/>
                <a:ea typeface="Arial Nova" panose="020B0504020202020204" pitchFamily="34" charset="0"/>
                <a:cs typeface="Arial Nova" panose="020B0504020202020204" pitchFamily="34" charset="0"/>
                <a:hlinkClick r:id="rId4"/>
              </a:rPr>
              <a:t>https://meric.mo.gov/data/cost-living-data-series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US" sz="1800">
                <a:effectLst/>
                <a:latin typeface="Arial Nova" panose="020B0504020202020204" pitchFamily="34" charset="0"/>
                <a:ea typeface="Arial Nova" panose="020B0504020202020204" pitchFamily="34" charset="0"/>
                <a:cs typeface="Arial Nova" panose="020B0504020202020204" pitchFamily="34" charset="0"/>
              </a:rPr>
              <a:t>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US" sz="1800">
                <a:effectLst/>
                <a:latin typeface="Arial Nova" panose="020B0504020202020204" pitchFamily="34" charset="0"/>
                <a:ea typeface="Arial Nova" panose="020B0504020202020204" pitchFamily="34" charset="0"/>
                <a:cs typeface="Arial Nova" panose="020B0504020202020204" pitchFamily="34" charset="0"/>
              </a:rPr>
              <a:t>UP Population by State</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US" sz="1800" u="sng">
                <a:solidFill>
                  <a:srgbClr val="0563C1"/>
                </a:solidFill>
                <a:effectLst/>
                <a:latin typeface="Arial Nova" panose="020B0504020202020204" pitchFamily="34" charset="0"/>
                <a:ea typeface="Arial Nova" panose="020B0504020202020204" pitchFamily="34" charset="0"/>
                <a:cs typeface="Arial Nova" panose="020B0504020202020204" pitchFamily="34" charset="0"/>
                <a:hlinkClick r:id="rId5"/>
              </a:rPr>
              <a:t>https://worldpopulationreview.com/states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US" sz="1800">
                <a:effectLst/>
                <a:latin typeface="Arial Nova" panose="020B0504020202020204" pitchFamily="34" charset="0"/>
                <a:ea typeface="Arial Nova" panose="020B0504020202020204" pitchFamily="34" charset="0"/>
                <a:cs typeface="Arial Nova" panose="020B0504020202020204" pitchFamily="34" charset="0"/>
              </a:rPr>
              <a:t>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3000"/>
              </a:lnSpc>
              <a:spcBef>
                <a:spcPts val="0"/>
              </a:spcBef>
              <a:spcAft>
                <a:spcPts val="155"/>
              </a:spcAft>
              <a:buNone/>
            </a:pPr>
            <a:r>
              <a:rPr lang="en-US" sz="1800">
                <a:effectLst/>
                <a:latin typeface="Arial Nova" panose="020B0504020202020204" pitchFamily="34" charset="0"/>
                <a:ea typeface="Arial Nova" panose="020B0504020202020204" pitchFamily="34" charset="0"/>
                <a:cs typeface="Arial Nova" panose="020B0504020202020204" pitchFamily="34" charset="0"/>
              </a:rPr>
              <a:t>Social Determinants of Health and Diabetes: A Scientific Review</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0"/>
              </a:spcBef>
              <a:spcAft>
                <a:spcPts val="0"/>
              </a:spcAft>
              <a:buNone/>
            </a:pPr>
            <a:r>
              <a:rPr lang="en-US" sz="1800">
                <a:solidFill>
                  <a:srgbClr val="212121"/>
                </a:solidFill>
                <a:effectLst/>
                <a:latin typeface="Arial Nova" panose="020B0504020202020204" pitchFamily="34" charset="0"/>
                <a:ea typeface="Arial Nova" panose="020B0504020202020204" pitchFamily="34" charset="0"/>
                <a:cs typeface="Arial Nova" panose="020B0504020202020204" pitchFamily="34" charset="0"/>
              </a:rPr>
              <a:t>Hill-Briggs, Felicia et al. “Social Determinants of Health and Diabetes: A Scientific Review.” </a:t>
            </a:r>
            <a:r>
              <a:rPr lang="en-US" sz="1800" i="1">
                <a:solidFill>
                  <a:srgbClr val="212121"/>
                </a:solidFill>
                <a:effectLst/>
                <a:latin typeface="Arial Nova" panose="020B0504020202020204" pitchFamily="34" charset="0"/>
                <a:ea typeface="Arial Nova" panose="020B0504020202020204" pitchFamily="34" charset="0"/>
                <a:cs typeface="Arial Nova" panose="020B0504020202020204" pitchFamily="34" charset="0"/>
              </a:rPr>
              <a:t>Diabetes care</a:t>
            </a:r>
            <a:r>
              <a:rPr lang="en-US" sz="1800">
                <a:solidFill>
                  <a:srgbClr val="212121"/>
                </a:solidFill>
                <a:effectLst/>
                <a:latin typeface="Arial Nova" panose="020B0504020202020204" pitchFamily="34" charset="0"/>
                <a:ea typeface="Arial Nova" panose="020B0504020202020204" pitchFamily="34" charset="0"/>
                <a:cs typeface="Arial Nova" panose="020B0504020202020204" pitchFamily="34" charset="0"/>
              </a:rPr>
              <a:t>, vol. 44,1 258–279. 2 Nov. 2020, doi:10.2337/dci20-0053, </a:t>
            </a:r>
            <a:r>
              <a:rPr lang="en-US" sz="1800" u="sng">
                <a:solidFill>
                  <a:srgbClr val="0563C1"/>
                </a:solidFill>
                <a:effectLst/>
                <a:latin typeface="Arial Nova" panose="020B0504020202020204" pitchFamily="34" charset="0"/>
                <a:ea typeface="Arial Nova" panose="020B0504020202020204" pitchFamily="34" charset="0"/>
                <a:cs typeface="Arial Nova" panose="020B0504020202020204" pitchFamily="34" charset="0"/>
                <a:hlinkClick r:id="rId6"/>
              </a:rPr>
              <a:t>https://pubmed.ncbi.nlm.nih.gov/33139407/</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3000"/>
              </a:lnSpc>
              <a:spcBef>
                <a:spcPts val="0"/>
              </a:spcBef>
              <a:spcAft>
                <a:spcPts val="155"/>
              </a:spcAft>
              <a:buNone/>
            </a:pPr>
            <a:r>
              <a:rPr lang="en-US" sz="1800">
                <a:effectLst/>
                <a:latin typeface="Arial Nova" panose="020B0504020202020204" pitchFamily="34" charset="0"/>
                <a:ea typeface="Arial Nova" panose="020B0504020202020204" pitchFamily="34" charset="0"/>
                <a:cs typeface="Arial Nova" panose="020B0504020202020204" pitchFamily="34" charset="0"/>
              </a:rPr>
              <a:t>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3000"/>
              </a:lnSpc>
              <a:spcBef>
                <a:spcPts val="0"/>
              </a:spcBef>
              <a:spcAft>
                <a:spcPts val="155"/>
              </a:spcAft>
              <a:buNone/>
            </a:pPr>
            <a:r>
              <a:rPr lang="en-US" sz="1800">
                <a:effectLst/>
                <a:latin typeface="Arial Nova" panose="020B0504020202020204" pitchFamily="34" charset="0"/>
                <a:ea typeface="Arial Nova" panose="020B0504020202020204" pitchFamily="34" charset="0"/>
                <a:cs typeface="Arial Nova" panose="020B0504020202020204" pitchFamily="34" charset="0"/>
              </a:rPr>
              <a:t>Epidemiology of Diabetes and Diabetes-Related Complications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0"/>
              </a:spcBef>
              <a:spcAft>
                <a:spcPts val="0"/>
              </a:spcAft>
              <a:buNone/>
            </a:pPr>
            <a:r>
              <a:rPr lang="en-US" sz="1800">
                <a:effectLst/>
                <a:latin typeface="Arial Nova" panose="020B0504020202020204" pitchFamily="34" charset="0"/>
                <a:ea typeface="Arial Nova" panose="020B0504020202020204" pitchFamily="34" charset="0"/>
                <a:cs typeface="Arial Nova" panose="020B0504020202020204" pitchFamily="34" charset="0"/>
              </a:rPr>
              <a:t>Deshpande, Anjali D. " Epidemiology of Diabetes and Diabetes-Related Complications."</a:t>
            </a:r>
            <a:r>
              <a:rPr lang="en-US" sz="1800" i="1">
                <a:solidFill>
                  <a:srgbClr val="2A2A2A"/>
                </a:solidFill>
                <a:effectLst/>
                <a:latin typeface="Arial Nova" panose="020B0504020202020204" pitchFamily="34" charset="0"/>
                <a:ea typeface="Arial Nova" panose="020B0504020202020204" pitchFamily="34" charset="0"/>
                <a:cs typeface="Arial Nova" panose="020B0504020202020204" pitchFamily="34" charset="0"/>
              </a:rPr>
              <a:t> Physical Therapy</a:t>
            </a:r>
            <a:r>
              <a:rPr lang="en-US" sz="1800">
                <a:solidFill>
                  <a:srgbClr val="2A2A2A"/>
                </a:solidFill>
                <a:effectLst/>
                <a:latin typeface="Arial Nova" panose="020B0504020202020204" pitchFamily="34" charset="0"/>
                <a:ea typeface="Arial Nova" panose="020B0504020202020204" pitchFamily="34" charset="0"/>
                <a:cs typeface="Arial Nova" panose="020B0504020202020204" pitchFamily="34" charset="0"/>
              </a:rPr>
              <a:t>, Volume 88, Issue 11, 1 November 2008, Pages 1254–1264, </a:t>
            </a:r>
            <a:r>
              <a:rPr lang="en-US" sz="1800" u="sng">
                <a:solidFill>
                  <a:srgbClr val="0563C1"/>
                </a:solidFill>
                <a:effectLst/>
                <a:latin typeface="Arial Nova" panose="020B0504020202020204" pitchFamily="34" charset="0"/>
                <a:ea typeface="Arial Nova" panose="020B0504020202020204" pitchFamily="34" charset="0"/>
                <a:cs typeface="Arial Nova" panose="020B0504020202020204" pitchFamily="34" charset="0"/>
                <a:hlinkClick r:id="rId7"/>
              </a:rPr>
              <a:t>https://doi.org/10.2522/ptj.20080020</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0"/>
              </a:spcBef>
              <a:spcAft>
                <a:spcPts val="0"/>
              </a:spcAft>
              <a:buNone/>
            </a:pPr>
            <a:r>
              <a:rPr lang="en-US" sz="1800">
                <a:effectLst/>
                <a:latin typeface="Arial Nova" panose="020B0504020202020204" pitchFamily="34" charset="0"/>
                <a:ea typeface="Arial Nova" panose="020B0504020202020204" pitchFamily="34" charset="0"/>
                <a:cs typeface="Arial Nova" panose="020B0504020202020204" pitchFamily="34" charset="0"/>
              </a:rPr>
              <a:t>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0"/>
              </a:spcBef>
              <a:spcAft>
                <a:spcPts val="0"/>
              </a:spcAft>
              <a:buNone/>
            </a:pPr>
            <a:r>
              <a:rPr lang="en-US" sz="1800">
                <a:effectLst/>
                <a:latin typeface="Arial Nova" panose="020B0504020202020204" pitchFamily="34" charset="0"/>
                <a:ea typeface="Arial Nova" panose="020B0504020202020204" pitchFamily="34" charset="0"/>
                <a:cs typeface="Arial Nova" panose="020B0504020202020204" pitchFamily="34" charset="0"/>
              </a:rPr>
              <a:t> </a:t>
            </a:r>
            <a:r>
              <a:rPr lang="en-US" sz="1800" u="none" strike="noStrike">
                <a:solidFill>
                  <a:srgbClr val="0563C1"/>
                </a:solidFill>
                <a:effectLst/>
                <a:latin typeface="Arial Nova" panose="020B0504020202020204" pitchFamily="34" charset="0"/>
                <a:ea typeface="Arial Nova" panose="020B0504020202020204" pitchFamily="34" charset="0"/>
                <a:cs typeface="Arial Nova" panose="020B0504020202020204" pitchFamily="34" charset="0"/>
                <a:hlinkClick r:id="rId8"/>
              </a:rPr>
              <a:t>Preventing Chronic Disease</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0"/>
              </a:spcBef>
              <a:spcAft>
                <a:spcPts val="0"/>
              </a:spcAft>
              <a:buNone/>
            </a:pPr>
            <a:r>
              <a:rPr lang="en-US" sz="1800" err="1">
                <a:effectLst/>
                <a:latin typeface="Arial Nova" panose="020B0504020202020204" pitchFamily="34" charset="0"/>
                <a:ea typeface="Arial Nova" panose="020B0504020202020204" pitchFamily="34" charset="0"/>
                <a:cs typeface="Arial Nova" panose="020B0504020202020204" pitchFamily="34" charset="0"/>
              </a:rPr>
              <a:t>Xie</a:t>
            </a:r>
            <a:r>
              <a:rPr lang="en-US" sz="1800">
                <a:effectLst/>
                <a:latin typeface="Arial Nova" panose="020B0504020202020204" pitchFamily="34" charset="0"/>
                <a:ea typeface="Arial Nova" panose="020B0504020202020204" pitchFamily="34" charset="0"/>
                <a:cs typeface="Arial Nova" panose="020B0504020202020204" pitchFamily="34" charset="0"/>
              </a:rPr>
              <a:t> Z, </a:t>
            </a:r>
            <a:r>
              <a:rPr lang="en-US" sz="1800" err="1">
                <a:effectLst/>
                <a:latin typeface="Arial Nova" panose="020B0504020202020204" pitchFamily="34" charset="0"/>
                <a:ea typeface="Arial Nova" panose="020B0504020202020204" pitchFamily="34" charset="0"/>
                <a:cs typeface="Arial Nova" panose="020B0504020202020204" pitchFamily="34" charset="0"/>
              </a:rPr>
              <a:t>Nikolayeva</a:t>
            </a:r>
            <a:r>
              <a:rPr lang="en-US" sz="1800">
                <a:effectLst/>
                <a:latin typeface="Arial Nova" panose="020B0504020202020204" pitchFamily="34" charset="0"/>
                <a:ea typeface="Arial Nova" panose="020B0504020202020204" pitchFamily="34" charset="0"/>
                <a:cs typeface="Arial Nova" panose="020B0504020202020204" pitchFamily="34" charset="0"/>
              </a:rPr>
              <a:t> O, Luo J, Li D. Building Risk Prediction Models for Type 2 Diabetes Using Machine Learning Techniques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0"/>
              </a:spcBef>
              <a:spcAft>
                <a:spcPts val="0"/>
              </a:spcAft>
              <a:buNone/>
            </a:pPr>
            <a:r>
              <a:rPr lang="en-US" sz="1800" u="sng">
                <a:solidFill>
                  <a:srgbClr val="0563C1"/>
                </a:solidFill>
                <a:effectLst/>
                <a:latin typeface="Arial Nova" panose="020B0504020202020204" pitchFamily="34" charset="0"/>
                <a:ea typeface="Arial Nova" panose="020B0504020202020204" pitchFamily="34" charset="0"/>
                <a:cs typeface="Arial Nova" panose="020B0504020202020204" pitchFamily="34" charset="0"/>
                <a:hlinkClick r:id="rId9"/>
              </a:rPr>
              <a:t>https://www.cdc.gov/pcd/issues/2019/19_0109.htm</a:t>
            </a:r>
            <a:endParaRPr lang="en-US" sz="1800" u="sng">
              <a:solidFill>
                <a:srgbClr val="0563C1"/>
              </a:solidFill>
              <a:effectLst/>
              <a:latin typeface="Arial Nova" panose="020B0504020202020204" pitchFamily="34" charset="0"/>
              <a:ea typeface="Arial Nova" panose="020B0504020202020204" pitchFamily="34" charset="0"/>
              <a:cs typeface="Arial Nova" panose="020B0504020202020204" pitchFamily="34" charset="0"/>
            </a:endParaRPr>
          </a:p>
          <a:p>
            <a:pPr marL="0" marR="0" indent="0">
              <a:spcBef>
                <a:spcPts val="0"/>
              </a:spcBef>
              <a:spcAft>
                <a:spcPts val="0"/>
              </a:spcAft>
              <a:buNone/>
            </a:pP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US" sz="1800">
                <a:latin typeface="Georgia" panose="02040502050405020303" pitchFamily="18" charset="0"/>
                <a:ea typeface="+mn-lt"/>
                <a:cs typeface="Geeza Pro" panose="02000400000000000000" pitchFamily="2" charset="-78"/>
                <a:hlinkClick r:id="rId10"/>
              </a:rPr>
              <a:t>https://diabetesjournals.org/care/article/24/11/1936/24758/Projection-of-Diabetes-Burden-Through-2050Impact</a:t>
            </a:r>
            <a:endParaRPr lang="en-US" sz="1800">
              <a:latin typeface="Georgia" panose="02040502050405020303" pitchFamily="18" charset="0"/>
              <a:ea typeface="+mn-lt"/>
              <a:cs typeface="Geeza Pro" panose="02000400000000000000" pitchFamily="2" charset="-78"/>
            </a:endParaRPr>
          </a:p>
          <a:p>
            <a:pPr marL="0" indent="0">
              <a:buNone/>
            </a:pPr>
            <a:r>
              <a:rPr lang="en-US" sz="1800" b="0" i="0">
                <a:solidFill>
                  <a:srgbClr val="000000"/>
                </a:solidFill>
                <a:effectLst/>
                <a:latin typeface="Georgia" panose="02040502050405020303" pitchFamily="18" charset="0"/>
                <a:cs typeface="Geeza Pro" panose="02000400000000000000" pitchFamily="2" charset="-78"/>
                <a:hlinkClick r:id="rId11"/>
              </a:rPr>
              <a:t>https://diabetesjournals.org/care/article/44/1/258/33180/Social-Determinants-of-Health-and-Diabetes-A</a:t>
            </a:r>
            <a:endParaRPr lang="en-US" sz="1800" b="0" i="0">
              <a:solidFill>
                <a:srgbClr val="000000"/>
              </a:solidFill>
              <a:effectLst/>
              <a:latin typeface="Georgia" panose="02040502050405020303" pitchFamily="18" charset="0"/>
              <a:cs typeface="Geeza Pro" panose="02000400000000000000" pitchFamily="2" charset="-78"/>
            </a:endParaRPr>
          </a:p>
          <a:p>
            <a:pPr marL="0" marR="0" indent="0">
              <a:spcBef>
                <a:spcPts val="0"/>
              </a:spcBef>
              <a:spcAft>
                <a:spcPts val="0"/>
              </a:spcAft>
              <a:buNone/>
            </a:pP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a:latin typeface="Georgia" panose="02040502050405020303" pitchFamily="18" charset="0"/>
              <a:ea typeface="+mn-lt"/>
              <a:cs typeface="+mn-lt"/>
            </a:endParaRPr>
          </a:p>
          <a:p>
            <a:pPr marL="0" indent="0">
              <a:buNone/>
            </a:pPr>
            <a:endParaRPr lang="en-US">
              <a:latin typeface="Georgia" panose="02040502050405020303" pitchFamily="18" charset="0"/>
              <a:ea typeface="+mn-lt"/>
              <a:cs typeface="+mn-lt"/>
            </a:endParaRPr>
          </a:p>
          <a:p>
            <a:pPr marL="0" indent="0">
              <a:buNone/>
            </a:pPr>
            <a:endParaRPr lang="en-US">
              <a:latin typeface="Georgia" panose="02040502050405020303" pitchFamily="18" charset="0"/>
              <a:ea typeface="+mn-lt"/>
              <a:cs typeface="+mn-lt"/>
            </a:endParaRPr>
          </a:p>
          <a:p>
            <a:pPr marL="0" indent="0">
              <a:buNone/>
            </a:pPr>
            <a:endParaRPr lang="en-US">
              <a:latin typeface="Georgia" panose="02040502050405020303" pitchFamily="18" charset="0"/>
              <a:ea typeface="+mn-lt"/>
              <a:cs typeface="+mn-lt"/>
            </a:endParaRPr>
          </a:p>
          <a:p>
            <a:pPr marL="0" indent="0">
              <a:buNone/>
            </a:pPr>
            <a:endParaRPr lang="en-US">
              <a:latin typeface="Georgia" panose="02040502050405020303" pitchFamily="18" charset="0"/>
              <a:ea typeface="+mn-lt"/>
              <a:cs typeface="+mn-lt"/>
            </a:endParaRPr>
          </a:p>
        </p:txBody>
      </p:sp>
    </p:spTree>
    <p:extLst>
      <p:ext uri="{BB962C8B-B14F-4D97-AF65-F5344CB8AC3E}">
        <p14:creationId xmlns:p14="http://schemas.microsoft.com/office/powerpoint/2010/main" val="41311770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4C4950A17AE0B448123269C27AC658B" ma:contentTypeVersion="2" ma:contentTypeDescription="Create a new document." ma:contentTypeScope="" ma:versionID="e3104077bf80d2e848218baebbf1afbb">
  <xsd:schema xmlns:xsd="http://www.w3.org/2001/XMLSchema" xmlns:xs="http://www.w3.org/2001/XMLSchema" xmlns:p="http://schemas.microsoft.com/office/2006/metadata/properties" xmlns:ns2="d6d50203-36e7-438f-a73d-5ae0b3043f8c" targetNamespace="http://schemas.microsoft.com/office/2006/metadata/properties" ma:root="true" ma:fieldsID="e91831a4db87eb8769b55395ae6ff26b" ns2:_="">
    <xsd:import namespace="d6d50203-36e7-438f-a73d-5ae0b3043f8c"/>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6d50203-36e7-438f-a73d-5ae0b3043f8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CE9CB71-1984-4A2B-8A40-A81467C0546E}">
  <ds:schemaRefs>
    <ds:schemaRef ds:uri="http://schemas.microsoft.com/sharepoint/v3/contenttype/forms"/>
  </ds:schemaRefs>
</ds:datastoreItem>
</file>

<file path=customXml/itemProps2.xml><?xml version="1.0" encoding="utf-8"?>
<ds:datastoreItem xmlns:ds="http://schemas.openxmlformats.org/officeDocument/2006/customXml" ds:itemID="{A2712994-3368-49A8-8738-219731B71B7A}">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BEBF08D8-8754-4C3E-90E6-64A069A10946}">
  <ds:schemaRefs>
    <ds:schemaRef ds:uri="d6d50203-36e7-438f-a73d-5ae0b3043f8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1550</Words>
  <Application>Microsoft Macintosh PowerPoint</Application>
  <PresentationFormat>Widescreen</PresentationFormat>
  <Paragraphs>202</Paragraphs>
  <Slides>13</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Arial Nova</vt:lpstr>
      <vt:lpstr>Calibri</vt:lpstr>
      <vt:lpstr>Calibri Light</vt:lpstr>
      <vt:lpstr>Georgia</vt:lpstr>
      <vt:lpstr>Wingdings</vt:lpstr>
      <vt:lpstr>office theme</vt:lpstr>
      <vt:lpstr>Diagnosing Diabetes</vt:lpstr>
      <vt:lpstr>Diabetes is stealing our lives, wellbeing, and money</vt:lpstr>
      <vt:lpstr>Catching and curing diabetes creates significant cost savings and revenue potential</vt:lpstr>
      <vt:lpstr>Our Project: To identify the factors impacting the likelihood to be diagnosed with diabetes</vt:lpstr>
      <vt:lpstr>Detailed Approach</vt:lpstr>
      <vt:lpstr>Our desk research informed our data selection</vt:lpstr>
      <vt:lpstr>Our multiple data sources required extensive cleaning before merging</vt:lpstr>
      <vt:lpstr>Lasso, PCA, multicollinearity, correlation, and literature review informed final variable selection </vt:lpstr>
      <vt:lpstr>Though all models have passable accuracy, our models lack precision </vt:lpstr>
      <vt:lpstr>Logistic regression validates hypotheses on BMI, general health, &amp; co-morbidities</vt:lpstr>
      <vt:lpstr>Further transformation of the diabetes variable is required </vt:lpstr>
      <vt:lpstr>Thank you!</vt:lpstr>
      <vt:lpstr>Citations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Olivia Watson</cp:lastModifiedBy>
  <cp:revision>2</cp:revision>
  <dcterms:created xsi:type="dcterms:W3CDTF">2023-03-14T23:40:26Z</dcterms:created>
  <dcterms:modified xsi:type="dcterms:W3CDTF">2023-04-16T16:35:16Z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0x01010054C4950A17AE0B448123269C27AC658B</vt:lpwstr>
  </property>
</Properties>
</file>