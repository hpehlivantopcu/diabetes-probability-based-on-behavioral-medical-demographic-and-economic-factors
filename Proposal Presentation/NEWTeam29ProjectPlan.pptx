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6"/>
  </p:notesMasterIdLst>
  <p:sldIdLst>
    <p:sldId id="256" r:id="rId5"/>
    <p:sldId id="261" r:id="rId6"/>
    <p:sldId id="257" r:id="rId7"/>
    <p:sldId id="266" r:id="rId8"/>
    <p:sldId id="258" r:id="rId9"/>
    <p:sldId id="259" r:id="rId10"/>
    <p:sldId id="267" r:id="rId11"/>
    <p:sldId id="260" r:id="rId12"/>
    <p:sldId id="265" r:id="rId13"/>
    <p:sldId id="262"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ED6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E54D98-BAF1-4E21-A12E-C80D494D7799}" v="54" dt="2023-03-19T14:06:16.853"/>
    <p1510:client id="{5AF72A35-EB74-4270-A91A-CAEA9C2019A0}" v="160" dt="2023-03-14T23:59:55.736"/>
    <p1510:client id="{A63B64B7-8F38-7B81-3AD8-8FAF14FA02E5}" v="8" dt="2023-04-15T02:49:50.637"/>
    <p1510:client id="{AF23A136-BFDF-854B-E1F3-0E2147D5F3BA}" v="1" dt="2023-04-16T12:18:43.023"/>
    <p1510:client id="{B401F95C-06E1-B434-AC7A-354E9EFC985E}" v="47" dt="2023-03-20T20:32:55.341"/>
    <p1510:client id="{D1474B93-19C6-BC20-2684-07A625E65BF9}" v="3" dt="2023-04-14T19:48:10.282"/>
    <p1510:client id="{EEACCDD4-CDFB-7E4F-9F6D-8B86FEA3B1F6}" v="27" dt="2023-03-20T20:42:09.894"/>
    <p1510:client id="{F577E40C-50C6-394A-ACDD-0E2185C3E7F5}" v="520" dt="2023-03-16T22:04:56.3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1D9571-DA4F-B940-B8F0-35BCC01073F7}" type="datetimeFigureOut">
              <a:rPr lang="en-US" smtClean="0"/>
              <a:t>4/16/2023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9EAED6-C188-FE4B-A767-00E927A58D61}" type="slidenum">
              <a:rPr lang="en-US" smtClean="0"/>
              <a:t>‹nº›</a:t>
            </a:fld>
            <a:endParaRPr lang="en-US"/>
          </a:p>
        </p:txBody>
      </p:sp>
    </p:spTree>
    <p:extLst>
      <p:ext uri="{BB962C8B-B14F-4D97-AF65-F5344CB8AC3E}">
        <p14:creationId xmlns:p14="http://schemas.microsoft.com/office/powerpoint/2010/main" val="26930317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cdc.gov/diabetes/basics/type2.html#:~:text=Healthy%20eating%20is%20your%20recipe,adults%20are%20also%20developing%20it."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https://diabetes.org/about-us/statistics/cost-diabetes#:~:text=People%20with%20diagnosed%20diabetes%20incur,in%20the%20absence%20of%20diabetes."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ea typeface="+mn-lt"/>
                <a:cs typeface="+mn-lt"/>
              </a:rPr>
              <a:t>Quick </a:t>
            </a:r>
            <a:r>
              <a:rPr lang="en-US" err="1">
                <a:ea typeface="+mn-lt"/>
                <a:cs typeface="+mn-lt"/>
              </a:rPr>
              <a:t>definition:</a:t>
            </a:r>
            <a:r>
              <a:rPr lang="en-US" b="0" i="0" err="1">
                <a:solidFill>
                  <a:srgbClr val="202124"/>
                </a:solidFill>
                <a:effectLst/>
                <a:latin typeface="Roboto" panose="020F0502020204030204" pitchFamily="34" charset="0"/>
              </a:rPr>
              <a:t>a</a:t>
            </a:r>
            <a:r>
              <a:rPr lang="en-US" b="0" i="0">
                <a:solidFill>
                  <a:srgbClr val="202124"/>
                </a:solidFill>
                <a:effectLst/>
                <a:latin typeface="Roboto" panose="020F0502020204030204" pitchFamily="34" charset="0"/>
              </a:rPr>
              <a:t> disease in which the body’s ability to produce or respond to the </a:t>
            </a:r>
            <a:r>
              <a:rPr lang="en-US" b="0" i="0" u="sng">
                <a:solidFill>
                  <a:srgbClr val="202124"/>
                </a:solidFill>
                <a:effectLst/>
                <a:latin typeface="Roboto" panose="020F0502020204030204" pitchFamily="34" charset="0"/>
              </a:rPr>
              <a:t>hormone</a:t>
            </a:r>
            <a:r>
              <a:rPr lang="en-US" b="0" i="0">
                <a:solidFill>
                  <a:srgbClr val="202124"/>
                </a:solidFill>
                <a:effectLst/>
                <a:latin typeface="Roboto" panose="020F0502020204030204" pitchFamily="34" charset="0"/>
              </a:rPr>
              <a:t> </a:t>
            </a:r>
            <a:r>
              <a:rPr lang="en-US" b="0" i="0" u="sng">
                <a:solidFill>
                  <a:srgbClr val="202124"/>
                </a:solidFill>
                <a:effectLst/>
                <a:latin typeface="Roboto" panose="020F0502020204030204" pitchFamily="34" charset="0"/>
              </a:rPr>
              <a:t>insulin</a:t>
            </a:r>
            <a:r>
              <a:rPr lang="en-US" b="0" i="0">
                <a:solidFill>
                  <a:srgbClr val="202124"/>
                </a:solidFill>
                <a:effectLst/>
                <a:latin typeface="Roboto" panose="020F0502020204030204" pitchFamily="34" charset="0"/>
              </a:rPr>
              <a:t> is impaired, resulting in abnormal metabolism of </a:t>
            </a:r>
            <a:r>
              <a:rPr lang="en-US" b="0" i="0" u="sng">
                <a:solidFill>
                  <a:srgbClr val="202124"/>
                </a:solidFill>
                <a:effectLst/>
                <a:latin typeface="Roboto" panose="020F0502020204030204" pitchFamily="34" charset="0"/>
              </a:rPr>
              <a:t>carbohydrates</a:t>
            </a:r>
            <a:r>
              <a:rPr lang="en-US" b="0" i="0">
                <a:solidFill>
                  <a:srgbClr val="202124"/>
                </a:solidFill>
                <a:effectLst/>
                <a:latin typeface="Roboto" panose="020F0502020204030204" pitchFamily="34" charset="0"/>
              </a:rPr>
              <a:t> and elevated levels of glucose in the blood and urine.</a:t>
            </a:r>
          </a:p>
          <a:p>
            <a:endParaRPr lang="en-US">
              <a:ea typeface="+mn-lt"/>
              <a:cs typeface="+mn-lt"/>
            </a:endParaRPr>
          </a:p>
          <a:p>
            <a:endParaRPr lang="en-US">
              <a:ea typeface="+mn-lt"/>
              <a:cs typeface="+mn-lt"/>
            </a:endParaRPr>
          </a:p>
          <a:p>
            <a:r>
              <a:rPr lang="en-US">
                <a:ea typeface="+mn-lt"/>
                <a:cs typeface="+mn-lt"/>
              </a:rPr>
              <a:t>Nearly 10% of Americans have type II diabetes (</a:t>
            </a:r>
            <a:r>
              <a:rPr lang="en-US" u="sng">
                <a:ea typeface="+mn-lt"/>
                <a:cs typeface="+mn-lt"/>
                <a:hlinkClick r:id="rId3"/>
              </a:rPr>
              <a:t>CDC</a:t>
            </a:r>
            <a:r>
              <a:rPr lang="en-US">
                <a:ea typeface="+mn-lt"/>
                <a:cs typeface="+mn-lt"/>
              </a:rPr>
              <a:t>), costing each nearly 10 years of their life, and the U.S. over $325 billion dollars, annually. </a:t>
            </a:r>
          </a:p>
          <a:p>
            <a:r>
              <a:rPr lang="en-US">
                <a:ea typeface="+mn-lt"/>
                <a:cs typeface="+mn-lt"/>
              </a:rPr>
              <a:t>The </a:t>
            </a:r>
            <a:r>
              <a:rPr lang="en-US" u="sng">
                <a:ea typeface="+mn-lt"/>
                <a:cs typeface="+mn-lt"/>
                <a:hlinkClick r:id="rId4"/>
              </a:rPr>
              <a:t>American Diabetes Association (ADA) states</a:t>
            </a:r>
            <a:r>
              <a:rPr lang="en-US">
                <a:ea typeface="+mn-lt"/>
                <a:cs typeface="+mn-lt"/>
              </a:rPr>
              <a:t> that “</a:t>
            </a:r>
            <a:r>
              <a:rPr lang="en-US" i="1">
                <a:ea typeface="+mn-lt"/>
                <a:cs typeface="+mn-lt"/>
              </a:rPr>
              <a:t>Care for people with diagnosed diabetes accounts for one in four health care dollars in the U.S.</a:t>
            </a:r>
            <a:r>
              <a:rPr lang="en-US">
                <a:ea typeface="+mn-lt"/>
                <a:cs typeface="+mn-lt"/>
              </a:rPr>
              <a:t>” We seek to identify behavioral and societal diabetes risk factors to improve health care programs, lower the U.S.’s healthcare burden, improve the private sector’s productivity, and improve U.S. citizens’ wellbeing</a:t>
            </a:r>
            <a:endParaRPr lang="en-US">
              <a:cs typeface="Calibri" panose="020F0502020204030204"/>
            </a:endParaRPr>
          </a:p>
          <a:p>
            <a:r>
              <a:rPr lang="en-US">
                <a:ea typeface="+mn-lt"/>
                <a:cs typeface="+mn-lt"/>
              </a:rPr>
              <a:t>The </a:t>
            </a:r>
            <a:r>
              <a:rPr lang="en-US" u="sng">
                <a:ea typeface="+mn-lt"/>
                <a:cs typeface="+mn-lt"/>
                <a:hlinkClick r:id="rId4"/>
              </a:rPr>
              <a:t>ADA</a:t>
            </a:r>
            <a:r>
              <a:rPr lang="en-US">
                <a:ea typeface="+mn-lt"/>
                <a:cs typeface="+mn-lt"/>
              </a:rPr>
              <a:t> declares that "</a:t>
            </a:r>
            <a:r>
              <a:rPr lang="en-US" i="1">
                <a:ea typeface="+mn-lt"/>
                <a:cs typeface="+mn-lt"/>
              </a:rPr>
              <a:t>The total estimated 2017 cost of diagnosed diabetes of $327 billion includes $237 billion in direct medical costs and $90 billion in reduced productivity. […] People with diagnosed diabetes incur average medical expenditures of $16,752 per year, of which about $9,601 is attributed to diabetes. On average, people with diagnosed diabetes have medical expenditures approximately 2.3 times higher than what expenditures would be in the absence of diabetes.</a:t>
            </a:r>
            <a:r>
              <a:rPr lang="en-US">
                <a:ea typeface="+mn-lt"/>
                <a:cs typeface="+mn-lt"/>
              </a:rPr>
              <a:t>"</a:t>
            </a:r>
            <a:endParaRPr lang="en-US">
              <a:cs typeface="Calibri" panose="020F0502020204030204"/>
            </a:endParaRPr>
          </a:p>
          <a:p>
            <a:endParaRPr lang="en-US"/>
          </a:p>
        </p:txBody>
      </p:sp>
      <p:sp>
        <p:nvSpPr>
          <p:cNvPr id="4" name="Slide Number Placeholder 3"/>
          <p:cNvSpPr>
            <a:spLocks noGrp="1"/>
          </p:cNvSpPr>
          <p:nvPr>
            <p:ph type="sldNum" sz="quarter" idx="5"/>
          </p:nvPr>
        </p:nvSpPr>
        <p:spPr/>
        <p:txBody>
          <a:bodyPr/>
          <a:lstStyle/>
          <a:p>
            <a:fld id="{D69EAED6-C188-FE4B-A767-00E927A58D61}" type="slidenum">
              <a:rPr lang="en-US" smtClean="0"/>
              <a:t>3</a:t>
            </a:fld>
            <a:endParaRPr lang="en-US"/>
          </a:p>
        </p:txBody>
      </p:sp>
    </p:spTree>
    <p:extLst>
      <p:ext uri="{BB962C8B-B14F-4D97-AF65-F5344CB8AC3E}">
        <p14:creationId xmlns:p14="http://schemas.microsoft.com/office/powerpoint/2010/main" val="28794529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ea typeface="+mn-lt"/>
                <a:cs typeface="+mn-lt"/>
              </a:rPr>
              <a:t>Understanding the main factors which may lead to a diabetes diagnosis is paramount to our society’s survival. For citizens, this means extending their life expectancy, avoiding nearly $10k in diabetes associated costs per year, and enhancing their health. The private sector could save $90 billion dollars from improved productivity, reduced absenteeism, and reduced insurance costs. Governments could re-allocate ¼ of all health care dollars to solving other crises or reduce taxes to reflect reduced health care needs. </a:t>
            </a:r>
            <a:endParaRPr lang="pt-BR">
              <a:ea typeface="+mn-lt"/>
              <a:cs typeface="+mn-lt"/>
            </a:endParaRPr>
          </a:p>
          <a:p>
            <a:endParaRPr lang="en-US"/>
          </a:p>
          <a:p>
            <a:r>
              <a:rPr lang="en-US" i="1">
                <a:ea typeface="+mn-lt"/>
                <a:cs typeface="+mn-lt"/>
              </a:rPr>
              <a:t>$90 billion in reduced productivity. […] </a:t>
            </a:r>
            <a:endParaRPr lang="en-US"/>
          </a:p>
        </p:txBody>
      </p:sp>
      <p:sp>
        <p:nvSpPr>
          <p:cNvPr id="4" name="Slide Number Placeholder 3"/>
          <p:cNvSpPr>
            <a:spLocks noGrp="1"/>
          </p:cNvSpPr>
          <p:nvPr>
            <p:ph type="sldNum" sz="quarter" idx="5"/>
          </p:nvPr>
        </p:nvSpPr>
        <p:spPr/>
        <p:txBody>
          <a:bodyPr/>
          <a:lstStyle/>
          <a:p>
            <a:fld id="{D69EAED6-C188-FE4B-A767-00E927A58D61}" type="slidenum">
              <a:rPr lang="en-US" smtClean="0"/>
              <a:t>4</a:t>
            </a:fld>
            <a:endParaRPr lang="en-US"/>
          </a:p>
        </p:txBody>
      </p:sp>
    </p:spTree>
    <p:extLst>
      <p:ext uri="{BB962C8B-B14F-4D97-AF65-F5344CB8AC3E}">
        <p14:creationId xmlns:p14="http://schemas.microsoft.com/office/powerpoint/2010/main" val="18740797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Georgia" panose="02040502050405020303" pitchFamily="18" charset="0"/>
                <a:ea typeface="+mn-lt"/>
                <a:cs typeface="+mn-lt"/>
              </a:rPr>
              <a:t>What factors impact a person’s probability of having diabetes?</a:t>
            </a:r>
            <a:endParaRPr lang="en-US" b="1">
              <a:ea typeface="+mn-lt"/>
              <a:cs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a:ea typeface="+mn-lt"/>
                <a:cs typeface="+mn-lt"/>
              </a:rPr>
              <a:t>How strong is the relationship between diabetes and other diseases (obesity, heart disease, etc.)?</a:t>
            </a:r>
            <a:br>
              <a:rPr lang="en-US" b="1">
                <a:ea typeface="+mn-lt"/>
                <a:cs typeface="+mn-lt"/>
              </a:rPr>
            </a:br>
            <a:r>
              <a:rPr lang="en-US" b="1">
                <a:ea typeface="+mn-lt"/>
                <a:cs typeface="+mn-lt"/>
              </a:rPr>
              <a:t>How does diet and exercise impact the probability of having a diabetes diagnosis?</a:t>
            </a:r>
            <a:br>
              <a:rPr lang="en-US" b="1">
                <a:ea typeface="+mn-lt"/>
                <a:cs typeface="+mn-lt"/>
              </a:rPr>
            </a:br>
            <a:r>
              <a:rPr lang="en-US" b="1">
                <a:ea typeface="+mn-lt"/>
                <a:cs typeface="+mn-lt"/>
              </a:rPr>
              <a:t>How does cost of living impact the probability of having a diabetes diagnosis?</a:t>
            </a:r>
            <a:endParaRPr lang="en-US">
              <a:ea typeface="+mn-lt"/>
              <a:cs typeface="+mn-lt"/>
            </a:endParaRPr>
          </a:p>
          <a:p>
            <a:endParaRPr lang="en-US"/>
          </a:p>
        </p:txBody>
      </p:sp>
      <p:sp>
        <p:nvSpPr>
          <p:cNvPr id="4" name="Slide Number Placeholder 3"/>
          <p:cNvSpPr>
            <a:spLocks noGrp="1"/>
          </p:cNvSpPr>
          <p:nvPr>
            <p:ph type="sldNum" sz="quarter" idx="5"/>
          </p:nvPr>
        </p:nvSpPr>
        <p:spPr/>
        <p:txBody>
          <a:bodyPr/>
          <a:lstStyle/>
          <a:p>
            <a:fld id="{D69EAED6-C188-FE4B-A767-00E927A58D61}" type="slidenum">
              <a:rPr lang="en-US" smtClean="0"/>
              <a:t>5</a:t>
            </a:fld>
            <a:endParaRPr lang="en-US"/>
          </a:p>
        </p:txBody>
      </p:sp>
    </p:spTree>
    <p:extLst>
      <p:ext uri="{BB962C8B-B14F-4D97-AF65-F5344CB8AC3E}">
        <p14:creationId xmlns:p14="http://schemas.microsoft.com/office/powerpoint/2010/main" val="3483527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ea typeface="+mn-lt"/>
                <a:cs typeface="+mn-lt"/>
              </a:rPr>
              <a:t>Potential significant variables: obesity, diet, exercise, and cost of living </a:t>
            </a:r>
            <a:endParaRPr lang="en-US"/>
          </a:p>
          <a:p>
            <a:endParaRPr lang="en-US"/>
          </a:p>
          <a:p>
            <a:endParaRPr lang="en-US"/>
          </a:p>
          <a:p>
            <a:r>
              <a:rPr lang="en-US"/>
              <a:t>BRFSS’s objective is to collect uniform state-specific data on health risk behaviors, chronic diseases and conditions, access to health care, and use of preventive health services related to the leading causes of death and disability in the United States. Factors assessed by the BRFSS in 2021 included health status and healthy days, exercise, hypertension awareness, cholesterol awareness, chronic health conditions, arthritis, tobacco use, fruits and vegetables consumption, and health-care access (core section).</a:t>
            </a:r>
          </a:p>
          <a:p>
            <a:endParaRPr lang="en-US">
              <a:ea typeface="+mn-lt"/>
              <a:cs typeface="+mn-lt"/>
            </a:endParaRPr>
          </a:p>
          <a:p>
            <a:r>
              <a:rPr lang="en-US">
                <a:ea typeface="+mn-lt"/>
                <a:cs typeface="+mn-lt"/>
              </a:rPr>
              <a:t>We will set the diabetes diagnosis as the dependent variable. From our research, we expect behavioral (diet, physical exercise, ability to work), demographic (sex at birth, age, state) and medical condition (cancer, heart attack) factors may be correlated with diabetes occurrence. </a:t>
            </a:r>
          </a:p>
          <a:p>
            <a:r>
              <a:rPr lang="en-US">
                <a:ea typeface="+mn-lt"/>
                <a:cs typeface="+mn-lt"/>
              </a:rPr>
              <a:t>We will use the cost-of-living data to understand if a resident’s state’s economic environment, including the cost of Health, Grocery, and Housing expenses, impacts the probability of receiving a diabetes diagnosis.</a:t>
            </a:r>
            <a:endParaRPr lang="en-US"/>
          </a:p>
          <a:p>
            <a:endParaRPr lang="en-US">
              <a:ea typeface="+mn-lt"/>
              <a:cs typeface="+mn-lt"/>
            </a:endParaRPr>
          </a:p>
          <a:p>
            <a:r>
              <a:rPr lang="en-US">
                <a:cs typeface="Calibri"/>
              </a:rPr>
              <a:t>Given that we want to predict a probability, our initial idea is to run logistic regression and its variations depending on our findings.</a:t>
            </a:r>
          </a:p>
          <a:p>
            <a:endParaRPr lang="en-US"/>
          </a:p>
        </p:txBody>
      </p:sp>
      <p:sp>
        <p:nvSpPr>
          <p:cNvPr id="4" name="Slide Number Placeholder 3"/>
          <p:cNvSpPr>
            <a:spLocks noGrp="1"/>
          </p:cNvSpPr>
          <p:nvPr>
            <p:ph type="sldNum" sz="quarter" idx="5"/>
          </p:nvPr>
        </p:nvSpPr>
        <p:spPr/>
        <p:txBody>
          <a:bodyPr/>
          <a:lstStyle/>
          <a:p>
            <a:fld id="{D69EAED6-C188-FE4B-A767-00E927A58D61}" type="slidenum">
              <a:rPr lang="en-US" smtClean="0"/>
              <a:t>6</a:t>
            </a:fld>
            <a:endParaRPr lang="en-US"/>
          </a:p>
        </p:txBody>
      </p:sp>
    </p:spTree>
    <p:extLst>
      <p:ext uri="{BB962C8B-B14F-4D97-AF65-F5344CB8AC3E}">
        <p14:creationId xmlns:p14="http://schemas.microsoft.com/office/powerpoint/2010/main" val="9611806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4/16/2023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4/16/2023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4/16/2023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4/16/2023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4/16/2023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4/16/2023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4/16/2023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4/16/2023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4/16/2023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‹nº›</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sv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diabetes.emory.edu/about/index.html" TargetMode="External"/><Relationship Id="rId2" Type="http://schemas.openxmlformats.org/officeDocument/2006/relationships/hyperlink" Target="https://diabetes.emory.edu/people/directors/venkat_narayan.html"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cdc.gov/diabetes/basics/type2.html#:~:text=Healthy%20eating%20is%20your%20recipe,adults%20are%20also%20developing%20it" TargetMode="External"/><Relationship Id="rId2" Type="http://schemas.openxmlformats.org/officeDocument/2006/relationships/hyperlink" Target="https://diabetes.org/about-us/statistics/cost-diabetes#:~:text=People%20with%20diagnosed%20diabetes%20incur,in%20the%20absence%20of%20diabetes" TargetMode="External"/><Relationship Id="rId1" Type="http://schemas.openxmlformats.org/officeDocument/2006/relationships/slideLayout" Target="../slideLayouts/slideLayout2.xml"/><Relationship Id="rId4" Type="http://schemas.openxmlformats.org/officeDocument/2006/relationships/hyperlink" Target="https://www.who.int/news-room/fact-sheets/detail/diabetes" TargetMode="External"/></Relationships>
</file>

<file path=ppt/slides/_rels/slide11.xml.rels><?xml version="1.0" encoding="UTF-8" standalone="yes"?>
<Relationships xmlns="http://schemas.openxmlformats.org/package/2006/relationships"><Relationship Id="rId2" Type="http://schemas.openxmlformats.org/officeDocument/2006/relationships/hyperlink" Target="https://diabetesjournals.org/care/article/44/1/258/33180/Social-Determinants-of-Health-and-Diabetes-A"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id="{DE8BC996-6E12-A675-A64F-F61141D77510}"/>
              </a:ext>
            </a:extLst>
          </p:cNvPr>
          <p:cNvPicPr>
            <a:picLocks noChangeAspect="1"/>
          </p:cNvPicPr>
          <p:nvPr/>
        </p:nvPicPr>
        <p:blipFill rotWithShape="1">
          <a:blip r:embed="rId2"/>
          <a:srcRect t="2762" r="61" b="-115"/>
          <a:stretch/>
        </p:blipFill>
        <p:spPr>
          <a:xfrm>
            <a:off x="-1398" y="2627"/>
            <a:ext cx="12204055" cy="6866796"/>
          </a:xfrm>
          <a:prstGeom prst="rect">
            <a:avLst/>
          </a:prstGeom>
        </p:spPr>
      </p:pic>
      <p:sp>
        <p:nvSpPr>
          <p:cNvPr id="2" name="Title 1"/>
          <p:cNvSpPr>
            <a:spLocks noGrp="1"/>
          </p:cNvSpPr>
          <p:nvPr>
            <p:ph type="ctrTitle"/>
          </p:nvPr>
        </p:nvSpPr>
        <p:spPr>
          <a:xfrm>
            <a:off x="384930" y="521754"/>
            <a:ext cx="5872749" cy="2387600"/>
          </a:xfrm>
        </p:spPr>
        <p:txBody>
          <a:bodyPr>
            <a:normAutofit/>
          </a:bodyPr>
          <a:lstStyle/>
          <a:p>
            <a:pPr algn="l">
              <a:lnSpc>
                <a:spcPct val="100000"/>
              </a:lnSpc>
            </a:pPr>
            <a:r>
              <a:rPr lang="en-US" sz="4000">
                <a:latin typeface="Georgia"/>
                <a:cs typeface="Calibri Light"/>
              </a:rPr>
              <a:t>Diagnosing Diabetes</a:t>
            </a:r>
          </a:p>
        </p:txBody>
      </p:sp>
      <p:sp>
        <p:nvSpPr>
          <p:cNvPr id="3" name="Subtitle 2"/>
          <p:cNvSpPr>
            <a:spLocks noGrp="1"/>
          </p:cNvSpPr>
          <p:nvPr>
            <p:ph type="subTitle" idx="1"/>
          </p:nvPr>
        </p:nvSpPr>
        <p:spPr>
          <a:xfrm>
            <a:off x="422091" y="4293981"/>
            <a:ext cx="4243748" cy="1655762"/>
          </a:xfrm>
        </p:spPr>
        <p:txBody>
          <a:bodyPr vert="horz" lIns="91440" tIns="45720" rIns="91440" bIns="45720" rtlCol="0" anchor="t">
            <a:normAutofit/>
          </a:bodyPr>
          <a:lstStyle/>
          <a:p>
            <a:pPr algn="l"/>
            <a:r>
              <a:rPr lang="en-US" sz="1600" dirty="0">
                <a:latin typeface="Georgia"/>
                <a:cs typeface="Calibri"/>
              </a:rPr>
              <a:t>Team 29: Olivia Watson, Selda Kocaman, Kelly Cristina Ribeiro </a:t>
            </a:r>
            <a:r>
              <a:rPr lang="en-US" sz="1600" dirty="0" err="1">
                <a:latin typeface="Georgia"/>
                <a:cs typeface="Calibri"/>
              </a:rPr>
              <a:t>Yogui</a:t>
            </a:r>
            <a:r>
              <a:rPr lang="en-US" sz="1600" dirty="0">
                <a:latin typeface="Georgia"/>
                <a:cs typeface="Calibri"/>
              </a:rPr>
              <a:t>, Thu </a:t>
            </a:r>
            <a:r>
              <a:rPr lang="en-US" sz="1600" dirty="0" err="1">
                <a:latin typeface="Georgia"/>
                <a:cs typeface="Calibri"/>
              </a:rPr>
              <a:t>Thi</a:t>
            </a:r>
            <a:r>
              <a:rPr lang="en-US" sz="1600" dirty="0">
                <a:latin typeface="Georgia"/>
                <a:cs typeface="Calibri"/>
              </a:rPr>
              <a:t> Diem Le, Hande Pehlivan</a:t>
            </a:r>
            <a:endParaRPr lang="en-US" dirty="0">
              <a:latin typeface="Georgia"/>
            </a:endParaRPr>
          </a:p>
        </p:txBody>
      </p:sp>
      <p:sp>
        <p:nvSpPr>
          <p:cNvPr id="5" name="TextBox 4">
            <a:extLst>
              <a:ext uri="{FF2B5EF4-FFF2-40B4-BE49-F238E27FC236}">
                <a16:creationId xmlns:a16="http://schemas.microsoft.com/office/drawing/2014/main" id="{CADC9881-C19D-F1EB-1805-3C18BE350F8C}"/>
              </a:ext>
            </a:extLst>
          </p:cNvPr>
          <p:cNvSpPr txBox="1"/>
          <p:nvPr/>
        </p:nvSpPr>
        <p:spPr>
          <a:xfrm>
            <a:off x="422091" y="3064676"/>
            <a:ext cx="5835588" cy="646331"/>
          </a:xfrm>
          <a:prstGeom prst="rect">
            <a:avLst/>
          </a:prstGeom>
        </p:spPr>
        <p:txBody>
          <a:bodyPr vert="horz" lIns="91440" tIns="45720" rIns="91440" bIns="45720" rtlCol="0" anchor="t">
            <a:normAutofit/>
          </a:bodyPr>
          <a:lstStyle/>
          <a:p>
            <a:pPr>
              <a:lnSpc>
                <a:spcPct val="90000"/>
              </a:lnSpc>
              <a:spcBef>
                <a:spcPts val="1000"/>
              </a:spcBef>
            </a:pPr>
            <a:r>
              <a:rPr lang="en-US" sz="2000">
                <a:latin typeface="Georgia"/>
                <a:cs typeface="Calibri"/>
              </a:rPr>
              <a:t>Diabetes probability based on behavioral, medical, demographic and economic factors </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876EAD2-523A-0626-BC98-49E28DD71FA7}"/>
              </a:ext>
            </a:extLst>
          </p:cNvPr>
          <p:cNvSpPr>
            <a:spLocks noGrp="1"/>
          </p:cNvSpPr>
          <p:nvPr>
            <p:ph idx="1"/>
          </p:nvPr>
        </p:nvSpPr>
        <p:spPr>
          <a:xfrm>
            <a:off x="1420124" y="2029257"/>
            <a:ext cx="9351751" cy="3869739"/>
          </a:xfrm>
        </p:spPr>
        <p:txBody>
          <a:bodyPr vert="horz" lIns="91440" tIns="45720" rIns="91440" bIns="45720" rtlCol="0" anchor="t">
            <a:normAutofit/>
          </a:bodyPr>
          <a:lstStyle/>
          <a:p>
            <a:pPr marL="201168" indent="-201168" defTabSz="804672">
              <a:spcBef>
                <a:spcPts val="880"/>
              </a:spcBef>
            </a:pPr>
            <a:endParaRPr lang="en-US" sz="2464" kern="1200">
              <a:solidFill>
                <a:schemeClr val="tx1"/>
              </a:solidFill>
              <a:latin typeface="+mn-lt"/>
              <a:ea typeface="+mn-ea"/>
              <a:cs typeface="Calibri"/>
            </a:endParaRPr>
          </a:p>
          <a:p>
            <a:pPr marL="0" indent="0">
              <a:buNone/>
            </a:pPr>
            <a:endParaRPr lang="en-US">
              <a:cs typeface="Calibri"/>
            </a:endParaRPr>
          </a:p>
        </p:txBody>
      </p:sp>
      <p:pic>
        <p:nvPicPr>
          <p:cNvPr id="5" name="Graphic 4" descr="Heartbeat with solid fill">
            <a:extLst>
              <a:ext uri="{FF2B5EF4-FFF2-40B4-BE49-F238E27FC236}">
                <a16:creationId xmlns:a16="http://schemas.microsoft.com/office/drawing/2014/main" id="{10372BE5-11C7-58C3-F2DA-47D065FCDB7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100729" y="2571901"/>
            <a:ext cx="813196" cy="813196"/>
          </a:xfrm>
          <a:prstGeom prst="rect">
            <a:avLst/>
          </a:prstGeom>
        </p:spPr>
      </p:pic>
      <p:pic>
        <p:nvPicPr>
          <p:cNvPr id="7" name="Graphic 6" descr="Dollar with solid fill">
            <a:extLst>
              <a:ext uri="{FF2B5EF4-FFF2-40B4-BE49-F238E27FC236}">
                <a16:creationId xmlns:a16="http://schemas.microsoft.com/office/drawing/2014/main" id="{F53A9D10-AB75-5214-EBB3-7AA425D3ACF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78077" y="2558348"/>
            <a:ext cx="813196" cy="813196"/>
          </a:xfrm>
          <a:prstGeom prst="rect">
            <a:avLst/>
          </a:prstGeom>
        </p:spPr>
      </p:pic>
      <p:sp>
        <p:nvSpPr>
          <p:cNvPr id="8" name="TextBox 7">
            <a:extLst>
              <a:ext uri="{FF2B5EF4-FFF2-40B4-BE49-F238E27FC236}">
                <a16:creationId xmlns:a16="http://schemas.microsoft.com/office/drawing/2014/main" id="{177C2A94-902E-0A93-4086-494802193268}"/>
              </a:ext>
            </a:extLst>
          </p:cNvPr>
          <p:cNvSpPr txBox="1"/>
          <p:nvPr/>
        </p:nvSpPr>
        <p:spPr>
          <a:xfrm>
            <a:off x="1420124" y="3283447"/>
            <a:ext cx="4165635" cy="2871171"/>
          </a:xfrm>
          <a:prstGeom prst="rect">
            <a:avLst/>
          </a:prstGeom>
          <a:noFill/>
        </p:spPr>
        <p:txBody>
          <a:bodyPr wrap="square" rtlCol="0">
            <a:spAutoFit/>
          </a:bodyPr>
          <a:lstStyle/>
          <a:p>
            <a:pPr marL="251460" indent="-251460" defTabSz="804672">
              <a:spcAft>
                <a:spcPts val="600"/>
              </a:spcAft>
              <a:buFont typeface="Arial" panose="020B0604020202020204" pitchFamily="34" charset="0"/>
              <a:buChar char="•"/>
            </a:pPr>
            <a:r>
              <a:rPr lang="en-US" sz="1584" kern="1200">
                <a:solidFill>
                  <a:schemeClr val="tx1"/>
                </a:solidFill>
                <a:latin typeface="Georgia" panose="02040502050405020303" pitchFamily="18" charset="0"/>
                <a:ea typeface="+mn-ea"/>
                <a:cs typeface="+mn-cs"/>
              </a:rPr>
              <a:t>Diabetes takes </a:t>
            </a:r>
            <a:r>
              <a:rPr lang="en-US" sz="1584" b="1" kern="1200">
                <a:solidFill>
                  <a:schemeClr val="tx1"/>
                </a:solidFill>
                <a:latin typeface="Georgia" panose="02040502050405020303" pitchFamily="18" charset="0"/>
                <a:ea typeface="+mn-ea"/>
                <a:cs typeface="+mn-cs"/>
              </a:rPr>
              <a:t>~10 years </a:t>
            </a:r>
            <a:r>
              <a:rPr lang="en-US" sz="1584" kern="1200">
                <a:solidFill>
                  <a:schemeClr val="tx1"/>
                </a:solidFill>
                <a:latin typeface="Georgia" panose="02040502050405020303" pitchFamily="18" charset="0"/>
                <a:ea typeface="+mn-ea"/>
                <a:cs typeface="+mn-cs"/>
              </a:rPr>
              <a:t>off someone’s life </a:t>
            </a:r>
            <a:br>
              <a:rPr lang="en-US" sz="1584" kern="1200">
                <a:solidFill>
                  <a:schemeClr val="tx1"/>
                </a:solidFill>
                <a:latin typeface="Georgia" panose="02040502050405020303" pitchFamily="18" charset="0"/>
                <a:ea typeface="+mn-ea"/>
                <a:cs typeface="+mn-cs"/>
              </a:rPr>
            </a:br>
            <a:endParaRPr lang="en-US" sz="1584" kern="1200">
              <a:solidFill>
                <a:schemeClr val="tx1"/>
              </a:solidFill>
              <a:latin typeface="Georgia" panose="02040502050405020303" pitchFamily="18" charset="0"/>
              <a:ea typeface="+mn-ea"/>
              <a:cs typeface="+mn-cs"/>
            </a:endParaRPr>
          </a:p>
          <a:p>
            <a:pPr marL="251460" indent="-251460" defTabSz="804672">
              <a:spcAft>
                <a:spcPts val="600"/>
              </a:spcAft>
              <a:buFont typeface="Arial" panose="020B0604020202020204" pitchFamily="34" charset="0"/>
              <a:buChar char="•"/>
            </a:pPr>
            <a:r>
              <a:rPr lang="en-US" sz="1584" kern="1200">
                <a:solidFill>
                  <a:schemeClr val="tx1"/>
                </a:solidFill>
                <a:latin typeface="Georgia" panose="02040502050405020303" pitchFamily="18" charset="0"/>
                <a:ea typeface="+mn-ea"/>
                <a:cs typeface="+mn-cs"/>
              </a:rPr>
              <a:t>Diabetes is a major cause of </a:t>
            </a:r>
            <a:r>
              <a:rPr lang="en-US" sz="1584" b="1" kern="1200">
                <a:solidFill>
                  <a:schemeClr val="tx1"/>
                </a:solidFill>
                <a:latin typeface="Georgia" panose="02040502050405020303" pitchFamily="18" charset="0"/>
                <a:ea typeface="+mn-ea"/>
                <a:cs typeface="+mn-cs"/>
              </a:rPr>
              <a:t>blindness</a:t>
            </a:r>
            <a:r>
              <a:rPr lang="en-US" sz="1584" kern="1200">
                <a:solidFill>
                  <a:schemeClr val="tx1"/>
                </a:solidFill>
                <a:latin typeface="Georgia" panose="02040502050405020303" pitchFamily="18" charset="0"/>
                <a:ea typeface="+mn-ea"/>
                <a:cs typeface="+mn-cs"/>
              </a:rPr>
              <a:t>, </a:t>
            </a:r>
            <a:r>
              <a:rPr lang="en-US" sz="1584" b="1" kern="1200">
                <a:solidFill>
                  <a:schemeClr val="tx1"/>
                </a:solidFill>
                <a:latin typeface="Georgia" panose="02040502050405020303" pitchFamily="18" charset="0"/>
                <a:ea typeface="+mn-ea"/>
                <a:cs typeface="+mn-cs"/>
              </a:rPr>
              <a:t>kidney failure</a:t>
            </a:r>
            <a:r>
              <a:rPr lang="en-US" sz="1584" kern="1200">
                <a:solidFill>
                  <a:schemeClr val="tx1"/>
                </a:solidFill>
                <a:latin typeface="Georgia" panose="02040502050405020303" pitchFamily="18" charset="0"/>
                <a:ea typeface="+mn-ea"/>
                <a:cs typeface="+mn-cs"/>
              </a:rPr>
              <a:t>, </a:t>
            </a:r>
            <a:r>
              <a:rPr lang="en-US" sz="1584" b="1" kern="1200">
                <a:solidFill>
                  <a:schemeClr val="tx1"/>
                </a:solidFill>
                <a:latin typeface="Georgia" panose="02040502050405020303" pitchFamily="18" charset="0"/>
                <a:ea typeface="+mn-ea"/>
                <a:cs typeface="+mn-cs"/>
              </a:rPr>
              <a:t>heart attacks</a:t>
            </a:r>
            <a:r>
              <a:rPr lang="en-US" sz="1584" kern="1200">
                <a:solidFill>
                  <a:schemeClr val="tx1"/>
                </a:solidFill>
                <a:latin typeface="Georgia" panose="02040502050405020303" pitchFamily="18" charset="0"/>
                <a:ea typeface="+mn-ea"/>
                <a:cs typeface="+mn-cs"/>
              </a:rPr>
              <a:t>, </a:t>
            </a:r>
            <a:r>
              <a:rPr lang="en-US" sz="1584" b="1" kern="1200">
                <a:solidFill>
                  <a:schemeClr val="tx1"/>
                </a:solidFill>
                <a:latin typeface="Georgia" panose="02040502050405020303" pitchFamily="18" charset="0"/>
                <a:ea typeface="+mn-ea"/>
                <a:cs typeface="+mn-cs"/>
              </a:rPr>
              <a:t>stroke</a:t>
            </a:r>
            <a:r>
              <a:rPr lang="en-US" sz="1584" kern="1200">
                <a:solidFill>
                  <a:schemeClr val="tx1"/>
                </a:solidFill>
                <a:latin typeface="Georgia" panose="02040502050405020303" pitchFamily="18" charset="0"/>
                <a:ea typeface="+mn-ea"/>
                <a:cs typeface="+mn-cs"/>
              </a:rPr>
              <a:t> and lower limb </a:t>
            </a:r>
            <a:r>
              <a:rPr lang="en-US" sz="1584" b="1" kern="1200">
                <a:solidFill>
                  <a:schemeClr val="tx1"/>
                </a:solidFill>
                <a:latin typeface="Georgia" panose="02040502050405020303" pitchFamily="18" charset="0"/>
                <a:ea typeface="+mn-ea"/>
                <a:cs typeface="+mn-cs"/>
              </a:rPr>
              <a:t>amputation</a:t>
            </a:r>
            <a:r>
              <a:rPr lang="en-US" sz="1584" kern="1200">
                <a:solidFill>
                  <a:schemeClr val="tx1"/>
                </a:solidFill>
                <a:latin typeface="Georgia" panose="02040502050405020303" pitchFamily="18" charset="0"/>
                <a:ea typeface="+mn-ea"/>
                <a:cs typeface="+mn-cs"/>
              </a:rPr>
              <a:t>.</a:t>
            </a:r>
            <a:br>
              <a:rPr lang="en-US" sz="1584" kern="1200">
                <a:solidFill>
                  <a:schemeClr val="tx1"/>
                </a:solidFill>
                <a:latin typeface="Georgia" panose="02040502050405020303" pitchFamily="18" charset="0"/>
                <a:ea typeface="+mn-ea"/>
                <a:cs typeface="+mn-cs"/>
              </a:rPr>
            </a:br>
            <a:endParaRPr lang="en-US" sz="1584" kern="1200">
              <a:solidFill>
                <a:schemeClr val="tx1"/>
              </a:solidFill>
              <a:latin typeface="Georgia" panose="02040502050405020303" pitchFamily="18" charset="0"/>
              <a:ea typeface="+mn-ea"/>
              <a:cs typeface="+mn-cs"/>
            </a:endParaRPr>
          </a:p>
          <a:p>
            <a:pPr marL="251460" indent="-251460" defTabSz="804672">
              <a:spcAft>
                <a:spcPts val="600"/>
              </a:spcAft>
              <a:buFont typeface="Arial" panose="020B0604020202020204" pitchFamily="34" charset="0"/>
              <a:buChar char="•"/>
            </a:pPr>
            <a:r>
              <a:rPr lang="en-US" sz="1584" kern="1200">
                <a:solidFill>
                  <a:schemeClr val="tx1"/>
                </a:solidFill>
                <a:latin typeface="Georgia" panose="02040502050405020303" pitchFamily="18" charset="0"/>
                <a:ea typeface="+mn-ea"/>
                <a:cs typeface="+mn-cs"/>
              </a:rPr>
              <a:t>Diabetes reduces a person’s productivity</a:t>
            </a:r>
          </a:p>
          <a:p>
            <a:pPr defTabSz="804672">
              <a:spcAft>
                <a:spcPts val="600"/>
              </a:spcAft>
            </a:pPr>
            <a:endParaRPr lang="en-US" sz="1584" kern="1200">
              <a:solidFill>
                <a:schemeClr val="tx1"/>
              </a:solidFill>
              <a:latin typeface="Georgia" panose="02040502050405020303" pitchFamily="18" charset="0"/>
              <a:ea typeface="+mn-ea"/>
              <a:cs typeface="+mn-cs"/>
            </a:endParaRPr>
          </a:p>
          <a:p>
            <a:pPr marL="285750" indent="-285750">
              <a:spcAft>
                <a:spcPts val="600"/>
              </a:spcAft>
              <a:buFont typeface="Arial" panose="020B0604020202020204" pitchFamily="34" charset="0"/>
              <a:buChar char="•"/>
            </a:pPr>
            <a:endParaRPr lang="en-US">
              <a:latin typeface="Georgia" panose="02040502050405020303" pitchFamily="18" charset="0"/>
            </a:endParaRPr>
          </a:p>
        </p:txBody>
      </p:sp>
      <p:sp>
        <p:nvSpPr>
          <p:cNvPr id="9" name="TextBox 8">
            <a:extLst>
              <a:ext uri="{FF2B5EF4-FFF2-40B4-BE49-F238E27FC236}">
                <a16:creationId xmlns:a16="http://schemas.microsoft.com/office/drawing/2014/main" id="{939A9F6C-74E3-8DE8-0078-1C8D991F941F}"/>
              </a:ext>
            </a:extLst>
          </p:cNvPr>
          <p:cNvSpPr txBox="1"/>
          <p:nvPr/>
        </p:nvSpPr>
        <p:spPr>
          <a:xfrm>
            <a:off x="1420124" y="1825625"/>
            <a:ext cx="9351751" cy="336118"/>
          </a:xfrm>
          <a:prstGeom prst="rect">
            <a:avLst/>
          </a:prstGeom>
          <a:noFill/>
        </p:spPr>
        <p:txBody>
          <a:bodyPr wrap="square" rtlCol="0">
            <a:spAutoFit/>
          </a:bodyPr>
          <a:lstStyle/>
          <a:p>
            <a:pPr algn="ctr" defTabSz="804672">
              <a:spcAft>
                <a:spcPts val="600"/>
              </a:spcAft>
            </a:pPr>
            <a:r>
              <a:rPr lang="en-US" sz="1584" b="1" kern="1200">
                <a:solidFill>
                  <a:schemeClr val="tx1"/>
                </a:solidFill>
                <a:latin typeface="Georgia" panose="02040502050405020303" pitchFamily="18" charset="0"/>
                <a:ea typeface="+mn-ea"/>
                <a:cs typeface="+mn-cs"/>
              </a:rPr>
              <a:t>Nearly 10% of Americans have type II diabetes</a:t>
            </a:r>
            <a:endParaRPr lang="en-US" b="1">
              <a:latin typeface="Georgia" panose="02040502050405020303" pitchFamily="18" charset="0"/>
            </a:endParaRPr>
          </a:p>
        </p:txBody>
      </p:sp>
      <p:sp>
        <p:nvSpPr>
          <p:cNvPr id="10" name="TextBox 9">
            <a:extLst>
              <a:ext uri="{FF2B5EF4-FFF2-40B4-BE49-F238E27FC236}">
                <a16:creationId xmlns:a16="http://schemas.microsoft.com/office/drawing/2014/main" id="{292CDFBD-8804-A3CF-AD5D-2D06F3D4816A}"/>
              </a:ext>
            </a:extLst>
          </p:cNvPr>
          <p:cNvSpPr txBox="1"/>
          <p:nvPr/>
        </p:nvSpPr>
        <p:spPr>
          <a:xfrm>
            <a:off x="6601856" y="3385097"/>
            <a:ext cx="4165635" cy="3114955"/>
          </a:xfrm>
          <a:prstGeom prst="rect">
            <a:avLst/>
          </a:prstGeom>
          <a:noFill/>
        </p:spPr>
        <p:txBody>
          <a:bodyPr wrap="square" rtlCol="0">
            <a:spAutoFit/>
          </a:bodyPr>
          <a:lstStyle/>
          <a:p>
            <a:pPr marL="251460" indent="-251460" defTabSz="804672">
              <a:spcAft>
                <a:spcPts val="600"/>
              </a:spcAft>
              <a:buFont typeface="Arial" panose="020B0604020202020204" pitchFamily="34" charset="0"/>
              <a:buChar char="•"/>
            </a:pPr>
            <a:r>
              <a:rPr lang="en-US" sz="1584" kern="1200">
                <a:solidFill>
                  <a:schemeClr val="tx1"/>
                </a:solidFill>
                <a:latin typeface="Georgia" panose="02040502050405020303" pitchFamily="18" charset="0"/>
                <a:ea typeface="+mn-ea"/>
                <a:cs typeface="+mn-cs"/>
              </a:rPr>
              <a:t>Diabetes costs the United States over </a:t>
            </a:r>
            <a:r>
              <a:rPr lang="en-US" sz="1584" b="1" kern="1200">
                <a:solidFill>
                  <a:schemeClr val="tx1"/>
                </a:solidFill>
                <a:latin typeface="Georgia" panose="02040502050405020303" pitchFamily="18" charset="0"/>
                <a:ea typeface="+mn-ea"/>
                <a:cs typeface="+mn-cs"/>
              </a:rPr>
              <a:t>$325 billion dollars a year</a:t>
            </a:r>
            <a:br>
              <a:rPr lang="en-US" sz="1584" b="1" kern="1200">
                <a:solidFill>
                  <a:schemeClr val="tx1"/>
                </a:solidFill>
                <a:latin typeface="Georgia" panose="02040502050405020303" pitchFamily="18" charset="0"/>
                <a:ea typeface="+mn-ea"/>
                <a:cs typeface="+mn-cs"/>
              </a:rPr>
            </a:br>
            <a:endParaRPr lang="en-US" sz="1584" b="1" kern="1200">
              <a:solidFill>
                <a:schemeClr val="tx1"/>
              </a:solidFill>
              <a:latin typeface="Georgia" panose="02040502050405020303" pitchFamily="18" charset="0"/>
              <a:ea typeface="+mn-ea"/>
              <a:cs typeface="+mn-cs"/>
            </a:endParaRPr>
          </a:p>
          <a:p>
            <a:pPr marL="251460" indent="-251460" defTabSz="804672">
              <a:spcAft>
                <a:spcPts val="600"/>
              </a:spcAft>
              <a:buFont typeface="Arial" panose="020B0604020202020204" pitchFamily="34" charset="0"/>
              <a:buChar char="•"/>
            </a:pPr>
            <a:r>
              <a:rPr lang="en-US" sz="1584" kern="1200">
                <a:solidFill>
                  <a:schemeClr val="tx1"/>
                </a:solidFill>
                <a:latin typeface="Georgia" panose="02040502050405020303" pitchFamily="18" charset="0"/>
                <a:ea typeface="+mn-ea"/>
                <a:cs typeface="+mn-cs"/>
              </a:rPr>
              <a:t>Diabetes care represents </a:t>
            </a:r>
            <a:r>
              <a:rPr lang="en-US" sz="1584" b="1" kern="1200">
                <a:solidFill>
                  <a:schemeClr val="tx1"/>
                </a:solidFill>
                <a:latin typeface="Georgia" panose="02040502050405020303" pitchFamily="18" charset="0"/>
                <a:ea typeface="+mn-ea"/>
                <a:cs typeface="+mn-cs"/>
              </a:rPr>
              <a:t>1 in 4 U.S. healthcare dollars</a:t>
            </a:r>
            <a:br>
              <a:rPr lang="en-US" sz="1584" b="1" kern="1200">
                <a:solidFill>
                  <a:schemeClr val="tx1"/>
                </a:solidFill>
                <a:latin typeface="Georgia" panose="02040502050405020303" pitchFamily="18" charset="0"/>
                <a:ea typeface="+mn-ea"/>
                <a:cs typeface="+mn-cs"/>
              </a:rPr>
            </a:br>
            <a:endParaRPr lang="en-US" sz="1584" b="1" kern="1200">
              <a:solidFill>
                <a:schemeClr val="tx1"/>
              </a:solidFill>
              <a:latin typeface="Georgia" panose="02040502050405020303" pitchFamily="18" charset="0"/>
              <a:ea typeface="+mn-ea"/>
              <a:cs typeface="+mn-cs"/>
            </a:endParaRPr>
          </a:p>
          <a:p>
            <a:pPr marL="251460" indent="-251460" defTabSz="804672">
              <a:spcAft>
                <a:spcPts val="600"/>
              </a:spcAft>
              <a:buFont typeface="Arial" panose="020B0604020202020204" pitchFamily="34" charset="0"/>
              <a:buChar char="•"/>
            </a:pPr>
            <a:r>
              <a:rPr lang="en-US" sz="1584" kern="1200">
                <a:solidFill>
                  <a:schemeClr val="tx1"/>
                </a:solidFill>
                <a:latin typeface="Georgia" panose="02040502050405020303" pitchFamily="18" charset="0"/>
                <a:ea typeface="+mn-ea"/>
                <a:cs typeface="+mn-cs"/>
              </a:rPr>
              <a:t>A citizen with diabetes can expect to pay nearly </a:t>
            </a:r>
            <a:r>
              <a:rPr lang="en-US" sz="1584" b="1" kern="1200">
                <a:solidFill>
                  <a:schemeClr val="tx1"/>
                </a:solidFill>
                <a:latin typeface="Georgia" panose="02040502050405020303" pitchFamily="18" charset="0"/>
                <a:ea typeface="+mn-ea"/>
                <a:cs typeface="+mn-cs"/>
              </a:rPr>
              <a:t>$10,000 a year </a:t>
            </a:r>
            <a:r>
              <a:rPr lang="en-US" sz="1584" kern="1200">
                <a:solidFill>
                  <a:schemeClr val="tx1"/>
                </a:solidFill>
                <a:latin typeface="Georgia" panose="02040502050405020303" pitchFamily="18" charset="0"/>
                <a:ea typeface="+mn-ea"/>
                <a:cs typeface="+mn-cs"/>
              </a:rPr>
              <a:t>for diabetes related healthcare </a:t>
            </a:r>
          </a:p>
          <a:p>
            <a:pPr marL="251460" indent="-251460" defTabSz="804672">
              <a:spcAft>
                <a:spcPts val="600"/>
              </a:spcAft>
              <a:buFont typeface="Arial" panose="020B0604020202020204" pitchFamily="34" charset="0"/>
              <a:buChar char="•"/>
            </a:pPr>
            <a:endParaRPr lang="en-US" sz="1584" kern="1200">
              <a:solidFill>
                <a:schemeClr val="tx1"/>
              </a:solidFill>
              <a:latin typeface="Georgia" panose="02040502050405020303" pitchFamily="18" charset="0"/>
              <a:ea typeface="+mn-ea"/>
              <a:cs typeface="+mn-cs"/>
            </a:endParaRPr>
          </a:p>
          <a:p>
            <a:pPr marL="285750" indent="-285750">
              <a:spcAft>
                <a:spcPts val="600"/>
              </a:spcAft>
              <a:buFont typeface="Arial" panose="020B0604020202020204" pitchFamily="34" charset="0"/>
              <a:buChar char="•"/>
            </a:pPr>
            <a:endParaRPr lang="en-US">
              <a:latin typeface="Georgia" panose="02040502050405020303" pitchFamily="18" charset="0"/>
            </a:endParaRPr>
          </a:p>
        </p:txBody>
      </p:sp>
      <p:sp>
        <p:nvSpPr>
          <p:cNvPr id="12" name="Rectangle 11">
            <a:extLst>
              <a:ext uri="{FF2B5EF4-FFF2-40B4-BE49-F238E27FC236}">
                <a16:creationId xmlns:a16="http://schemas.microsoft.com/office/drawing/2014/main" id="{C8699026-FF1D-ED54-9BF5-7B37E98B0282}"/>
              </a:ext>
            </a:extLst>
          </p:cNvPr>
          <p:cNvSpPr/>
          <p:nvPr/>
        </p:nvSpPr>
        <p:spPr>
          <a:xfrm>
            <a:off x="0" y="0"/>
            <a:ext cx="12188951" cy="1690688"/>
          </a:xfrm>
          <a:prstGeom prst="rect">
            <a:avLst/>
          </a:prstGeom>
          <a:solidFill>
            <a:srgbClr val="FED6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841DAA-1AF9-17FB-6FEF-9C16A28D4FEC}"/>
              </a:ext>
            </a:extLst>
          </p:cNvPr>
          <p:cNvSpPr>
            <a:spLocks noGrp="1"/>
          </p:cNvSpPr>
          <p:nvPr>
            <p:ph type="title"/>
          </p:nvPr>
        </p:nvSpPr>
        <p:spPr>
          <a:xfrm>
            <a:off x="838200" y="376882"/>
            <a:ext cx="10515600" cy="1133693"/>
          </a:xfrm>
        </p:spPr>
        <p:txBody>
          <a:bodyPr>
            <a:normAutofit/>
          </a:bodyPr>
          <a:lstStyle/>
          <a:p>
            <a:pPr algn="ctr"/>
            <a:r>
              <a:rPr lang="en-US" sz="3600">
                <a:latin typeface="Georgia"/>
                <a:ea typeface="+mj-lt"/>
                <a:cs typeface="+mj-lt"/>
              </a:rPr>
              <a:t>Diabetes is stealing our lives, wellbeing, and money</a:t>
            </a:r>
            <a:endParaRPr lang="en-US" sz="3600">
              <a:latin typeface="Georgia"/>
            </a:endParaRPr>
          </a:p>
        </p:txBody>
      </p:sp>
    </p:spTree>
    <p:extLst>
      <p:ext uri="{BB962C8B-B14F-4D97-AF65-F5344CB8AC3E}">
        <p14:creationId xmlns:p14="http://schemas.microsoft.com/office/powerpoint/2010/main" val="28932984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6B62528-F0D6-9C39-F601-6A9B67A45E89}"/>
              </a:ext>
            </a:extLst>
          </p:cNvPr>
          <p:cNvSpPr/>
          <p:nvPr/>
        </p:nvSpPr>
        <p:spPr>
          <a:xfrm>
            <a:off x="6108913" y="3868583"/>
            <a:ext cx="4023360" cy="300904"/>
          </a:xfrm>
          <a:prstGeom prst="rect">
            <a:avLst/>
          </a:prstGeom>
          <a:solidFill>
            <a:srgbClr val="FED6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841DAA-1AF9-17FB-6FEF-9C16A28D4FEC}"/>
              </a:ext>
            </a:extLst>
          </p:cNvPr>
          <p:cNvSpPr>
            <a:spLocks noGrp="1"/>
          </p:cNvSpPr>
          <p:nvPr>
            <p:ph type="title"/>
          </p:nvPr>
        </p:nvSpPr>
        <p:spPr>
          <a:xfrm>
            <a:off x="752556" y="2675656"/>
            <a:ext cx="4974955" cy="1325563"/>
          </a:xfrm>
        </p:spPr>
        <p:txBody>
          <a:bodyPr>
            <a:normAutofit fontScale="90000"/>
          </a:bodyPr>
          <a:lstStyle/>
          <a:p>
            <a:r>
              <a:rPr lang="en-US">
                <a:latin typeface="Georgia" panose="02040502050405020303" pitchFamily="18" charset="0"/>
                <a:ea typeface="+mj-lt"/>
                <a:cs typeface="+mj-lt"/>
              </a:rPr>
              <a:t>Catching and curing diabetes creates significant cost savings and revenue potential</a:t>
            </a:r>
            <a:endParaRPr lang="pt-BR">
              <a:latin typeface="Georgia" panose="02040502050405020303" pitchFamily="18" charset="0"/>
            </a:endParaRPr>
          </a:p>
        </p:txBody>
      </p:sp>
      <p:sp>
        <p:nvSpPr>
          <p:cNvPr id="7" name="TextBox 6">
            <a:extLst>
              <a:ext uri="{FF2B5EF4-FFF2-40B4-BE49-F238E27FC236}">
                <a16:creationId xmlns:a16="http://schemas.microsoft.com/office/drawing/2014/main" id="{33505324-2EF3-5A07-4FD7-F44F3DBA0616}"/>
              </a:ext>
            </a:extLst>
          </p:cNvPr>
          <p:cNvSpPr txBox="1"/>
          <p:nvPr/>
        </p:nvSpPr>
        <p:spPr>
          <a:xfrm>
            <a:off x="6085668" y="2415108"/>
            <a:ext cx="4974954" cy="923330"/>
          </a:xfrm>
          <a:prstGeom prst="rect">
            <a:avLst/>
          </a:prstGeom>
          <a:noFill/>
        </p:spPr>
        <p:txBody>
          <a:bodyPr wrap="square" rtlCol="0">
            <a:spAutoFit/>
          </a:bodyPr>
          <a:lstStyle/>
          <a:p>
            <a:r>
              <a:rPr lang="en-US">
                <a:latin typeface="Georgia" panose="02040502050405020303" pitchFamily="18" charset="0"/>
              </a:rPr>
              <a:t>The amount the private sector could save per year on improved productivity, reduced absenteeism, and reduced insurance costs.</a:t>
            </a:r>
          </a:p>
        </p:txBody>
      </p:sp>
      <p:sp>
        <p:nvSpPr>
          <p:cNvPr id="10" name="Rectangle 9">
            <a:extLst>
              <a:ext uri="{FF2B5EF4-FFF2-40B4-BE49-F238E27FC236}">
                <a16:creationId xmlns:a16="http://schemas.microsoft.com/office/drawing/2014/main" id="{13BC257E-586E-79A0-9AFF-9F14DA554687}"/>
              </a:ext>
            </a:extLst>
          </p:cNvPr>
          <p:cNvSpPr/>
          <p:nvPr/>
        </p:nvSpPr>
        <p:spPr>
          <a:xfrm>
            <a:off x="6108914" y="2079990"/>
            <a:ext cx="3151323" cy="300904"/>
          </a:xfrm>
          <a:prstGeom prst="rect">
            <a:avLst/>
          </a:prstGeom>
          <a:solidFill>
            <a:srgbClr val="FED6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E79646B-1276-A589-81AB-348BA77F015C}"/>
              </a:ext>
            </a:extLst>
          </p:cNvPr>
          <p:cNvSpPr txBox="1"/>
          <p:nvPr/>
        </p:nvSpPr>
        <p:spPr>
          <a:xfrm>
            <a:off x="6085668" y="4203657"/>
            <a:ext cx="4974954" cy="646331"/>
          </a:xfrm>
          <a:prstGeom prst="rect">
            <a:avLst/>
          </a:prstGeom>
          <a:noFill/>
        </p:spPr>
        <p:txBody>
          <a:bodyPr wrap="square" rtlCol="0">
            <a:spAutoFit/>
          </a:bodyPr>
          <a:lstStyle/>
          <a:p>
            <a:r>
              <a:rPr lang="en-US">
                <a:latin typeface="Georgia" panose="02040502050405020303" pitchFamily="18" charset="0"/>
              </a:rPr>
              <a:t>The amount new entrants could steal from the current diabetes market.</a:t>
            </a:r>
          </a:p>
        </p:txBody>
      </p:sp>
      <p:sp>
        <p:nvSpPr>
          <p:cNvPr id="6" name="TextBox 5">
            <a:extLst>
              <a:ext uri="{FF2B5EF4-FFF2-40B4-BE49-F238E27FC236}">
                <a16:creationId xmlns:a16="http://schemas.microsoft.com/office/drawing/2014/main" id="{49B73B99-9C73-82E1-4383-A332A3208E5B}"/>
              </a:ext>
            </a:extLst>
          </p:cNvPr>
          <p:cNvSpPr txBox="1"/>
          <p:nvPr/>
        </p:nvSpPr>
        <p:spPr>
          <a:xfrm>
            <a:off x="6085668" y="2045776"/>
            <a:ext cx="3394128" cy="369332"/>
          </a:xfrm>
          <a:prstGeom prst="rect">
            <a:avLst/>
          </a:prstGeom>
          <a:noFill/>
        </p:spPr>
        <p:txBody>
          <a:bodyPr wrap="square" rtlCol="0">
            <a:spAutoFit/>
          </a:bodyPr>
          <a:lstStyle/>
          <a:p>
            <a:r>
              <a:rPr lang="en-US" b="1" spc="-150">
                <a:latin typeface="Georgia" panose="02040502050405020303" pitchFamily="18" charset="0"/>
              </a:rPr>
              <a:t>NINETY BILLION DOLLARS</a:t>
            </a:r>
          </a:p>
        </p:txBody>
      </p:sp>
      <p:sp>
        <p:nvSpPr>
          <p:cNvPr id="8" name="TextBox 7">
            <a:extLst>
              <a:ext uri="{FF2B5EF4-FFF2-40B4-BE49-F238E27FC236}">
                <a16:creationId xmlns:a16="http://schemas.microsoft.com/office/drawing/2014/main" id="{7786C01E-355B-54DD-A681-3AE960F3EBFB}"/>
              </a:ext>
            </a:extLst>
          </p:cNvPr>
          <p:cNvSpPr txBox="1"/>
          <p:nvPr/>
        </p:nvSpPr>
        <p:spPr>
          <a:xfrm>
            <a:off x="6085667" y="3834325"/>
            <a:ext cx="4974955" cy="369332"/>
          </a:xfrm>
          <a:prstGeom prst="rect">
            <a:avLst/>
          </a:prstGeom>
          <a:noFill/>
        </p:spPr>
        <p:txBody>
          <a:bodyPr wrap="square" rtlCol="0">
            <a:spAutoFit/>
          </a:bodyPr>
          <a:lstStyle/>
          <a:p>
            <a:r>
              <a:rPr lang="en-US" b="1" spc="-150">
                <a:latin typeface="Georgia" panose="02040502050405020303" pitchFamily="18" charset="0"/>
              </a:rPr>
              <a:t>SEVENTY FIVE  + BILLION DOLLARS</a:t>
            </a:r>
          </a:p>
        </p:txBody>
      </p:sp>
      <p:sp>
        <p:nvSpPr>
          <p:cNvPr id="14" name="Rectangle 13">
            <a:extLst>
              <a:ext uri="{FF2B5EF4-FFF2-40B4-BE49-F238E27FC236}">
                <a16:creationId xmlns:a16="http://schemas.microsoft.com/office/drawing/2014/main" id="{DD75931C-92BB-E87E-6784-D62BF9AE1750}"/>
              </a:ext>
            </a:extLst>
          </p:cNvPr>
          <p:cNvSpPr/>
          <p:nvPr/>
        </p:nvSpPr>
        <p:spPr>
          <a:xfrm>
            <a:off x="394400" y="400050"/>
            <a:ext cx="11403200" cy="6076950"/>
          </a:xfrm>
          <a:prstGeom prst="rect">
            <a:avLst/>
          </a:prstGeom>
          <a:noFill/>
          <a:ln w="57150">
            <a:solidFill>
              <a:srgbClr val="FED6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381035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80B4D07-9D43-EB0D-D00B-CE282803EFEA}"/>
              </a:ext>
            </a:extLst>
          </p:cNvPr>
          <p:cNvSpPr/>
          <p:nvPr/>
        </p:nvSpPr>
        <p:spPr>
          <a:xfrm>
            <a:off x="0" y="-38100"/>
            <a:ext cx="12192000" cy="6896100"/>
          </a:xfrm>
          <a:prstGeom prst="rect">
            <a:avLst/>
          </a:prstGeom>
          <a:solidFill>
            <a:srgbClr val="FED66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9" name="Rectangle 8">
            <a:extLst>
              <a:ext uri="{FF2B5EF4-FFF2-40B4-BE49-F238E27FC236}">
                <a16:creationId xmlns:a16="http://schemas.microsoft.com/office/drawing/2014/main" id="{DA1695CE-6A6A-21FB-687F-68C6B231720F}"/>
              </a:ext>
            </a:extLst>
          </p:cNvPr>
          <p:cNvSpPr/>
          <p:nvPr/>
        </p:nvSpPr>
        <p:spPr>
          <a:xfrm>
            <a:off x="466725" y="2258218"/>
            <a:ext cx="11258550" cy="2000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841DAA-1AF9-17FB-6FEF-9C16A28D4FEC}"/>
              </a:ext>
            </a:extLst>
          </p:cNvPr>
          <p:cNvSpPr>
            <a:spLocks noGrp="1"/>
          </p:cNvSpPr>
          <p:nvPr>
            <p:ph type="title"/>
          </p:nvPr>
        </p:nvSpPr>
        <p:spPr>
          <a:xfrm>
            <a:off x="838200" y="2595562"/>
            <a:ext cx="10515600" cy="1325563"/>
          </a:xfrm>
        </p:spPr>
        <p:txBody>
          <a:bodyPr>
            <a:normAutofit fontScale="90000"/>
          </a:bodyPr>
          <a:lstStyle/>
          <a:p>
            <a:r>
              <a:rPr lang="en-US">
                <a:latin typeface="Georgia" panose="02040502050405020303" pitchFamily="18" charset="0"/>
                <a:ea typeface="+mj-lt"/>
                <a:cs typeface="+mj-lt"/>
              </a:rPr>
              <a:t>Our Project: To identify the factors impacting the likelihood to be diagnosed with diabetes</a:t>
            </a:r>
            <a:endParaRPr lang="en-US">
              <a:latin typeface="Georgia" panose="02040502050405020303" pitchFamily="18" charset="0"/>
            </a:endParaRPr>
          </a:p>
        </p:txBody>
      </p:sp>
    </p:spTree>
    <p:extLst>
      <p:ext uri="{BB962C8B-B14F-4D97-AF65-F5344CB8AC3E}">
        <p14:creationId xmlns:p14="http://schemas.microsoft.com/office/powerpoint/2010/main" val="32531378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B2FCB-6F4B-FC1C-DE57-D09273E7AF20}"/>
              </a:ext>
            </a:extLst>
          </p:cNvPr>
          <p:cNvSpPr>
            <a:spLocks noGrp="1"/>
          </p:cNvSpPr>
          <p:nvPr>
            <p:ph type="title"/>
          </p:nvPr>
        </p:nvSpPr>
        <p:spPr/>
        <p:txBody>
          <a:bodyPr>
            <a:normAutofit fontScale="90000"/>
          </a:bodyPr>
          <a:lstStyle/>
          <a:p>
            <a:r>
              <a:rPr lang="en-US" sz="4000">
                <a:latin typeface="Georgia" panose="02040502050405020303" pitchFamily="18" charset="0"/>
                <a:cs typeface="Calibri Light"/>
              </a:rPr>
              <a:t>We’ll apply modeling to behavioral survey data and cost of living data to identify these factors</a:t>
            </a:r>
            <a:endParaRPr lang="en-US" sz="4000">
              <a:latin typeface="Georgia" panose="02040502050405020303" pitchFamily="18" charset="0"/>
            </a:endParaRPr>
          </a:p>
        </p:txBody>
      </p:sp>
      <p:sp>
        <p:nvSpPr>
          <p:cNvPr id="6" name="Rectangle 5">
            <a:extLst>
              <a:ext uri="{FF2B5EF4-FFF2-40B4-BE49-F238E27FC236}">
                <a16:creationId xmlns:a16="http://schemas.microsoft.com/office/drawing/2014/main" id="{5C48F07F-F8D0-367A-BA5B-4DCB2FB91DBC}"/>
              </a:ext>
            </a:extLst>
          </p:cNvPr>
          <p:cNvSpPr/>
          <p:nvPr/>
        </p:nvSpPr>
        <p:spPr>
          <a:xfrm>
            <a:off x="838200" y="2552700"/>
            <a:ext cx="4076700" cy="45719"/>
          </a:xfrm>
          <a:prstGeom prst="rect">
            <a:avLst/>
          </a:prstGeom>
          <a:solidFill>
            <a:srgbClr val="FED6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11D4260-6082-A2FC-4050-B2D07A27C144}"/>
              </a:ext>
            </a:extLst>
          </p:cNvPr>
          <p:cNvSpPr txBox="1"/>
          <p:nvPr/>
        </p:nvSpPr>
        <p:spPr>
          <a:xfrm>
            <a:off x="762000" y="2625088"/>
            <a:ext cx="5257800" cy="307777"/>
          </a:xfrm>
          <a:prstGeom prst="rect">
            <a:avLst/>
          </a:prstGeom>
          <a:noFill/>
        </p:spPr>
        <p:txBody>
          <a:bodyPr wrap="square" rtlCol="0">
            <a:spAutoFit/>
          </a:bodyPr>
          <a:lstStyle/>
          <a:p>
            <a:r>
              <a:rPr lang="en-US" sz="1400" b="1">
                <a:latin typeface="Georgia" panose="02040502050405020303" pitchFamily="18" charset="0"/>
              </a:rPr>
              <a:t>Behavioral Risk Factor Surveillance System</a:t>
            </a:r>
          </a:p>
        </p:txBody>
      </p:sp>
      <p:sp>
        <p:nvSpPr>
          <p:cNvPr id="8" name="TextBox 7">
            <a:extLst>
              <a:ext uri="{FF2B5EF4-FFF2-40B4-BE49-F238E27FC236}">
                <a16:creationId xmlns:a16="http://schemas.microsoft.com/office/drawing/2014/main" id="{5642F82F-4948-391D-0B9E-19D22A376A77}"/>
              </a:ext>
            </a:extLst>
          </p:cNvPr>
          <p:cNvSpPr txBox="1"/>
          <p:nvPr/>
        </p:nvSpPr>
        <p:spPr>
          <a:xfrm>
            <a:off x="838200" y="2932865"/>
            <a:ext cx="4076700" cy="954107"/>
          </a:xfrm>
          <a:prstGeom prst="rect">
            <a:avLst/>
          </a:prstGeom>
          <a:noFill/>
        </p:spPr>
        <p:txBody>
          <a:bodyPr wrap="square" rtlCol="0">
            <a:spAutoFit/>
          </a:bodyPr>
          <a:lstStyle/>
          <a:p>
            <a:pPr marL="285750" indent="-285750">
              <a:buFont typeface="Arial" panose="020B0604020202020204" pitchFamily="34" charset="0"/>
              <a:buChar char="•"/>
            </a:pPr>
            <a:r>
              <a:rPr lang="en-US" sz="1400">
                <a:latin typeface="Georgia" panose="02040502050405020303" pitchFamily="18" charset="0"/>
                <a:cs typeface="Geeza Pro" panose="02000400000000000000" pitchFamily="2" charset="-78"/>
              </a:rPr>
              <a:t>Survey data captured through phone interviews across all 50 states</a:t>
            </a:r>
          </a:p>
          <a:p>
            <a:pPr marL="285750" indent="-285750">
              <a:buFont typeface="Arial" panose="020B0604020202020204" pitchFamily="34" charset="0"/>
              <a:buChar char="•"/>
            </a:pPr>
            <a:r>
              <a:rPr lang="en-US" sz="1400">
                <a:latin typeface="Georgia" panose="02040502050405020303" pitchFamily="18" charset="0"/>
                <a:cs typeface="Geeza Pro" panose="02000400000000000000" pitchFamily="2" charset="-78"/>
              </a:rPr>
              <a:t>Captures behavioral, medical, and demographic data </a:t>
            </a:r>
          </a:p>
        </p:txBody>
      </p:sp>
      <p:sp>
        <p:nvSpPr>
          <p:cNvPr id="11" name="Rectangle 10">
            <a:extLst>
              <a:ext uri="{FF2B5EF4-FFF2-40B4-BE49-F238E27FC236}">
                <a16:creationId xmlns:a16="http://schemas.microsoft.com/office/drawing/2014/main" id="{2022410D-3E4E-CD9B-1A15-8193EE84BEE4}"/>
              </a:ext>
            </a:extLst>
          </p:cNvPr>
          <p:cNvSpPr/>
          <p:nvPr/>
        </p:nvSpPr>
        <p:spPr>
          <a:xfrm>
            <a:off x="838200" y="4305300"/>
            <a:ext cx="4076700" cy="45719"/>
          </a:xfrm>
          <a:prstGeom prst="rect">
            <a:avLst/>
          </a:prstGeom>
          <a:solidFill>
            <a:srgbClr val="FED6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DDDB985D-ABA9-3F23-792D-66DB505220A1}"/>
              </a:ext>
            </a:extLst>
          </p:cNvPr>
          <p:cNvSpPr txBox="1"/>
          <p:nvPr/>
        </p:nvSpPr>
        <p:spPr>
          <a:xfrm>
            <a:off x="762000" y="4377688"/>
            <a:ext cx="5257800" cy="307777"/>
          </a:xfrm>
          <a:prstGeom prst="rect">
            <a:avLst/>
          </a:prstGeom>
          <a:noFill/>
        </p:spPr>
        <p:txBody>
          <a:bodyPr wrap="square" rtlCol="0">
            <a:spAutoFit/>
          </a:bodyPr>
          <a:lstStyle/>
          <a:p>
            <a:r>
              <a:rPr lang="en-US" sz="1400" b="1">
                <a:latin typeface="Georgia" panose="02040502050405020303" pitchFamily="18" charset="0"/>
              </a:rPr>
              <a:t>Cost of Living Index</a:t>
            </a:r>
          </a:p>
        </p:txBody>
      </p:sp>
      <p:sp>
        <p:nvSpPr>
          <p:cNvPr id="13" name="TextBox 12">
            <a:extLst>
              <a:ext uri="{FF2B5EF4-FFF2-40B4-BE49-F238E27FC236}">
                <a16:creationId xmlns:a16="http://schemas.microsoft.com/office/drawing/2014/main" id="{C7D844D3-7A36-C1EC-A984-68F5B13EFEB6}"/>
              </a:ext>
            </a:extLst>
          </p:cNvPr>
          <p:cNvSpPr txBox="1"/>
          <p:nvPr/>
        </p:nvSpPr>
        <p:spPr>
          <a:xfrm>
            <a:off x="838200" y="4685465"/>
            <a:ext cx="4076700" cy="954107"/>
          </a:xfrm>
          <a:prstGeom prst="rect">
            <a:avLst/>
          </a:prstGeom>
          <a:noFill/>
        </p:spPr>
        <p:txBody>
          <a:bodyPr wrap="square" rtlCol="0">
            <a:spAutoFit/>
          </a:bodyPr>
          <a:lstStyle/>
          <a:p>
            <a:pPr marL="285750" indent="-285750">
              <a:buFont typeface="Arial" panose="020B0604020202020204" pitchFamily="34" charset="0"/>
              <a:buChar char="•"/>
            </a:pPr>
            <a:r>
              <a:rPr lang="en-US" sz="1400">
                <a:latin typeface="Georgia" panose="02040502050405020303" pitchFamily="18" charset="0"/>
                <a:cs typeface="Geeza Pro" panose="02000400000000000000" pitchFamily="2" charset="-78"/>
              </a:rPr>
              <a:t>Indexed cost of living data from the United States</a:t>
            </a:r>
          </a:p>
          <a:p>
            <a:pPr marL="285750" indent="-285750">
              <a:buFont typeface="Arial" panose="020B0604020202020204" pitchFamily="34" charset="0"/>
              <a:buChar char="•"/>
            </a:pPr>
            <a:r>
              <a:rPr lang="en-US" sz="1400">
                <a:latin typeface="Georgia" panose="02040502050405020303" pitchFamily="18" charset="0"/>
                <a:cs typeface="Geeza Pro" panose="02000400000000000000" pitchFamily="2" charset="-78"/>
              </a:rPr>
              <a:t>Grocery, housing, utilities, transportation, and health costs</a:t>
            </a:r>
          </a:p>
        </p:txBody>
      </p:sp>
      <p:sp>
        <p:nvSpPr>
          <p:cNvPr id="14" name="Right Brace 13">
            <a:extLst>
              <a:ext uri="{FF2B5EF4-FFF2-40B4-BE49-F238E27FC236}">
                <a16:creationId xmlns:a16="http://schemas.microsoft.com/office/drawing/2014/main" id="{A1E4BF3B-12B5-087C-2EF4-A734FADA2F7D}"/>
              </a:ext>
            </a:extLst>
          </p:cNvPr>
          <p:cNvSpPr/>
          <p:nvPr/>
        </p:nvSpPr>
        <p:spPr>
          <a:xfrm>
            <a:off x="5857875" y="2598419"/>
            <a:ext cx="476250" cy="3086872"/>
          </a:xfrm>
          <a:prstGeom prst="rightBrace">
            <a:avLst/>
          </a:prstGeom>
          <a:noFill/>
          <a:ln w="38100">
            <a:solidFill>
              <a:srgbClr val="FED668"/>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TextBox 18">
            <a:extLst>
              <a:ext uri="{FF2B5EF4-FFF2-40B4-BE49-F238E27FC236}">
                <a16:creationId xmlns:a16="http://schemas.microsoft.com/office/drawing/2014/main" id="{663A5A35-7BBE-BB88-037A-0C9E3B9FE8FE}"/>
              </a:ext>
            </a:extLst>
          </p:cNvPr>
          <p:cNvSpPr txBox="1"/>
          <p:nvPr/>
        </p:nvSpPr>
        <p:spPr>
          <a:xfrm>
            <a:off x="7096126" y="2714737"/>
            <a:ext cx="4667250" cy="1384995"/>
          </a:xfrm>
          <a:prstGeom prst="rect">
            <a:avLst/>
          </a:prstGeom>
          <a:noFill/>
        </p:spPr>
        <p:txBody>
          <a:bodyPr wrap="square" rtlCol="0">
            <a:spAutoFit/>
          </a:bodyPr>
          <a:lstStyle/>
          <a:p>
            <a:r>
              <a:rPr lang="en-US" sz="1400" b="1">
                <a:latin typeface="Georgia" panose="02040502050405020303" pitchFamily="18" charset="0"/>
                <a:ea typeface="+mn-lt"/>
                <a:cs typeface="+mn-lt"/>
              </a:rPr>
              <a:t>PHASE I</a:t>
            </a:r>
          </a:p>
          <a:p>
            <a:pPr marL="285750" indent="-285750">
              <a:buFont typeface="Courier New" panose="02070309020205020404" pitchFamily="49" charset="0"/>
              <a:buChar char="o"/>
            </a:pPr>
            <a:r>
              <a:rPr lang="en-US" sz="1400">
                <a:latin typeface="Georgia" panose="02040502050405020303" pitchFamily="18" charset="0"/>
                <a:ea typeface="+mn-lt"/>
                <a:cs typeface="+mn-lt"/>
              </a:rPr>
              <a:t>DESK RESEARCH</a:t>
            </a:r>
          </a:p>
          <a:p>
            <a:pPr marL="285750" indent="-285750">
              <a:buFont typeface="Courier New" panose="02070309020205020404" pitchFamily="49" charset="0"/>
              <a:buChar char="o"/>
            </a:pPr>
            <a:r>
              <a:rPr lang="en-US" sz="1400">
                <a:latin typeface="Georgia" panose="02040502050405020303" pitchFamily="18" charset="0"/>
                <a:ea typeface="+mn-lt"/>
                <a:cs typeface="+mn-lt"/>
              </a:rPr>
              <a:t>DATA CLEANING</a:t>
            </a:r>
          </a:p>
          <a:p>
            <a:pPr marL="285750" indent="-285750">
              <a:buFont typeface="Courier New" panose="02070309020205020404" pitchFamily="49" charset="0"/>
              <a:buChar char="o"/>
            </a:pPr>
            <a:r>
              <a:rPr lang="en-US" sz="1400">
                <a:latin typeface="Georgia" panose="02040502050405020303" pitchFamily="18" charset="0"/>
                <a:ea typeface="+mn-lt"/>
                <a:cs typeface="+mn-lt"/>
              </a:rPr>
              <a:t>FEATURE SELECTION</a:t>
            </a:r>
          </a:p>
          <a:p>
            <a:endParaRPr lang="en-US" sz="1400">
              <a:latin typeface="Georgia" panose="02040502050405020303" pitchFamily="18" charset="0"/>
              <a:ea typeface="+mn-lt"/>
              <a:cs typeface="+mn-lt"/>
            </a:endParaRPr>
          </a:p>
          <a:p>
            <a:endParaRPr lang="en-US" sz="1400">
              <a:latin typeface="Georgia" panose="02040502050405020303" pitchFamily="18" charset="0"/>
              <a:ea typeface="+mn-lt"/>
              <a:cs typeface="+mn-lt"/>
            </a:endParaRPr>
          </a:p>
        </p:txBody>
      </p:sp>
      <p:sp>
        <p:nvSpPr>
          <p:cNvPr id="22" name="TextBox 21">
            <a:extLst>
              <a:ext uri="{FF2B5EF4-FFF2-40B4-BE49-F238E27FC236}">
                <a16:creationId xmlns:a16="http://schemas.microsoft.com/office/drawing/2014/main" id="{8CC8A49A-88D6-1BE2-58A0-38E30BE13139}"/>
              </a:ext>
            </a:extLst>
          </p:cNvPr>
          <p:cNvSpPr txBox="1"/>
          <p:nvPr/>
        </p:nvSpPr>
        <p:spPr>
          <a:xfrm>
            <a:off x="2085975" y="1924350"/>
            <a:ext cx="1304925" cy="461665"/>
          </a:xfrm>
          <a:prstGeom prst="rect">
            <a:avLst/>
          </a:prstGeom>
          <a:noFill/>
        </p:spPr>
        <p:txBody>
          <a:bodyPr wrap="square">
            <a:spAutoFit/>
          </a:bodyPr>
          <a:lstStyle/>
          <a:p>
            <a:r>
              <a:rPr lang="en-US" sz="2400" b="1" spc="700">
                <a:ea typeface="+mn-lt"/>
                <a:cs typeface="+mn-lt"/>
              </a:rPr>
              <a:t>DATA</a:t>
            </a:r>
            <a:endParaRPr lang="en-US" sz="2400" b="1" spc="700"/>
          </a:p>
        </p:txBody>
      </p:sp>
      <p:sp>
        <p:nvSpPr>
          <p:cNvPr id="23" name="TextBox 22">
            <a:extLst>
              <a:ext uri="{FF2B5EF4-FFF2-40B4-BE49-F238E27FC236}">
                <a16:creationId xmlns:a16="http://schemas.microsoft.com/office/drawing/2014/main" id="{CA69C9AF-09B3-D0AD-865A-D6CF547DF012}"/>
              </a:ext>
            </a:extLst>
          </p:cNvPr>
          <p:cNvSpPr txBox="1"/>
          <p:nvPr/>
        </p:nvSpPr>
        <p:spPr>
          <a:xfrm>
            <a:off x="7908132" y="1970068"/>
            <a:ext cx="3043239" cy="461665"/>
          </a:xfrm>
          <a:prstGeom prst="rect">
            <a:avLst/>
          </a:prstGeom>
          <a:noFill/>
        </p:spPr>
        <p:txBody>
          <a:bodyPr wrap="square">
            <a:spAutoFit/>
          </a:bodyPr>
          <a:lstStyle/>
          <a:p>
            <a:r>
              <a:rPr lang="en-US" sz="2400" b="1" spc="700">
                <a:ea typeface="+mn-lt"/>
                <a:cs typeface="+mn-lt"/>
              </a:rPr>
              <a:t>APPROACH</a:t>
            </a:r>
            <a:endParaRPr lang="en-US" sz="2400" b="1" spc="700"/>
          </a:p>
        </p:txBody>
      </p:sp>
      <p:sp>
        <p:nvSpPr>
          <p:cNvPr id="24" name="Rectangle 23">
            <a:extLst>
              <a:ext uri="{FF2B5EF4-FFF2-40B4-BE49-F238E27FC236}">
                <a16:creationId xmlns:a16="http://schemas.microsoft.com/office/drawing/2014/main" id="{1BAA14A7-61CE-C054-9863-5FEF6A44A538}"/>
              </a:ext>
            </a:extLst>
          </p:cNvPr>
          <p:cNvSpPr/>
          <p:nvPr/>
        </p:nvSpPr>
        <p:spPr>
          <a:xfrm>
            <a:off x="7115177" y="2598418"/>
            <a:ext cx="4076700" cy="45719"/>
          </a:xfrm>
          <a:prstGeom prst="rect">
            <a:avLst/>
          </a:prstGeom>
          <a:solidFill>
            <a:srgbClr val="FED6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C50DB415-0B2F-6D7C-63AD-052869FA699C}"/>
              </a:ext>
            </a:extLst>
          </p:cNvPr>
          <p:cNvSpPr txBox="1"/>
          <p:nvPr/>
        </p:nvSpPr>
        <p:spPr>
          <a:xfrm>
            <a:off x="7096126" y="4369110"/>
            <a:ext cx="6096000" cy="738664"/>
          </a:xfrm>
          <a:prstGeom prst="rect">
            <a:avLst/>
          </a:prstGeom>
          <a:noFill/>
        </p:spPr>
        <p:txBody>
          <a:bodyPr wrap="square">
            <a:spAutoFit/>
          </a:bodyPr>
          <a:lstStyle/>
          <a:p>
            <a:r>
              <a:rPr lang="en-US" sz="1400" b="1">
                <a:latin typeface="Georgia" panose="02040502050405020303" pitchFamily="18" charset="0"/>
                <a:ea typeface="+mn-lt"/>
                <a:cs typeface="+mn-lt"/>
              </a:rPr>
              <a:t>PHASE II</a:t>
            </a:r>
          </a:p>
          <a:p>
            <a:pPr marL="285750" indent="-285750">
              <a:buFont typeface="Courier New" panose="02070309020205020404" pitchFamily="49" charset="0"/>
              <a:buChar char="o"/>
            </a:pPr>
            <a:r>
              <a:rPr lang="en-US" sz="1400">
                <a:latin typeface="Georgia" panose="02040502050405020303" pitchFamily="18" charset="0"/>
                <a:ea typeface="+mn-lt"/>
                <a:cs typeface="+mn-lt"/>
              </a:rPr>
              <a:t>MODEL COMARISON &amp; SELECTION</a:t>
            </a:r>
          </a:p>
          <a:p>
            <a:pPr marL="285750" indent="-285750">
              <a:buFont typeface="Courier New" panose="02070309020205020404" pitchFamily="49" charset="0"/>
              <a:buChar char="o"/>
            </a:pPr>
            <a:r>
              <a:rPr lang="en-US" sz="1400">
                <a:latin typeface="Georgia" panose="02040502050405020303" pitchFamily="18" charset="0"/>
                <a:ea typeface="+mn-lt"/>
                <a:cs typeface="+mn-lt"/>
              </a:rPr>
              <a:t>ANALYSIS</a:t>
            </a:r>
          </a:p>
        </p:txBody>
      </p:sp>
      <p:sp>
        <p:nvSpPr>
          <p:cNvPr id="27" name="Rectangle 26">
            <a:extLst>
              <a:ext uri="{FF2B5EF4-FFF2-40B4-BE49-F238E27FC236}">
                <a16:creationId xmlns:a16="http://schemas.microsoft.com/office/drawing/2014/main" id="{D07243DD-6A13-A959-3A03-D9A2A6E4DCC9}"/>
              </a:ext>
            </a:extLst>
          </p:cNvPr>
          <p:cNvSpPr/>
          <p:nvPr/>
        </p:nvSpPr>
        <p:spPr>
          <a:xfrm>
            <a:off x="7115177" y="4259581"/>
            <a:ext cx="4076700" cy="45719"/>
          </a:xfrm>
          <a:prstGeom prst="rect">
            <a:avLst/>
          </a:prstGeom>
          <a:solidFill>
            <a:srgbClr val="FED6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452699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FC9CFD7-A555-B310-56D4-0A6D6FDC5499}"/>
              </a:ext>
            </a:extLst>
          </p:cNvPr>
          <p:cNvSpPr/>
          <p:nvPr/>
        </p:nvSpPr>
        <p:spPr>
          <a:xfrm>
            <a:off x="0" y="0"/>
            <a:ext cx="4171950" cy="6858000"/>
          </a:xfrm>
          <a:prstGeom prst="rect">
            <a:avLst/>
          </a:prstGeom>
          <a:solidFill>
            <a:srgbClr val="FED668"/>
          </a:solidFill>
          <a:ln>
            <a:solidFill>
              <a:srgbClr val="FED6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0D82855E-5ADB-07D0-9ED3-A9F44381FC83}"/>
              </a:ext>
            </a:extLst>
          </p:cNvPr>
          <p:cNvSpPr/>
          <p:nvPr/>
        </p:nvSpPr>
        <p:spPr>
          <a:xfrm>
            <a:off x="4686300" y="530225"/>
            <a:ext cx="7143750" cy="860425"/>
          </a:xfrm>
          <a:prstGeom prst="roundRect">
            <a:avLst/>
          </a:prstGeom>
          <a:noFill/>
          <a:ln w="28575">
            <a:solidFill>
              <a:srgbClr val="FED6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EBD42C77-DB24-0CE9-B1AD-D4CCD45B9A04}"/>
              </a:ext>
            </a:extLst>
          </p:cNvPr>
          <p:cNvSpPr/>
          <p:nvPr/>
        </p:nvSpPr>
        <p:spPr>
          <a:xfrm>
            <a:off x="4362450" y="530225"/>
            <a:ext cx="860424" cy="860424"/>
          </a:xfrm>
          <a:prstGeom prst="ellipse">
            <a:avLst/>
          </a:prstGeom>
          <a:solidFill>
            <a:srgbClr val="FED668"/>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bg1"/>
                </a:solidFill>
                <a:latin typeface="Georgia" panose="02040502050405020303" pitchFamily="18" charset="0"/>
              </a:rPr>
              <a:t>1</a:t>
            </a:r>
          </a:p>
        </p:txBody>
      </p:sp>
      <p:sp>
        <p:nvSpPr>
          <p:cNvPr id="9" name="TextBox 8">
            <a:extLst>
              <a:ext uri="{FF2B5EF4-FFF2-40B4-BE49-F238E27FC236}">
                <a16:creationId xmlns:a16="http://schemas.microsoft.com/office/drawing/2014/main" id="{4571041E-F378-E468-058D-D4CCA7823F3B}"/>
              </a:ext>
            </a:extLst>
          </p:cNvPr>
          <p:cNvSpPr txBox="1"/>
          <p:nvPr/>
        </p:nvSpPr>
        <p:spPr>
          <a:xfrm>
            <a:off x="4495800" y="222448"/>
            <a:ext cx="4171950" cy="307777"/>
          </a:xfrm>
          <a:prstGeom prst="rect">
            <a:avLst/>
          </a:prstGeom>
          <a:noFill/>
        </p:spPr>
        <p:txBody>
          <a:bodyPr wrap="square" rtlCol="0">
            <a:spAutoFit/>
          </a:bodyPr>
          <a:lstStyle/>
          <a:p>
            <a:r>
              <a:rPr lang="en-US" sz="1400" b="1">
                <a:latin typeface="Georgia" panose="02040502050405020303" pitchFamily="18" charset="0"/>
              </a:rPr>
              <a:t>DESK RESEARCH</a:t>
            </a:r>
          </a:p>
        </p:txBody>
      </p:sp>
      <p:sp>
        <p:nvSpPr>
          <p:cNvPr id="11" name="TextBox 10">
            <a:extLst>
              <a:ext uri="{FF2B5EF4-FFF2-40B4-BE49-F238E27FC236}">
                <a16:creationId xmlns:a16="http://schemas.microsoft.com/office/drawing/2014/main" id="{6964A4FF-3789-B726-043F-9B84A54E2010}"/>
              </a:ext>
            </a:extLst>
          </p:cNvPr>
          <p:cNvSpPr txBox="1"/>
          <p:nvPr/>
        </p:nvSpPr>
        <p:spPr>
          <a:xfrm>
            <a:off x="5222874" y="729605"/>
            <a:ext cx="6187248" cy="461665"/>
          </a:xfrm>
          <a:prstGeom prst="rect">
            <a:avLst/>
          </a:prstGeom>
          <a:noFill/>
        </p:spPr>
        <p:txBody>
          <a:bodyPr wrap="square" rtlCol="0">
            <a:spAutoFit/>
          </a:bodyPr>
          <a:lstStyle/>
          <a:p>
            <a:r>
              <a:rPr lang="en-US" sz="1200">
                <a:latin typeface="Georgia" panose="02040502050405020303" pitchFamily="18" charset="0"/>
              </a:rPr>
              <a:t>We have read and taken notes on a number of academic research studies including those from Venkat Narayan and other leading researchers in the diabetes field</a:t>
            </a:r>
          </a:p>
        </p:txBody>
      </p:sp>
      <p:sp>
        <p:nvSpPr>
          <p:cNvPr id="12" name="Rounded Rectangle 11">
            <a:extLst>
              <a:ext uri="{FF2B5EF4-FFF2-40B4-BE49-F238E27FC236}">
                <a16:creationId xmlns:a16="http://schemas.microsoft.com/office/drawing/2014/main" id="{785214D8-B347-2572-6D5E-34F28ECC295B}"/>
              </a:ext>
            </a:extLst>
          </p:cNvPr>
          <p:cNvSpPr/>
          <p:nvPr/>
        </p:nvSpPr>
        <p:spPr>
          <a:xfrm>
            <a:off x="4686300" y="1839107"/>
            <a:ext cx="7143750" cy="860425"/>
          </a:xfrm>
          <a:prstGeom prst="roundRect">
            <a:avLst/>
          </a:prstGeom>
          <a:noFill/>
          <a:ln w="28575">
            <a:solidFill>
              <a:srgbClr val="FED6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A8F30185-2E1A-4DC5-2C28-865E0C7FDC40}"/>
              </a:ext>
            </a:extLst>
          </p:cNvPr>
          <p:cNvSpPr/>
          <p:nvPr/>
        </p:nvSpPr>
        <p:spPr>
          <a:xfrm>
            <a:off x="4362450" y="1839107"/>
            <a:ext cx="860424" cy="860424"/>
          </a:xfrm>
          <a:prstGeom prst="ellipse">
            <a:avLst/>
          </a:prstGeom>
          <a:solidFill>
            <a:srgbClr val="FED668"/>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bg1"/>
                </a:solidFill>
                <a:latin typeface="Georgia" panose="02040502050405020303" pitchFamily="18" charset="0"/>
              </a:rPr>
              <a:t>2</a:t>
            </a:r>
          </a:p>
        </p:txBody>
      </p:sp>
      <p:sp>
        <p:nvSpPr>
          <p:cNvPr id="14" name="TextBox 13">
            <a:extLst>
              <a:ext uri="{FF2B5EF4-FFF2-40B4-BE49-F238E27FC236}">
                <a16:creationId xmlns:a16="http://schemas.microsoft.com/office/drawing/2014/main" id="{600A103B-0D87-B559-E23F-1A17B8F4F816}"/>
              </a:ext>
            </a:extLst>
          </p:cNvPr>
          <p:cNvSpPr txBox="1"/>
          <p:nvPr/>
        </p:nvSpPr>
        <p:spPr>
          <a:xfrm>
            <a:off x="4495800" y="1531330"/>
            <a:ext cx="4171950" cy="307777"/>
          </a:xfrm>
          <a:prstGeom prst="rect">
            <a:avLst/>
          </a:prstGeom>
          <a:noFill/>
        </p:spPr>
        <p:txBody>
          <a:bodyPr wrap="square" rtlCol="0">
            <a:spAutoFit/>
          </a:bodyPr>
          <a:lstStyle/>
          <a:p>
            <a:r>
              <a:rPr lang="en-US" sz="1400" b="1">
                <a:latin typeface="Georgia" panose="02040502050405020303" pitchFamily="18" charset="0"/>
              </a:rPr>
              <a:t>DATA PROCESSING &amp; CLEANING</a:t>
            </a:r>
          </a:p>
        </p:txBody>
      </p:sp>
      <p:sp>
        <p:nvSpPr>
          <p:cNvPr id="15" name="TextBox 14">
            <a:extLst>
              <a:ext uri="{FF2B5EF4-FFF2-40B4-BE49-F238E27FC236}">
                <a16:creationId xmlns:a16="http://schemas.microsoft.com/office/drawing/2014/main" id="{73CB9FD0-28DD-9D31-1F7F-0B19009F0C57}"/>
              </a:ext>
            </a:extLst>
          </p:cNvPr>
          <p:cNvSpPr txBox="1"/>
          <p:nvPr/>
        </p:nvSpPr>
        <p:spPr>
          <a:xfrm>
            <a:off x="5222874" y="1946153"/>
            <a:ext cx="6187248" cy="646331"/>
          </a:xfrm>
          <a:prstGeom prst="rect">
            <a:avLst/>
          </a:prstGeom>
          <a:noFill/>
        </p:spPr>
        <p:txBody>
          <a:bodyPr wrap="square" rtlCol="0">
            <a:spAutoFit/>
          </a:bodyPr>
          <a:lstStyle/>
          <a:p>
            <a:r>
              <a:rPr lang="en-US" sz="1200">
                <a:latin typeface="Georgia" panose="02040502050405020303" pitchFamily="18" charset="0"/>
              </a:rPr>
              <a:t>We have uploaded and inspected the missing data. We have researched how to handle missing data with medical survey responses and will remove rather than manipulate missing values. We have merged the two data sets on state and year. </a:t>
            </a:r>
          </a:p>
        </p:txBody>
      </p:sp>
      <p:sp>
        <p:nvSpPr>
          <p:cNvPr id="16" name="Rounded Rectangle 15">
            <a:extLst>
              <a:ext uri="{FF2B5EF4-FFF2-40B4-BE49-F238E27FC236}">
                <a16:creationId xmlns:a16="http://schemas.microsoft.com/office/drawing/2014/main" id="{451D1CCA-D7E0-BDB1-C7D9-8C89AD096A22}"/>
              </a:ext>
            </a:extLst>
          </p:cNvPr>
          <p:cNvSpPr/>
          <p:nvPr/>
        </p:nvSpPr>
        <p:spPr>
          <a:xfrm>
            <a:off x="4686300" y="3147989"/>
            <a:ext cx="7143750" cy="860425"/>
          </a:xfrm>
          <a:prstGeom prst="roundRect">
            <a:avLst/>
          </a:prstGeom>
          <a:noFill/>
          <a:ln w="28575">
            <a:solidFill>
              <a:srgbClr val="FED6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2761C865-6FE6-E1E0-69EE-2386084AF74D}"/>
              </a:ext>
            </a:extLst>
          </p:cNvPr>
          <p:cNvSpPr/>
          <p:nvPr/>
        </p:nvSpPr>
        <p:spPr>
          <a:xfrm>
            <a:off x="4362450" y="3147989"/>
            <a:ext cx="860424" cy="860424"/>
          </a:xfrm>
          <a:prstGeom prst="ellipse">
            <a:avLst/>
          </a:prstGeom>
          <a:solidFill>
            <a:srgbClr val="FED668"/>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bg1"/>
                </a:solidFill>
                <a:latin typeface="Georgia" panose="02040502050405020303" pitchFamily="18" charset="0"/>
              </a:rPr>
              <a:t>3</a:t>
            </a:r>
          </a:p>
        </p:txBody>
      </p:sp>
      <p:sp>
        <p:nvSpPr>
          <p:cNvPr id="18" name="TextBox 17">
            <a:extLst>
              <a:ext uri="{FF2B5EF4-FFF2-40B4-BE49-F238E27FC236}">
                <a16:creationId xmlns:a16="http://schemas.microsoft.com/office/drawing/2014/main" id="{F2EA874A-9CDC-922D-0C95-3CB27573B139}"/>
              </a:ext>
            </a:extLst>
          </p:cNvPr>
          <p:cNvSpPr txBox="1"/>
          <p:nvPr/>
        </p:nvSpPr>
        <p:spPr>
          <a:xfrm>
            <a:off x="4495800" y="2840212"/>
            <a:ext cx="4171950" cy="307777"/>
          </a:xfrm>
          <a:prstGeom prst="rect">
            <a:avLst/>
          </a:prstGeom>
          <a:noFill/>
        </p:spPr>
        <p:txBody>
          <a:bodyPr wrap="square" rtlCol="0">
            <a:spAutoFit/>
          </a:bodyPr>
          <a:lstStyle/>
          <a:p>
            <a:r>
              <a:rPr lang="en-US" sz="1400" b="1">
                <a:latin typeface="Georgia" panose="02040502050405020303" pitchFamily="18" charset="0"/>
              </a:rPr>
              <a:t>FEATURE SELECTION</a:t>
            </a:r>
          </a:p>
        </p:txBody>
      </p:sp>
      <p:sp>
        <p:nvSpPr>
          <p:cNvPr id="19" name="TextBox 18">
            <a:extLst>
              <a:ext uri="{FF2B5EF4-FFF2-40B4-BE49-F238E27FC236}">
                <a16:creationId xmlns:a16="http://schemas.microsoft.com/office/drawing/2014/main" id="{14B45BFE-B053-EAFC-49EC-2E7EFEEE7F66}"/>
              </a:ext>
            </a:extLst>
          </p:cNvPr>
          <p:cNvSpPr txBox="1"/>
          <p:nvPr/>
        </p:nvSpPr>
        <p:spPr>
          <a:xfrm>
            <a:off x="5222874" y="3288669"/>
            <a:ext cx="6187248" cy="646331"/>
          </a:xfrm>
          <a:prstGeom prst="rect">
            <a:avLst/>
          </a:prstGeom>
          <a:noFill/>
        </p:spPr>
        <p:txBody>
          <a:bodyPr wrap="square" rtlCol="0">
            <a:spAutoFit/>
          </a:bodyPr>
          <a:lstStyle/>
          <a:p>
            <a:r>
              <a:rPr lang="en-US" sz="1200">
                <a:latin typeface="Georgia" panose="02040502050405020303" pitchFamily="18" charset="0"/>
              </a:rPr>
              <a:t>Our desk research, available data after cleaning, correlation charts, ridge and stepwise have led us to include variables related to obesity, diet, exercise, and cost of living for initial modeling.</a:t>
            </a:r>
          </a:p>
        </p:txBody>
      </p:sp>
      <p:sp>
        <p:nvSpPr>
          <p:cNvPr id="20" name="Rounded Rectangle 19">
            <a:extLst>
              <a:ext uri="{FF2B5EF4-FFF2-40B4-BE49-F238E27FC236}">
                <a16:creationId xmlns:a16="http://schemas.microsoft.com/office/drawing/2014/main" id="{186A0D7D-70AE-A9D2-3025-1DA134E80E21}"/>
              </a:ext>
            </a:extLst>
          </p:cNvPr>
          <p:cNvSpPr/>
          <p:nvPr/>
        </p:nvSpPr>
        <p:spPr>
          <a:xfrm>
            <a:off x="4686300" y="4513990"/>
            <a:ext cx="7143750" cy="860425"/>
          </a:xfrm>
          <a:prstGeom prst="roundRect">
            <a:avLst/>
          </a:prstGeom>
          <a:noFill/>
          <a:ln w="28575">
            <a:solidFill>
              <a:srgbClr val="FED6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EE9FC435-C12E-4614-C297-1F7F7AF2E954}"/>
              </a:ext>
            </a:extLst>
          </p:cNvPr>
          <p:cNvSpPr/>
          <p:nvPr/>
        </p:nvSpPr>
        <p:spPr>
          <a:xfrm>
            <a:off x="4362450" y="4513990"/>
            <a:ext cx="860424" cy="860424"/>
          </a:xfrm>
          <a:prstGeom prst="ellipse">
            <a:avLst/>
          </a:prstGeom>
          <a:solidFill>
            <a:srgbClr val="FED668"/>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bg1"/>
                </a:solidFill>
                <a:latin typeface="Georgia" panose="02040502050405020303" pitchFamily="18" charset="0"/>
              </a:rPr>
              <a:t>4</a:t>
            </a:r>
          </a:p>
        </p:txBody>
      </p:sp>
      <p:sp>
        <p:nvSpPr>
          <p:cNvPr id="22" name="TextBox 21">
            <a:extLst>
              <a:ext uri="{FF2B5EF4-FFF2-40B4-BE49-F238E27FC236}">
                <a16:creationId xmlns:a16="http://schemas.microsoft.com/office/drawing/2014/main" id="{3817CB89-2F8C-A2F1-6661-8E7DA93AC61C}"/>
              </a:ext>
            </a:extLst>
          </p:cNvPr>
          <p:cNvSpPr txBox="1"/>
          <p:nvPr/>
        </p:nvSpPr>
        <p:spPr>
          <a:xfrm>
            <a:off x="4495799" y="4206213"/>
            <a:ext cx="5522843" cy="307777"/>
          </a:xfrm>
          <a:prstGeom prst="rect">
            <a:avLst/>
          </a:prstGeom>
          <a:noFill/>
        </p:spPr>
        <p:txBody>
          <a:bodyPr wrap="square" rtlCol="0">
            <a:spAutoFit/>
          </a:bodyPr>
          <a:lstStyle/>
          <a:p>
            <a:r>
              <a:rPr lang="en-US" sz="1400" b="1">
                <a:latin typeface="Georgia" panose="02040502050405020303" pitchFamily="18" charset="0"/>
              </a:rPr>
              <a:t>MODEL COMPARISON  &amp; MODEL SELECTION</a:t>
            </a:r>
          </a:p>
        </p:txBody>
      </p:sp>
      <p:sp>
        <p:nvSpPr>
          <p:cNvPr id="23" name="TextBox 22">
            <a:extLst>
              <a:ext uri="{FF2B5EF4-FFF2-40B4-BE49-F238E27FC236}">
                <a16:creationId xmlns:a16="http://schemas.microsoft.com/office/drawing/2014/main" id="{B1E1CA47-D3D4-E41C-2E2C-C16B33C22524}"/>
              </a:ext>
            </a:extLst>
          </p:cNvPr>
          <p:cNvSpPr txBox="1"/>
          <p:nvPr/>
        </p:nvSpPr>
        <p:spPr>
          <a:xfrm>
            <a:off x="5222874" y="4654670"/>
            <a:ext cx="6187248" cy="646331"/>
          </a:xfrm>
          <a:prstGeom prst="rect">
            <a:avLst/>
          </a:prstGeom>
          <a:noFill/>
        </p:spPr>
        <p:txBody>
          <a:bodyPr wrap="square" rtlCol="0">
            <a:spAutoFit/>
          </a:bodyPr>
          <a:lstStyle>
            <a:defPPr>
              <a:defRPr lang="en-US"/>
            </a:defPPr>
            <a:lvl1pPr>
              <a:defRPr sz="1200">
                <a:latin typeface="Georgia" panose="02040502050405020303" pitchFamily="18" charset="0"/>
              </a:defRPr>
            </a:lvl1pPr>
          </a:lstStyle>
          <a:p>
            <a:r>
              <a:rPr lang="en-US"/>
              <a:t>We will run Logistic Regression, KNN, Random Forest, and SVM with cross-validation and compare  the cross-validation accuracy results. From there, we will choose the model with the best accuracy score. </a:t>
            </a:r>
            <a:endParaRPr lang="pt-BR"/>
          </a:p>
        </p:txBody>
      </p:sp>
      <p:sp>
        <p:nvSpPr>
          <p:cNvPr id="26" name="Rounded Rectangle 25">
            <a:extLst>
              <a:ext uri="{FF2B5EF4-FFF2-40B4-BE49-F238E27FC236}">
                <a16:creationId xmlns:a16="http://schemas.microsoft.com/office/drawing/2014/main" id="{10CA3F74-E66B-C24A-FC65-9628FC109124}"/>
              </a:ext>
            </a:extLst>
          </p:cNvPr>
          <p:cNvSpPr/>
          <p:nvPr/>
        </p:nvSpPr>
        <p:spPr>
          <a:xfrm>
            <a:off x="4686300" y="5879991"/>
            <a:ext cx="7143750" cy="860425"/>
          </a:xfrm>
          <a:prstGeom prst="roundRect">
            <a:avLst/>
          </a:prstGeom>
          <a:noFill/>
          <a:ln w="28575">
            <a:solidFill>
              <a:srgbClr val="FED6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F1A1C292-162E-F8D0-8960-3C9CC6E71732}"/>
              </a:ext>
            </a:extLst>
          </p:cNvPr>
          <p:cNvSpPr/>
          <p:nvPr/>
        </p:nvSpPr>
        <p:spPr>
          <a:xfrm>
            <a:off x="4362450" y="5879991"/>
            <a:ext cx="860424" cy="860424"/>
          </a:xfrm>
          <a:prstGeom prst="ellipse">
            <a:avLst/>
          </a:prstGeom>
          <a:solidFill>
            <a:srgbClr val="FED668"/>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bg1"/>
                </a:solidFill>
                <a:latin typeface="Georgia" panose="02040502050405020303" pitchFamily="18" charset="0"/>
              </a:rPr>
              <a:t>5</a:t>
            </a:r>
          </a:p>
        </p:txBody>
      </p:sp>
      <p:sp>
        <p:nvSpPr>
          <p:cNvPr id="28" name="TextBox 27">
            <a:extLst>
              <a:ext uri="{FF2B5EF4-FFF2-40B4-BE49-F238E27FC236}">
                <a16:creationId xmlns:a16="http://schemas.microsoft.com/office/drawing/2014/main" id="{2732C207-02B5-AA0C-1F28-66862483A987}"/>
              </a:ext>
            </a:extLst>
          </p:cNvPr>
          <p:cNvSpPr txBox="1"/>
          <p:nvPr/>
        </p:nvSpPr>
        <p:spPr>
          <a:xfrm>
            <a:off x="4495799" y="5572214"/>
            <a:ext cx="5522843" cy="307777"/>
          </a:xfrm>
          <a:prstGeom prst="rect">
            <a:avLst/>
          </a:prstGeom>
          <a:noFill/>
        </p:spPr>
        <p:txBody>
          <a:bodyPr wrap="square" rtlCol="0">
            <a:spAutoFit/>
          </a:bodyPr>
          <a:lstStyle/>
          <a:p>
            <a:r>
              <a:rPr lang="en-US" sz="1400" b="1">
                <a:latin typeface="Georgia" panose="02040502050405020303" pitchFamily="18" charset="0"/>
              </a:rPr>
              <a:t>ANALYSIS</a:t>
            </a:r>
          </a:p>
        </p:txBody>
      </p:sp>
      <p:sp>
        <p:nvSpPr>
          <p:cNvPr id="29" name="TextBox 28">
            <a:extLst>
              <a:ext uri="{FF2B5EF4-FFF2-40B4-BE49-F238E27FC236}">
                <a16:creationId xmlns:a16="http://schemas.microsoft.com/office/drawing/2014/main" id="{9F9D1717-4910-0A24-7A99-4C0C69C1B348}"/>
              </a:ext>
            </a:extLst>
          </p:cNvPr>
          <p:cNvSpPr txBox="1"/>
          <p:nvPr/>
        </p:nvSpPr>
        <p:spPr>
          <a:xfrm>
            <a:off x="5222874" y="6096942"/>
            <a:ext cx="6187248" cy="461665"/>
          </a:xfrm>
          <a:prstGeom prst="rect">
            <a:avLst/>
          </a:prstGeom>
          <a:noFill/>
        </p:spPr>
        <p:txBody>
          <a:bodyPr wrap="square" rtlCol="0">
            <a:spAutoFit/>
          </a:bodyPr>
          <a:lstStyle>
            <a:defPPr>
              <a:defRPr lang="en-US"/>
            </a:defPPr>
            <a:lvl1pPr>
              <a:defRPr sz="1200">
                <a:latin typeface="Georgia" panose="02040502050405020303" pitchFamily="18" charset="0"/>
              </a:defRPr>
            </a:lvl1pPr>
          </a:lstStyle>
          <a:p>
            <a:r>
              <a:rPr lang="en-US"/>
              <a:t>We will create charts, analyze results, and potentially conduct further desk research to better understand the data and any current research that supports the findings.  </a:t>
            </a:r>
            <a:endParaRPr lang="pt-BR"/>
          </a:p>
        </p:txBody>
      </p:sp>
      <p:sp>
        <p:nvSpPr>
          <p:cNvPr id="30" name="Title 1">
            <a:extLst>
              <a:ext uri="{FF2B5EF4-FFF2-40B4-BE49-F238E27FC236}">
                <a16:creationId xmlns:a16="http://schemas.microsoft.com/office/drawing/2014/main" id="{EA512F82-07C2-BDF5-CDC2-ED75B1E2038F}"/>
              </a:ext>
            </a:extLst>
          </p:cNvPr>
          <p:cNvSpPr>
            <a:spLocks noGrp="1"/>
          </p:cNvSpPr>
          <p:nvPr>
            <p:ph type="title"/>
          </p:nvPr>
        </p:nvSpPr>
        <p:spPr>
          <a:xfrm>
            <a:off x="-32283" y="2682850"/>
            <a:ext cx="4171950" cy="1325563"/>
          </a:xfrm>
        </p:spPr>
        <p:txBody>
          <a:bodyPr>
            <a:normAutofit/>
          </a:bodyPr>
          <a:lstStyle/>
          <a:p>
            <a:pPr algn="ctr"/>
            <a:r>
              <a:rPr lang="en-US">
                <a:latin typeface="Georgia" panose="02040502050405020303" pitchFamily="18" charset="0"/>
                <a:ea typeface="+mj-lt"/>
                <a:cs typeface="+mj-lt"/>
              </a:rPr>
              <a:t>Detailed Approach</a:t>
            </a:r>
            <a:endParaRPr lang="pt-BR">
              <a:latin typeface="Georgia" panose="02040502050405020303" pitchFamily="18" charset="0"/>
            </a:endParaRPr>
          </a:p>
        </p:txBody>
      </p:sp>
      <p:pic>
        <p:nvPicPr>
          <p:cNvPr id="32" name="Graphic 31" descr="Checkmark with solid fill">
            <a:extLst>
              <a:ext uri="{FF2B5EF4-FFF2-40B4-BE49-F238E27FC236}">
                <a16:creationId xmlns:a16="http://schemas.microsoft.com/office/drawing/2014/main" id="{507418BC-C12D-3F5C-3F1D-2EE9BC0A3CD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16445" y="878834"/>
            <a:ext cx="517527" cy="517527"/>
          </a:xfrm>
          <a:prstGeom prst="rect">
            <a:avLst/>
          </a:prstGeom>
        </p:spPr>
      </p:pic>
      <p:pic>
        <p:nvPicPr>
          <p:cNvPr id="33" name="Graphic 32" descr="Checkmark with solid fill">
            <a:extLst>
              <a:ext uri="{FF2B5EF4-FFF2-40B4-BE49-F238E27FC236}">
                <a16:creationId xmlns:a16="http://schemas.microsoft.com/office/drawing/2014/main" id="{5A440765-8E2A-DE3F-7ECA-9757D95C00D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25018" y="2176030"/>
            <a:ext cx="517527" cy="517527"/>
          </a:xfrm>
          <a:prstGeom prst="rect">
            <a:avLst/>
          </a:prstGeom>
        </p:spPr>
      </p:pic>
      <p:pic>
        <p:nvPicPr>
          <p:cNvPr id="34" name="Graphic 33" descr="Checkmark with solid fill">
            <a:extLst>
              <a:ext uri="{FF2B5EF4-FFF2-40B4-BE49-F238E27FC236}">
                <a16:creationId xmlns:a16="http://schemas.microsoft.com/office/drawing/2014/main" id="{88CD31D3-6180-C6B7-B731-7894C236F04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25018" y="3476277"/>
            <a:ext cx="517527" cy="517527"/>
          </a:xfrm>
          <a:prstGeom prst="rect">
            <a:avLst/>
          </a:prstGeom>
        </p:spPr>
      </p:pic>
      <p:pic>
        <p:nvPicPr>
          <p:cNvPr id="35" name="Graphic 34" descr="Checkmark with solid fill">
            <a:extLst>
              <a:ext uri="{FF2B5EF4-FFF2-40B4-BE49-F238E27FC236}">
                <a16:creationId xmlns:a16="http://schemas.microsoft.com/office/drawing/2014/main" id="{67D6E05D-EF16-270B-240C-2F43861A898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225018" y="4854057"/>
            <a:ext cx="517527" cy="517527"/>
          </a:xfrm>
          <a:prstGeom prst="rect">
            <a:avLst/>
          </a:prstGeom>
        </p:spPr>
      </p:pic>
      <p:pic>
        <p:nvPicPr>
          <p:cNvPr id="36" name="Graphic 35" descr="Checkmark with solid fill">
            <a:extLst>
              <a:ext uri="{FF2B5EF4-FFF2-40B4-BE49-F238E27FC236}">
                <a16:creationId xmlns:a16="http://schemas.microsoft.com/office/drawing/2014/main" id="{5C07D1DB-D094-C558-AE76-0614B64216B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216444" y="6219554"/>
            <a:ext cx="517527" cy="517527"/>
          </a:xfrm>
          <a:prstGeom prst="rect">
            <a:avLst/>
          </a:prstGeom>
        </p:spPr>
      </p:pic>
    </p:spTree>
    <p:extLst>
      <p:ext uri="{BB962C8B-B14F-4D97-AF65-F5344CB8AC3E}">
        <p14:creationId xmlns:p14="http://schemas.microsoft.com/office/powerpoint/2010/main" val="35720277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B2FCB-6F4B-FC1C-DE57-D09273E7AF20}"/>
              </a:ext>
            </a:extLst>
          </p:cNvPr>
          <p:cNvSpPr>
            <a:spLocks noGrp="1"/>
          </p:cNvSpPr>
          <p:nvPr>
            <p:ph type="title"/>
          </p:nvPr>
        </p:nvSpPr>
        <p:spPr/>
        <p:txBody>
          <a:bodyPr/>
          <a:lstStyle/>
          <a:p>
            <a:r>
              <a:rPr lang="en-US">
                <a:cs typeface="Calibri Light"/>
              </a:rPr>
              <a:t>Initial Hypotheses</a:t>
            </a:r>
            <a:endParaRPr lang="en-US"/>
          </a:p>
        </p:txBody>
      </p:sp>
      <p:sp>
        <p:nvSpPr>
          <p:cNvPr id="3" name="Content Placeholder 2">
            <a:extLst>
              <a:ext uri="{FF2B5EF4-FFF2-40B4-BE49-F238E27FC236}">
                <a16:creationId xmlns:a16="http://schemas.microsoft.com/office/drawing/2014/main" id="{A43D1842-B524-E294-C839-E011A78FD5B6}"/>
              </a:ext>
            </a:extLst>
          </p:cNvPr>
          <p:cNvSpPr>
            <a:spLocks noGrp="1"/>
          </p:cNvSpPr>
          <p:nvPr>
            <p:ph idx="1"/>
          </p:nvPr>
        </p:nvSpPr>
        <p:spPr/>
        <p:txBody>
          <a:bodyPr vert="horz" lIns="91440" tIns="45720" rIns="91440" bIns="45720" rtlCol="0" anchor="t">
            <a:normAutofit/>
          </a:bodyPr>
          <a:lstStyle/>
          <a:p>
            <a:r>
              <a:rPr lang="en-US">
                <a:ea typeface="+mn-lt"/>
                <a:cs typeface="+mn-lt"/>
              </a:rPr>
              <a:t>We expect that behavioral and economic factors correlate with the probability of developing diabetes. We will run machine learning models to predict how likely a person is to have the disease. </a:t>
            </a:r>
            <a:endParaRPr lang="pt-BR">
              <a:ea typeface="+mn-lt"/>
              <a:cs typeface="+mn-lt"/>
            </a:endParaRPr>
          </a:p>
          <a:p>
            <a:r>
              <a:rPr lang="en-US">
                <a:ea typeface="+mn-lt"/>
                <a:cs typeface="+mn-lt"/>
              </a:rPr>
              <a:t>We anticipate that the most significant variables will be related to obesity, diet, exercise, and cost of living. Also, these fields may be correlated, leading to interaction terms.</a:t>
            </a:r>
            <a:endParaRPr lang="pt-BR">
              <a:cs typeface="Calibri"/>
            </a:endParaRPr>
          </a:p>
          <a:p>
            <a:r>
              <a:rPr lang="en-US">
                <a:ea typeface="+mn-lt"/>
                <a:cs typeface="+mn-lt"/>
              </a:rPr>
              <a:t>Governments, citizens, and companies may use the results to guide palliative actions to avoid diabetes. Additionally, it may help health workers to predict possible diabetes cases to reverse it.</a:t>
            </a:r>
          </a:p>
          <a:p>
            <a:endParaRPr lang="en-US" u="sng">
              <a:cs typeface="Calibri"/>
            </a:endParaRPr>
          </a:p>
          <a:p>
            <a:endParaRPr lang="en-US">
              <a:cs typeface="Calibri"/>
            </a:endParaRPr>
          </a:p>
        </p:txBody>
      </p:sp>
    </p:spTree>
    <p:extLst>
      <p:ext uri="{BB962C8B-B14F-4D97-AF65-F5344CB8AC3E}">
        <p14:creationId xmlns:p14="http://schemas.microsoft.com/office/powerpoint/2010/main" val="16561992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F51FB-8ECB-058A-FC78-9F37E841FE38}"/>
              </a:ext>
            </a:extLst>
          </p:cNvPr>
          <p:cNvSpPr>
            <a:spLocks noGrp="1"/>
          </p:cNvSpPr>
          <p:nvPr>
            <p:ph type="title"/>
          </p:nvPr>
        </p:nvSpPr>
        <p:spPr/>
        <p:txBody>
          <a:bodyPr/>
          <a:lstStyle/>
          <a:p>
            <a:r>
              <a:rPr lang="en-US">
                <a:cs typeface="Calibri Light"/>
              </a:rPr>
              <a:t>Progress</a:t>
            </a:r>
            <a:endParaRPr lang="en-US"/>
          </a:p>
        </p:txBody>
      </p:sp>
      <p:sp>
        <p:nvSpPr>
          <p:cNvPr id="3" name="Content Placeholder 2">
            <a:extLst>
              <a:ext uri="{FF2B5EF4-FFF2-40B4-BE49-F238E27FC236}">
                <a16:creationId xmlns:a16="http://schemas.microsoft.com/office/drawing/2014/main" id="{304B806D-84C5-C887-CA2F-A0F339658E4A}"/>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2363508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41DAA-1AF9-17FB-6FEF-9C16A28D4FEC}"/>
              </a:ext>
            </a:extLst>
          </p:cNvPr>
          <p:cNvSpPr>
            <a:spLocks noGrp="1"/>
          </p:cNvSpPr>
          <p:nvPr>
            <p:ph type="title"/>
          </p:nvPr>
        </p:nvSpPr>
        <p:spPr/>
        <p:txBody>
          <a:bodyPr/>
          <a:lstStyle/>
          <a:p>
            <a:r>
              <a:rPr lang="en-US">
                <a:ea typeface="+mj-lt"/>
                <a:cs typeface="+mj-lt"/>
              </a:rPr>
              <a:t>Academic Research Findings</a:t>
            </a:r>
            <a:endParaRPr lang="en-US"/>
          </a:p>
        </p:txBody>
      </p:sp>
      <p:sp>
        <p:nvSpPr>
          <p:cNvPr id="3" name="Content Placeholder 2">
            <a:extLst>
              <a:ext uri="{FF2B5EF4-FFF2-40B4-BE49-F238E27FC236}">
                <a16:creationId xmlns:a16="http://schemas.microsoft.com/office/drawing/2014/main" id="{1876EAD2-523A-0626-BC98-49E28DD71FA7}"/>
              </a:ext>
            </a:extLst>
          </p:cNvPr>
          <p:cNvSpPr>
            <a:spLocks noGrp="1"/>
          </p:cNvSpPr>
          <p:nvPr>
            <p:ph idx="1"/>
          </p:nvPr>
        </p:nvSpPr>
        <p:spPr/>
        <p:txBody>
          <a:bodyPr vert="horz" lIns="91440" tIns="45720" rIns="91440" bIns="45720" rtlCol="0" anchor="t">
            <a:normAutofit/>
          </a:bodyPr>
          <a:lstStyle/>
          <a:p>
            <a:endParaRPr lang="en-US">
              <a:cs typeface="Calibri"/>
            </a:endParaRPr>
          </a:p>
          <a:p>
            <a:r>
              <a:rPr lang="en-US">
                <a:ea typeface="+mn-lt"/>
                <a:cs typeface="+mn-lt"/>
                <a:hlinkClick r:id="rId2"/>
              </a:rPr>
              <a:t>https://diabetes.emory.edu/people/directors/venkat_narayan.html</a:t>
            </a:r>
            <a:r>
              <a:rPr lang="en-US">
                <a:ea typeface="+mn-lt"/>
                <a:cs typeface="+mn-lt"/>
              </a:rPr>
              <a:t> Venkat Narayan is professor’s friend at Emory who does a lot of research on similar topics.</a:t>
            </a:r>
            <a:endParaRPr lang="en-US"/>
          </a:p>
          <a:p>
            <a:r>
              <a:rPr lang="en-US">
                <a:ea typeface="+mn-lt"/>
                <a:cs typeface="+mn-lt"/>
                <a:hlinkClick r:id="rId3"/>
              </a:rPr>
              <a:t>https://diabetes.emory.edu/about/index.html</a:t>
            </a:r>
            <a:endParaRPr lang="en-US"/>
          </a:p>
          <a:p>
            <a:pPr marL="0" indent="0">
              <a:buNone/>
            </a:pPr>
            <a:endParaRPr lang="en-US">
              <a:cs typeface="Calibri" panose="020F0502020204030204"/>
            </a:endParaRPr>
          </a:p>
        </p:txBody>
      </p:sp>
    </p:spTree>
    <p:extLst>
      <p:ext uri="{BB962C8B-B14F-4D97-AF65-F5344CB8AC3E}">
        <p14:creationId xmlns:p14="http://schemas.microsoft.com/office/powerpoint/2010/main" val="9047754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F51FB-8ECB-058A-FC78-9F37E841FE38}"/>
              </a:ext>
            </a:extLst>
          </p:cNvPr>
          <p:cNvSpPr>
            <a:spLocks noGrp="1"/>
          </p:cNvSpPr>
          <p:nvPr>
            <p:ph type="title"/>
          </p:nvPr>
        </p:nvSpPr>
        <p:spPr/>
        <p:txBody>
          <a:bodyPr/>
          <a:lstStyle/>
          <a:p>
            <a:r>
              <a:rPr lang="en-US">
                <a:cs typeface="Calibri Light"/>
              </a:rPr>
              <a:t>Citations</a:t>
            </a:r>
            <a:endParaRPr lang="en-US"/>
          </a:p>
        </p:txBody>
      </p:sp>
      <p:sp>
        <p:nvSpPr>
          <p:cNvPr id="3" name="Content Placeholder 2">
            <a:extLst>
              <a:ext uri="{FF2B5EF4-FFF2-40B4-BE49-F238E27FC236}">
                <a16:creationId xmlns:a16="http://schemas.microsoft.com/office/drawing/2014/main" id="{304B806D-84C5-C887-CA2F-A0F339658E4A}"/>
              </a:ext>
            </a:extLst>
          </p:cNvPr>
          <p:cNvSpPr>
            <a:spLocks noGrp="1"/>
          </p:cNvSpPr>
          <p:nvPr>
            <p:ph idx="1"/>
          </p:nvPr>
        </p:nvSpPr>
        <p:spPr/>
        <p:txBody>
          <a:bodyPr vert="horz" lIns="91440" tIns="45720" rIns="91440" bIns="45720" rtlCol="0" anchor="t">
            <a:normAutofit fontScale="92500"/>
          </a:bodyPr>
          <a:lstStyle/>
          <a:p>
            <a:r>
              <a:rPr lang="en-US">
                <a:ea typeface="+mn-lt"/>
                <a:cs typeface="+mn-lt"/>
                <a:hlinkClick r:id="rId2"/>
              </a:rPr>
              <a:t>https://diabetes.org/about-us/statistics/cost-diabetes#:~:text=People%20with%20diagnosed%20diabetes%20incur,in%20the%20absence%20of%20diabetes</a:t>
            </a:r>
            <a:r>
              <a:rPr lang="en-US">
                <a:ea typeface="+mn-lt"/>
                <a:cs typeface="+mn-lt"/>
              </a:rPr>
              <a:t>.</a:t>
            </a:r>
          </a:p>
          <a:p>
            <a:r>
              <a:rPr lang="en-US">
                <a:ea typeface="+mn-lt"/>
                <a:cs typeface="+mn-lt"/>
                <a:hlinkClick r:id="rId3"/>
              </a:rPr>
              <a:t>https://www.cdc.gov/diabetes/basics/type2.html#:~:text=Healthy%20eating%20is%20your%20recipe,adults%20are%20also%20developing%20it</a:t>
            </a:r>
            <a:r>
              <a:rPr lang="en-US">
                <a:ea typeface="+mn-lt"/>
                <a:cs typeface="+mn-lt"/>
              </a:rPr>
              <a:t>.</a:t>
            </a:r>
          </a:p>
          <a:p>
            <a:r>
              <a:rPr lang="en-US">
                <a:ea typeface="+mn-lt"/>
                <a:cs typeface="+mn-lt"/>
                <a:hlinkClick r:id="rId2"/>
              </a:rPr>
              <a:t>https://diabetes.org/about-us/statistics/cost-diabetes#:~:text=People%20with%20diagnosed%20diabetes%20incur,in%20the%20absence%20of%20diabetes</a:t>
            </a:r>
            <a:r>
              <a:rPr lang="en-US">
                <a:ea typeface="+mn-lt"/>
                <a:cs typeface="+mn-lt"/>
              </a:rPr>
              <a:t>.</a:t>
            </a:r>
          </a:p>
          <a:p>
            <a:r>
              <a:rPr lang="en-US">
                <a:ea typeface="+mn-lt"/>
                <a:cs typeface="+mn-lt"/>
                <a:hlinkClick r:id="rId4"/>
              </a:rPr>
              <a:t>https://www.who.int/news-room/fact-sheets/detail/diabetes</a:t>
            </a:r>
            <a:endParaRPr lang="en-US">
              <a:ea typeface="+mn-lt"/>
              <a:cs typeface="+mn-lt"/>
            </a:endParaRPr>
          </a:p>
          <a:p>
            <a:r>
              <a:rPr lang="en-US" b="0" i="0" err="1">
                <a:solidFill>
                  <a:srgbClr val="374151"/>
                </a:solidFill>
                <a:effectLst/>
                <a:latin typeface="Söhne"/>
              </a:rPr>
              <a:t>ResearchAndMarkets.com</a:t>
            </a:r>
            <a:endParaRPr lang="en-US" b="0" i="0">
              <a:solidFill>
                <a:srgbClr val="374151"/>
              </a:solidFill>
              <a:effectLst/>
              <a:latin typeface="Söhne"/>
            </a:endParaRPr>
          </a:p>
          <a:p>
            <a:endParaRPr lang="en-US">
              <a:ea typeface="+mn-lt"/>
              <a:cs typeface="+mn-lt"/>
            </a:endParaRPr>
          </a:p>
          <a:p>
            <a:endParaRPr lang="en-US">
              <a:ea typeface="+mn-lt"/>
              <a:cs typeface="+mn-lt"/>
            </a:endParaRPr>
          </a:p>
          <a:p>
            <a:endParaRPr lang="en-US">
              <a:ea typeface="+mn-lt"/>
              <a:cs typeface="+mn-lt"/>
            </a:endParaRPr>
          </a:p>
          <a:p>
            <a:endParaRPr lang="en-US">
              <a:ea typeface="+mn-lt"/>
              <a:cs typeface="+mn-lt"/>
            </a:endParaRPr>
          </a:p>
          <a:p>
            <a:endParaRPr lang="en-US">
              <a:ea typeface="+mn-lt"/>
              <a:cs typeface="+mn-lt"/>
            </a:endParaRPr>
          </a:p>
        </p:txBody>
      </p:sp>
    </p:spTree>
    <p:extLst>
      <p:ext uri="{BB962C8B-B14F-4D97-AF65-F5344CB8AC3E}">
        <p14:creationId xmlns:p14="http://schemas.microsoft.com/office/powerpoint/2010/main" val="4131177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576594-F48B-B8EE-0E8F-8C87ECEFAC39}"/>
              </a:ext>
            </a:extLst>
          </p:cNvPr>
          <p:cNvSpPr>
            <a:spLocks noGrp="1"/>
          </p:cNvSpPr>
          <p:nvPr>
            <p:ph type="title"/>
          </p:nvPr>
        </p:nvSpPr>
        <p:spPr/>
        <p:txBody>
          <a:bodyPr>
            <a:normAutofit/>
          </a:bodyPr>
          <a:lstStyle/>
          <a:p>
            <a:r>
              <a:rPr lang="pt-BR" sz="3600" b="1" dirty="0">
                <a:hlinkClick r:id="rId2"/>
              </a:rPr>
              <a:t>Social Determinants of Health and Diabetes: A Scientific Review</a:t>
            </a:r>
            <a:endParaRPr lang="pt-BR" sz="3600"/>
          </a:p>
        </p:txBody>
      </p:sp>
      <p:sp>
        <p:nvSpPr>
          <p:cNvPr id="3" name="Espaço Reservado para Conteúdo 2">
            <a:extLst>
              <a:ext uri="{FF2B5EF4-FFF2-40B4-BE49-F238E27FC236}">
                <a16:creationId xmlns:a16="http://schemas.microsoft.com/office/drawing/2014/main" id="{60A00AFC-0254-358B-7D16-DF750B6B117A}"/>
              </a:ext>
            </a:extLst>
          </p:cNvPr>
          <p:cNvSpPr>
            <a:spLocks noGrp="1"/>
          </p:cNvSpPr>
          <p:nvPr>
            <p:ph idx="1"/>
          </p:nvPr>
        </p:nvSpPr>
        <p:spPr>
          <a:xfrm>
            <a:off x="41564" y="1525444"/>
            <a:ext cx="12074236" cy="5182609"/>
          </a:xfrm>
        </p:spPr>
        <p:txBody>
          <a:bodyPr vert="horz" lIns="91440" tIns="45720" rIns="91440" bIns="45720" rtlCol="0" anchor="t">
            <a:normAutofit lnSpcReduction="10000"/>
          </a:bodyPr>
          <a:lstStyle/>
          <a:p>
            <a:r>
              <a:rPr lang="pt-BR" sz="1400" b="1" dirty="0" err="1">
                <a:latin typeface="Calibri"/>
                <a:ea typeface="+mn-lt"/>
                <a:cs typeface="+mn-lt"/>
              </a:rPr>
              <a:t>Socioeconomic</a:t>
            </a:r>
            <a:r>
              <a:rPr lang="pt-BR" sz="1400" b="1" dirty="0">
                <a:latin typeface="Calibri"/>
                <a:ea typeface="+mn-lt"/>
                <a:cs typeface="+mn-lt"/>
              </a:rPr>
              <a:t> status (SES) </a:t>
            </a:r>
            <a:r>
              <a:rPr lang="pt-BR" sz="1400" b="1" dirty="0" err="1">
                <a:latin typeface="Calibri"/>
                <a:ea typeface="+mn-lt"/>
                <a:cs typeface="+mn-lt"/>
              </a:rPr>
              <a:t>is</a:t>
            </a:r>
            <a:r>
              <a:rPr lang="pt-BR" sz="1400" b="1" dirty="0">
                <a:latin typeface="Calibri"/>
                <a:ea typeface="+mn-lt"/>
                <a:cs typeface="+mn-lt"/>
              </a:rPr>
              <a:t> a multidimensional </a:t>
            </a:r>
            <a:r>
              <a:rPr lang="pt-BR" sz="1400" b="1" dirty="0" err="1">
                <a:latin typeface="Calibri"/>
                <a:ea typeface="+mn-lt"/>
                <a:cs typeface="+mn-lt"/>
              </a:rPr>
              <a:t>construct</a:t>
            </a:r>
            <a:r>
              <a:rPr lang="pt-BR" sz="1400" b="1" dirty="0">
                <a:latin typeface="Calibri"/>
                <a:ea typeface="+mn-lt"/>
                <a:cs typeface="+mn-lt"/>
              </a:rPr>
              <a:t> </a:t>
            </a:r>
            <a:r>
              <a:rPr lang="pt-BR" sz="1400" b="1" dirty="0" err="1">
                <a:latin typeface="Calibri"/>
                <a:ea typeface="+mn-lt"/>
                <a:cs typeface="+mn-lt"/>
              </a:rPr>
              <a:t>that</a:t>
            </a:r>
            <a:r>
              <a:rPr lang="pt-BR" sz="1400" b="1" dirty="0">
                <a:latin typeface="Calibri"/>
                <a:ea typeface="+mn-lt"/>
                <a:cs typeface="+mn-lt"/>
              </a:rPr>
              <a:t> includes </a:t>
            </a:r>
            <a:r>
              <a:rPr lang="pt-BR" sz="1400" b="1" dirty="0" err="1">
                <a:latin typeface="Calibri"/>
                <a:ea typeface="+mn-lt"/>
                <a:cs typeface="+mn-lt"/>
              </a:rPr>
              <a:t>educational</a:t>
            </a:r>
            <a:r>
              <a:rPr lang="pt-BR" sz="1400" b="1" dirty="0">
                <a:latin typeface="Calibri"/>
                <a:ea typeface="+mn-lt"/>
                <a:cs typeface="+mn-lt"/>
              </a:rPr>
              <a:t>, </a:t>
            </a:r>
            <a:r>
              <a:rPr lang="pt-BR" sz="1400" b="1" dirty="0" err="1">
                <a:latin typeface="Calibri"/>
                <a:ea typeface="+mn-lt"/>
                <a:cs typeface="+mn-lt"/>
              </a:rPr>
              <a:t>economic</a:t>
            </a:r>
            <a:r>
              <a:rPr lang="pt-BR" sz="1400" b="1" dirty="0">
                <a:latin typeface="Calibri"/>
                <a:ea typeface="+mn-lt"/>
                <a:cs typeface="+mn-lt"/>
              </a:rPr>
              <a:t>, </a:t>
            </a:r>
            <a:r>
              <a:rPr lang="pt-BR" sz="1400" b="1" dirty="0" err="1">
                <a:latin typeface="Calibri"/>
                <a:ea typeface="+mn-lt"/>
                <a:cs typeface="+mn-lt"/>
              </a:rPr>
              <a:t>and</a:t>
            </a:r>
            <a:r>
              <a:rPr lang="pt-BR" sz="1400" b="1" dirty="0">
                <a:latin typeface="Calibri"/>
                <a:ea typeface="+mn-lt"/>
                <a:cs typeface="+mn-lt"/>
              </a:rPr>
              <a:t> </a:t>
            </a:r>
            <a:r>
              <a:rPr lang="pt-BR" sz="1400" b="1" dirty="0" err="1">
                <a:latin typeface="Calibri"/>
                <a:ea typeface="+mn-lt"/>
                <a:cs typeface="+mn-lt"/>
              </a:rPr>
              <a:t>occupational</a:t>
            </a:r>
            <a:r>
              <a:rPr lang="pt-BR" sz="1400" b="1" dirty="0">
                <a:latin typeface="Calibri"/>
                <a:ea typeface="+mn-lt"/>
                <a:cs typeface="+mn-lt"/>
              </a:rPr>
              <a:t> status. SES </a:t>
            </a:r>
            <a:r>
              <a:rPr lang="pt-BR" sz="1400" b="1" dirty="0" err="1">
                <a:latin typeface="Calibri"/>
                <a:ea typeface="+mn-lt"/>
                <a:cs typeface="+mn-lt"/>
              </a:rPr>
              <a:t>is</a:t>
            </a:r>
            <a:r>
              <a:rPr lang="pt-BR" sz="1400" b="1" dirty="0">
                <a:latin typeface="Calibri"/>
                <a:ea typeface="+mn-lt"/>
                <a:cs typeface="+mn-lt"/>
              </a:rPr>
              <a:t> a </a:t>
            </a:r>
            <a:r>
              <a:rPr lang="pt-BR" sz="1400" b="1" dirty="0" err="1">
                <a:latin typeface="Calibri"/>
                <a:ea typeface="+mn-lt"/>
                <a:cs typeface="+mn-lt"/>
              </a:rPr>
              <a:t>consistently</a:t>
            </a:r>
            <a:r>
              <a:rPr lang="pt-BR" sz="1400" b="1" dirty="0">
                <a:latin typeface="Calibri"/>
                <a:ea typeface="+mn-lt"/>
                <a:cs typeface="+mn-lt"/>
              </a:rPr>
              <a:t> </a:t>
            </a:r>
            <a:r>
              <a:rPr lang="pt-BR" sz="1400" b="1" dirty="0" err="1">
                <a:latin typeface="Calibri"/>
                <a:ea typeface="+mn-lt"/>
                <a:cs typeface="+mn-lt"/>
              </a:rPr>
              <a:t>strong</a:t>
            </a:r>
            <a:r>
              <a:rPr lang="pt-BR" sz="1400" b="1" dirty="0">
                <a:latin typeface="Calibri"/>
                <a:ea typeface="+mn-lt"/>
                <a:cs typeface="+mn-lt"/>
              </a:rPr>
              <a:t> </a:t>
            </a:r>
            <a:r>
              <a:rPr lang="pt-BR" sz="1400" b="1" dirty="0" err="1">
                <a:latin typeface="Calibri"/>
                <a:ea typeface="+mn-lt"/>
                <a:cs typeface="+mn-lt"/>
              </a:rPr>
              <a:t>predictor</a:t>
            </a:r>
            <a:r>
              <a:rPr lang="pt-BR" sz="1400" b="1" dirty="0">
                <a:latin typeface="Calibri"/>
                <a:ea typeface="+mn-lt"/>
                <a:cs typeface="+mn-lt"/>
              </a:rPr>
              <a:t> </a:t>
            </a:r>
            <a:r>
              <a:rPr lang="pt-BR" sz="1400" b="1" dirty="0" err="1">
                <a:latin typeface="Calibri"/>
                <a:ea typeface="+mn-lt"/>
                <a:cs typeface="+mn-lt"/>
              </a:rPr>
              <a:t>of</a:t>
            </a:r>
            <a:r>
              <a:rPr lang="pt-BR" sz="1400" b="1" dirty="0">
                <a:latin typeface="Calibri"/>
                <a:ea typeface="+mn-lt"/>
                <a:cs typeface="+mn-lt"/>
              </a:rPr>
              <a:t> </a:t>
            </a:r>
            <a:r>
              <a:rPr lang="pt-BR" sz="1400" b="1" dirty="0" err="1">
                <a:latin typeface="Calibri"/>
                <a:ea typeface="+mn-lt"/>
                <a:cs typeface="+mn-lt"/>
              </a:rPr>
              <a:t>disease</a:t>
            </a:r>
            <a:r>
              <a:rPr lang="pt-BR" sz="1400" b="1" dirty="0">
                <a:latin typeface="Calibri"/>
                <a:ea typeface="+mn-lt"/>
                <a:cs typeface="+mn-lt"/>
              </a:rPr>
              <a:t> </a:t>
            </a:r>
            <a:r>
              <a:rPr lang="pt-BR" sz="1400" b="1" dirty="0" err="1">
                <a:latin typeface="Calibri"/>
                <a:ea typeface="+mn-lt"/>
                <a:cs typeface="+mn-lt"/>
              </a:rPr>
              <a:t>onset</a:t>
            </a:r>
            <a:r>
              <a:rPr lang="pt-BR" sz="1400" b="1" dirty="0">
                <a:latin typeface="Calibri"/>
                <a:ea typeface="+mn-lt"/>
                <a:cs typeface="+mn-lt"/>
              </a:rPr>
              <a:t> </a:t>
            </a:r>
            <a:r>
              <a:rPr lang="pt-BR" sz="1400" b="1" dirty="0" err="1">
                <a:latin typeface="Calibri"/>
                <a:ea typeface="+mn-lt"/>
                <a:cs typeface="+mn-lt"/>
              </a:rPr>
              <a:t>and</a:t>
            </a:r>
            <a:r>
              <a:rPr lang="pt-BR" sz="1400" b="1" dirty="0">
                <a:latin typeface="Calibri"/>
                <a:ea typeface="+mn-lt"/>
                <a:cs typeface="+mn-lt"/>
              </a:rPr>
              <a:t> </a:t>
            </a:r>
            <a:r>
              <a:rPr lang="pt-BR" sz="1400" b="1" dirty="0" err="1">
                <a:latin typeface="Calibri"/>
                <a:ea typeface="+mn-lt"/>
                <a:cs typeface="+mn-lt"/>
              </a:rPr>
              <a:t>progression</a:t>
            </a:r>
            <a:r>
              <a:rPr lang="pt-BR" sz="1400" b="1" dirty="0">
                <a:latin typeface="Calibri"/>
                <a:ea typeface="+mn-lt"/>
                <a:cs typeface="+mn-lt"/>
              </a:rPr>
              <a:t> </a:t>
            </a:r>
            <a:r>
              <a:rPr lang="pt-BR" sz="1400" b="1" dirty="0" err="1">
                <a:latin typeface="Calibri"/>
                <a:ea typeface="+mn-lt"/>
                <a:cs typeface="+mn-lt"/>
              </a:rPr>
              <a:t>at</a:t>
            </a:r>
            <a:r>
              <a:rPr lang="pt-BR" sz="1400" b="1" dirty="0">
                <a:latin typeface="Calibri"/>
                <a:ea typeface="+mn-lt"/>
                <a:cs typeface="+mn-lt"/>
              </a:rPr>
              <a:t> </a:t>
            </a:r>
            <a:r>
              <a:rPr lang="pt-BR" sz="1400" b="1" dirty="0" err="1">
                <a:latin typeface="Calibri"/>
                <a:ea typeface="+mn-lt"/>
                <a:cs typeface="+mn-lt"/>
              </a:rPr>
              <a:t>all</a:t>
            </a:r>
            <a:r>
              <a:rPr lang="pt-BR" sz="1400" b="1" dirty="0">
                <a:latin typeface="Calibri"/>
                <a:ea typeface="+mn-lt"/>
                <a:cs typeface="+mn-lt"/>
              </a:rPr>
              <a:t> </a:t>
            </a:r>
            <a:r>
              <a:rPr lang="pt-BR" sz="1400" b="1" dirty="0" err="1">
                <a:latin typeface="Calibri"/>
                <a:ea typeface="+mn-lt"/>
                <a:cs typeface="+mn-lt"/>
              </a:rPr>
              <a:t>levels</a:t>
            </a:r>
            <a:r>
              <a:rPr lang="pt-BR" sz="1400" b="1" dirty="0">
                <a:latin typeface="Calibri"/>
                <a:ea typeface="+mn-lt"/>
                <a:cs typeface="+mn-lt"/>
              </a:rPr>
              <a:t> </a:t>
            </a:r>
            <a:r>
              <a:rPr lang="pt-BR" sz="1400" b="1" dirty="0" err="1">
                <a:latin typeface="Calibri"/>
                <a:ea typeface="+mn-lt"/>
                <a:cs typeface="+mn-lt"/>
              </a:rPr>
              <a:t>of</a:t>
            </a:r>
            <a:r>
              <a:rPr lang="pt-BR" sz="1400" b="1" dirty="0">
                <a:latin typeface="Calibri"/>
                <a:ea typeface="+mn-lt"/>
                <a:cs typeface="+mn-lt"/>
              </a:rPr>
              <a:t> SES for </a:t>
            </a:r>
            <a:r>
              <a:rPr lang="pt-BR" sz="1400" b="1" dirty="0" err="1">
                <a:latin typeface="Calibri"/>
                <a:ea typeface="+mn-lt"/>
                <a:cs typeface="+mn-lt"/>
              </a:rPr>
              <a:t>many</a:t>
            </a:r>
            <a:r>
              <a:rPr lang="pt-BR" sz="1400" b="1" dirty="0">
                <a:latin typeface="Calibri"/>
                <a:ea typeface="+mn-lt"/>
                <a:cs typeface="+mn-lt"/>
              </a:rPr>
              <a:t> </a:t>
            </a:r>
            <a:r>
              <a:rPr lang="pt-BR" sz="1400" b="1" dirty="0" err="1">
                <a:latin typeface="Calibri"/>
                <a:ea typeface="+mn-lt"/>
                <a:cs typeface="+mn-lt"/>
              </a:rPr>
              <a:t>diseases</a:t>
            </a:r>
            <a:r>
              <a:rPr lang="pt-BR" sz="1400" b="1" dirty="0">
                <a:latin typeface="Calibri"/>
                <a:ea typeface="+mn-lt"/>
                <a:cs typeface="+mn-lt"/>
              </a:rPr>
              <a:t>, </a:t>
            </a:r>
            <a:r>
              <a:rPr lang="pt-BR" sz="1400" b="1" dirty="0" err="1">
                <a:latin typeface="Calibri"/>
                <a:ea typeface="+mn-lt"/>
                <a:cs typeface="+mn-lt"/>
              </a:rPr>
              <a:t>including</a:t>
            </a:r>
            <a:r>
              <a:rPr lang="pt-BR" sz="1400" b="1" dirty="0">
                <a:latin typeface="Calibri"/>
                <a:ea typeface="+mn-lt"/>
                <a:cs typeface="+mn-lt"/>
              </a:rPr>
              <a:t> diabetes. [...] It </a:t>
            </a:r>
            <a:r>
              <a:rPr lang="pt-BR" sz="1400" b="1" dirty="0" err="1">
                <a:latin typeface="Calibri"/>
                <a:ea typeface="+mn-lt"/>
                <a:cs typeface="+mn-lt"/>
              </a:rPr>
              <a:t>is</a:t>
            </a:r>
            <a:r>
              <a:rPr lang="pt-BR" sz="1400" b="1" dirty="0">
                <a:latin typeface="Calibri"/>
                <a:ea typeface="+mn-lt"/>
                <a:cs typeface="+mn-lt"/>
              </a:rPr>
              <a:t> </a:t>
            </a:r>
            <a:r>
              <a:rPr lang="pt-BR" sz="1400" b="1" dirty="0" err="1">
                <a:latin typeface="Calibri"/>
                <a:ea typeface="+mn-lt"/>
                <a:cs typeface="+mn-lt"/>
              </a:rPr>
              <a:t>associated</a:t>
            </a:r>
            <a:r>
              <a:rPr lang="pt-BR" sz="1400" b="1" dirty="0">
                <a:latin typeface="Calibri"/>
                <a:ea typeface="+mn-lt"/>
                <a:cs typeface="+mn-lt"/>
              </a:rPr>
              <a:t> </a:t>
            </a:r>
            <a:r>
              <a:rPr lang="pt-BR" sz="1400" b="1" dirty="0" err="1">
                <a:latin typeface="Calibri"/>
                <a:ea typeface="+mn-lt"/>
                <a:cs typeface="+mn-lt"/>
              </a:rPr>
              <a:t>with</a:t>
            </a:r>
            <a:r>
              <a:rPr lang="pt-BR" sz="1400" b="1" dirty="0">
                <a:latin typeface="Calibri"/>
                <a:ea typeface="+mn-lt"/>
                <a:cs typeface="+mn-lt"/>
              </a:rPr>
              <a:t> </a:t>
            </a:r>
            <a:r>
              <a:rPr lang="pt-BR" sz="1400" b="1" dirty="0" err="1">
                <a:latin typeface="Calibri"/>
                <a:ea typeface="+mn-lt"/>
                <a:cs typeface="+mn-lt"/>
              </a:rPr>
              <a:t>the</a:t>
            </a:r>
            <a:r>
              <a:rPr lang="pt-BR" sz="1400" b="1" dirty="0">
                <a:latin typeface="Calibri"/>
                <a:ea typeface="+mn-lt"/>
                <a:cs typeface="+mn-lt"/>
              </a:rPr>
              <a:t> </a:t>
            </a:r>
            <a:r>
              <a:rPr lang="pt-BR" sz="1400" b="1" dirty="0" err="1">
                <a:latin typeface="Calibri"/>
                <a:ea typeface="+mn-lt"/>
                <a:cs typeface="+mn-lt"/>
              </a:rPr>
              <a:t>extent</a:t>
            </a:r>
            <a:r>
              <a:rPr lang="pt-BR" sz="1400" b="1" dirty="0">
                <a:latin typeface="Calibri"/>
                <a:ea typeface="+mn-lt"/>
                <a:cs typeface="+mn-lt"/>
              </a:rPr>
              <a:t> </a:t>
            </a:r>
            <a:r>
              <a:rPr lang="pt-BR" sz="1400" b="1" dirty="0" err="1">
                <a:latin typeface="Calibri"/>
                <a:ea typeface="+mn-lt"/>
                <a:cs typeface="+mn-lt"/>
              </a:rPr>
              <a:t>to</a:t>
            </a:r>
            <a:r>
              <a:rPr lang="pt-BR" sz="1400" b="1" dirty="0">
                <a:latin typeface="Calibri"/>
                <a:ea typeface="+mn-lt"/>
                <a:cs typeface="+mn-lt"/>
              </a:rPr>
              <a:t> </a:t>
            </a:r>
            <a:r>
              <a:rPr lang="pt-BR" sz="1400" b="1" dirty="0" err="1">
                <a:latin typeface="Calibri"/>
                <a:ea typeface="+mn-lt"/>
                <a:cs typeface="+mn-lt"/>
              </a:rPr>
              <a:t>which</a:t>
            </a:r>
            <a:r>
              <a:rPr lang="pt-BR" sz="1400" b="1" dirty="0">
                <a:latin typeface="Calibri"/>
                <a:ea typeface="+mn-lt"/>
                <a:cs typeface="+mn-lt"/>
              </a:rPr>
              <a:t> </a:t>
            </a:r>
            <a:r>
              <a:rPr lang="pt-BR" sz="1400" b="1" dirty="0" err="1">
                <a:latin typeface="Calibri"/>
                <a:ea typeface="+mn-lt"/>
                <a:cs typeface="+mn-lt"/>
              </a:rPr>
              <a:t>individuals</a:t>
            </a:r>
            <a:r>
              <a:rPr lang="pt-BR" sz="1400" b="1" dirty="0">
                <a:latin typeface="Calibri"/>
                <a:ea typeface="+mn-lt"/>
                <a:cs typeface="+mn-lt"/>
              </a:rPr>
              <a:t> </a:t>
            </a:r>
            <a:r>
              <a:rPr lang="pt-BR" sz="1400" b="1" dirty="0" err="1">
                <a:latin typeface="Calibri"/>
                <a:ea typeface="+mn-lt"/>
                <a:cs typeface="+mn-lt"/>
              </a:rPr>
              <a:t>and</a:t>
            </a:r>
            <a:r>
              <a:rPr lang="pt-BR" sz="1400" b="1" dirty="0">
                <a:latin typeface="Calibri"/>
                <a:ea typeface="+mn-lt"/>
                <a:cs typeface="+mn-lt"/>
              </a:rPr>
              <a:t> </a:t>
            </a:r>
            <a:r>
              <a:rPr lang="pt-BR" sz="1400" b="1" dirty="0" err="1">
                <a:latin typeface="Calibri"/>
                <a:ea typeface="+mn-lt"/>
                <a:cs typeface="+mn-lt"/>
              </a:rPr>
              <a:t>communities</a:t>
            </a:r>
            <a:r>
              <a:rPr lang="pt-BR" sz="1400" b="1" dirty="0">
                <a:latin typeface="Calibri"/>
                <a:ea typeface="+mn-lt"/>
                <a:cs typeface="+mn-lt"/>
              </a:rPr>
              <a:t> </a:t>
            </a:r>
            <a:r>
              <a:rPr lang="pt-BR" sz="1400" b="1" dirty="0" err="1">
                <a:latin typeface="Calibri"/>
                <a:ea typeface="+mn-lt"/>
                <a:cs typeface="+mn-lt"/>
              </a:rPr>
              <a:t>can</a:t>
            </a:r>
            <a:r>
              <a:rPr lang="pt-BR" sz="1400" b="1" dirty="0">
                <a:latin typeface="Calibri"/>
                <a:ea typeface="+mn-lt"/>
                <a:cs typeface="+mn-lt"/>
              </a:rPr>
              <a:t> </a:t>
            </a:r>
            <a:r>
              <a:rPr lang="pt-BR" sz="1400" b="1" dirty="0" err="1">
                <a:latin typeface="Calibri"/>
                <a:ea typeface="+mn-lt"/>
                <a:cs typeface="+mn-lt"/>
              </a:rPr>
              <a:t>access</a:t>
            </a:r>
            <a:r>
              <a:rPr lang="pt-BR" sz="1400" b="1" dirty="0">
                <a:latin typeface="Calibri"/>
                <a:ea typeface="+mn-lt"/>
                <a:cs typeface="+mn-lt"/>
              </a:rPr>
              <a:t> material </a:t>
            </a:r>
            <a:r>
              <a:rPr lang="pt-BR" sz="1400" b="1" dirty="0" err="1">
                <a:latin typeface="Calibri"/>
                <a:ea typeface="+mn-lt"/>
                <a:cs typeface="+mn-lt"/>
              </a:rPr>
              <a:t>resources</a:t>
            </a:r>
            <a:r>
              <a:rPr lang="pt-BR" sz="1400" b="1" dirty="0">
                <a:latin typeface="Calibri"/>
                <a:ea typeface="+mn-lt"/>
                <a:cs typeface="+mn-lt"/>
              </a:rPr>
              <a:t> </a:t>
            </a:r>
            <a:r>
              <a:rPr lang="pt-BR" sz="1400" b="1" dirty="0" err="1">
                <a:latin typeface="Calibri"/>
                <a:ea typeface="+mn-lt"/>
                <a:cs typeface="+mn-lt"/>
              </a:rPr>
              <a:t>including</a:t>
            </a:r>
            <a:r>
              <a:rPr lang="pt-BR" sz="1400" b="1" dirty="0">
                <a:latin typeface="Calibri"/>
                <a:ea typeface="+mn-lt"/>
                <a:cs typeface="+mn-lt"/>
              </a:rPr>
              <a:t> </a:t>
            </a:r>
            <a:r>
              <a:rPr lang="pt-BR" sz="1400" b="1" dirty="0" err="1">
                <a:latin typeface="Calibri"/>
                <a:ea typeface="+mn-lt"/>
                <a:cs typeface="+mn-lt"/>
              </a:rPr>
              <a:t>health</a:t>
            </a:r>
            <a:r>
              <a:rPr lang="pt-BR" sz="1400" b="1" dirty="0">
                <a:latin typeface="Calibri"/>
                <a:ea typeface="+mn-lt"/>
                <a:cs typeface="+mn-lt"/>
              </a:rPr>
              <a:t> </a:t>
            </a:r>
            <a:r>
              <a:rPr lang="pt-BR" sz="1400" b="1" dirty="0" err="1">
                <a:latin typeface="Calibri"/>
                <a:ea typeface="+mn-lt"/>
                <a:cs typeface="+mn-lt"/>
              </a:rPr>
              <a:t>care</a:t>
            </a:r>
            <a:r>
              <a:rPr lang="pt-BR" sz="1400" b="1" dirty="0">
                <a:latin typeface="Calibri"/>
                <a:ea typeface="+mn-lt"/>
                <a:cs typeface="+mn-lt"/>
              </a:rPr>
              <a:t>, </a:t>
            </a:r>
            <a:r>
              <a:rPr lang="pt-BR" sz="1400" b="1" dirty="0" err="1">
                <a:latin typeface="Calibri"/>
                <a:ea typeface="+mn-lt"/>
                <a:cs typeface="+mn-lt"/>
              </a:rPr>
              <a:t>housing</a:t>
            </a:r>
            <a:r>
              <a:rPr lang="pt-BR" sz="1400" b="1" dirty="0">
                <a:latin typeface="Calibri"/>
                <a:ea typeface="+mn-lt"/>
                <a:cs typeface="+mn-lt"/>
              </a:rPr>
              <a:t>, </a:t>
            </a:r>
            <a:r>
              <a:rPr lang="pt-BR" sz="1400" b="1" dirty="0" err="1">
                <a:latin typeface="Calibri"/>
                <a:ea typeface="+mn-lt"/>
                <a:cs typeface="+mn-lt"/>
              </a:rPr>
              <a:t>transportation</a:t>
            </a:r>
            <a:r>
              <a:rPr lang="pt-BR" sz="1400" b="1" dirty="0">
                <a:latin typeface="Calibri"/>
                <a:ea typeface="+mn-lt"/>
                <a:cs typeface="+mn-lt"/>
              </a:rPr>
              <a:t>, </a:t>
            </a:r>
            <a:r>
              <a:rPr lang="pt-BR" sz="1400" b="1" dirty="0" err="1">
                <a:latin typeface="Calibri"/>
                <a:ea typeface="+mn-lt"/>
                <a:cs typeface="+mn-lt"/>
              </a:rPr>
              <a:t>and</a:t>
            </a:r>
            <a:r>
              <a:rPr lang="pt-BR" sz="1400" b="1" dirty="0">
                <a:latin typeface="Calibri"/>
                <a:ea typeface="+mn-lt"/>
                <a:cs typeface="+mn-lt"/>
              </a:rPr>
              <a:t> </a:t>
            </a:r>
            <a:r>
              <a:rPr lang="pt-BR" sz="1400" b="1" dirty="0" err="1">
                <a:latin typeface="Calibri"/>
                <a:ea typeface="+mn-lt"/>
                <a:cs typeface="+mn-lt"/>
              </a:rPr>
              <a:t>nutritious</a:t>
            </a:r>
            <a:r>
              <a:rPr lang="pt-BR" sz="1400" b="1" dirty="0">
                <a:latin typeface="Calibri"/>
                <a:ea typeface="+mn-lt"/>
                <a:cs typeface="+mn-lt"/>
              </a:rPr>
              <a:t> food </a:t>
            </a:r>
            <a:r>
              <a:rPr lang="pt-BR" sz="1400" b="1" dirty="0" err="1">
                <a:latin typeface="Calibri"/>
                <a:ea typeface="+mn-lt"/>
                <a:cs typeface="+mn-lt"/>
              </a:rPr>
              <a:t>and</a:t>
            </a:r>
            <a:r>
              <a:rPr lang="pt-BR" sz="1400" b="1" dirty="0">
                <a:latin typeface="Calibri"/>
                <a:ea typeface="+mn-lt"/>
                <a:cs typeface="+mn-lt"/>
              </a:rPr>
              <a:t> social </a:t>
            </a:r>
            <a:r>
              <a:rPr lang="pt-BR" sz="1400" b="1" dirty="0" err="1">
                <a:latin typeface="Calibri"/>
                <a:ea typeface="+mn-lt"/>
                <a:cs typeface="+mn-lt"/>
              </a:rPr>
              <a:t>resources</a:t>
            </a:r>
            <a:r>
              <a:rPr lang="pt-BR" sz="1400" b="1" dirty="0">
                <a:latin typeface="Calibri"/>
                <a:ea typeface="+mn-lt"/>
                <a:cs typeface="+mn-lt"/>
              </a:rPr>
              <a:t> </a:t>
            </a:r>
            <a:r>
              <a:rPr lang="pt-BR" sz="1400" b="1" dirty="0" err="1">
                <a:latin typeface="Calibri"/>
                <a:ea typeface="+mn-lt"/>
                <a:cs typeface="+mn-lt"/>
              </a:rPr>
              <a:t>such</a:t>
            </a:r>
            <a:r>
              <a:rPr lang="pt-BR" sz="1400" b="1" dirty="0">
                <a:latin typeface="Calibri"/>
                <a:ea typeface="+mn-lt"/>
                <a:cs typeface="+mn-lt"/>
              </a:rPr>
              <a:t> as </a:t>
            </a:r>
            <a:r>
              <a:rPr lang="pt-BR" sz="1400" b="1" dirty="0" err="1">
                <a:latin typeface="Calibri"/>
                <a:ea typeface="+mn-lt"/>
                <a:cs typeface="+mn-lt"/>
              </a:rPr>
              <a:t>political</a:t>
            </a:r>
            <a:r>
              <a:rPr lang="pt-BR" sz="1400" b="1" dirty="0">
                <a:latin typeface="Calibri"/>
                <a:ea typeface="+mn-lt"/>
                <a:cs typeface="+mn-lt"/>
              </a:rPr>
              <a:t> </a:t>
            </a:r>
            <a:r>
              <a:rPr lang="pt-BR" sz="1400" b="1" dirty="0" err="1">
                <a:latin typeface="Calibri"/>
                <a:ea typeface="+mn-lt"/>
                <a:cs typeface="+mn-lt"/>
              </a:rPr>
              <a:t>power</a:t>
            </a:r>
            <a:r>
              <a:rPr lang="pt-BR" sz="1400" b="1" dirty="0">
                <a:latin typeface="Calibri"/>
                <a:ea typeface="+mn-lt"/>
                <a:cs typeface="+mn-lt"/>
              </a:rPr>
              <a:t>, social </a:t>
            </a:r>
            <a:r>
              <a:rPr lang="pt-BR" sz="1400" b="1" dirty="0" err="1">
                <a:latin typeface="Calibri"/>
                <a:ea typeface="+mn-lt"/>
                <a:cs typeface="+mn-lt"/>
              </a:rPr>
              <a:t>engagement</a:t>
            </a:r>
            <a:r>
              <a:rPr lang="pt-BR" sz="1400" b="1" dirty="0">
                <a:latin typeface="Calibri"/>
                <a:ea typeface="+mn-lt"/>
                <a:cs typeface="+mn-lt"/>
              </a:rPr>
              <a:t>, </a:t>
            </a:r>
            <a:r>
              <a:rPr lang="pt-BR" sz="1400" b="1" dirty="0" err="1">
                <a:latin typeface="Calibri"/>
                <a:ea typeface="+mn-lt"/>
                <a:cs typeface="+mn-lt"/>
              </a:rPr>
              <a:t>and</a:t>
            </a:r>
            <a:r>
              <a:rPr lang="pt-BR" sz="1400" b="1" dirty="0">
                <a:latin typeface="Calibri"/>
                <a:ea typeface="+mn-lt"/>
                <a:cs typeface="+mn-lt"/>
              </a:rPr>
              <a:t> </a:t>
            </a:r>
            <a:r>
              <a:rPr lang="pt-BR" sz="1400" b="1" dirty="0" err="1">
                <a:latin typeface="Calibri"/>
                <a:ea typeface="+mn-lt"/>
                <a:cs typeface="+mn-lt"/>
              </a:rPr>
              <a:t>control</a:t>
            </a:r>
            <a:r>
              <a:rPr lang="pt-BR" sz="1400" b="1" dirty="0">
                <a:latin typeface="Calibri"/>
                <a:ea typeface="+mn-lt"/>
                <a:cs typeface="+mn-lt"/>
              </a:rPr>
              <a:t>.</a:t>
            </a:r>
          </a:p>
          <a:p>
            <a:r>
              <a:rPr lang="pt-BR" sz="1400" b="1" dirty="0" err="1">
                <a:ea typeface="+mn-lt"/>
                <a:cs typeface="+mn-lt"/>
              </a:rPr>
              <a:t>Prevalence</a:t>
            </a:r>
            <a:r>
              <a:rPr lang="pt-BR" sz="1400" b="1" dirty="0">
                <a:ea typeface="+mn-lt"/>
                <a:cs typeface="+mn-lt"/>
              </a:rPr>
              <a:t> </a:t>
            </a:r>
            <a:r>
              <a:rPr lang="pt-BR" sz="1400" b="1" dirty="0" err="1">
                <a:ea typeface="+mn-lt"/>
                <a:cs typeface="+mn-lt"/>
              </a:rPr>
              <a:t>of</a:t>
            </a:r>
            <a:r>
              <a:rPr lang="pt-BR" sz="1400" b="1" dirty="0">
                <a:ea typeface="+mn-lt"/>
                <a:cs typeface="+mn-lt"/>
              </a:rPr>
              <a:t> diabetes </a:t>
            </a:r>
            <a:r>
              <a:rPr lang="pt-BR" sz="1400" b="1" dirty="0" err="1">
                <a:ea typeface="+mn-lt"/>
                <a:cs typeface="+mn-lt"/>
              </a:rPr>
              <a:t>increases</a:t>
            </a:r>
            <a:r>
              <a:rPr lang="pt-BR" sz="1400" b="1" dirty="0">
                <a:ea typeface="+mn-lt"/>
                <a:cs typeface="+mn-lt"/>
              </a:rPr>
              <a:t> </a:t>
            </a:r>
            <a:r>
              <a:rPr lang="pt-BR" sz="1400" b="1" dirty="0" err="1">
                <a:ea typeface="+mn-lt"/>
                <a:cs typeface="+mn-lt"/>
              </a:rPr>
              <a:t>on</a:t>
            </a:r>
            <a:r>
              <a:rPr lang="pt-BR" sz="1400" b="1" dirty="0">
                <a:ea typeface="+mn-lt"/>
                <a:cs typeface="+mn-lt"/>
              </a:rPr>
              <a:t> a </a:t>
            </a:r>
            <a:r>
              <a:rPr lang="pt-BR" sz="1400" b="1" dirty="0" err="1">
                <a:ea typeface="+mn-lt"/>
                <a:cs typeface="+mn-lt"/>
              </a:rPr>
              <a:t>gradient</a:t>
            </a:r>
            <a:r>
              <a:rPr lang="pt-BR" sz="1400" b="1" dirty="0">
                <a:ea typeface="+mn-lt"/>
                <a:cs typeface="+mn-lt"/>
              </a:rPr>
              <a:t> </a:t>
            </a:r>
            <a:r>
              <a:rPr lang="pt-BR" sz="1400" b="1" dirty="0" err="1">
                <a:ea typeface="+mn-lt"/>
                <a:cs typeface="+mn-lt"/>
              </a:rPr>
              <a:t>from</a:t>
            </a:r>
            <a:r>
              <a:rPr lang="pt-BR" sz="1400" b="1" dirty="0">
                <a:ea typeface="+mn-lt"/>
                <a:cs typeface="+mn-lt"/>
              </a:rPr>
              <a:t> </a:t>
            </a:r>
            <a:r>
              <a:rPr lang="pt-BR" sz="1400" b="1" dirty="0" err="1">
                <a:ea typeface="+mn-lt"/>
                <a:cs typeface="+mn-lt"/>
              </a:rPr>
              <a:t>highest</a:t>
            </a:r>
            <a:r>
              <a:rPr lang="pt-BR" sz="1400" b="1" dirty="0">
                <a:ea typeface="+mn-lt"/>
                <a:cs typeface="+mn-lt"/>
              </a:rPr>
              <a:t> </a:t>
            </a:r>
            <a:r>
              <a:rPr lang="pt-BR" sz="1400" b="1" dirty="0" err="1">
                <a:ea typeface="+mn-lt"/>
                <a:cs typeface="+mn-lt"/>
              </a:rPr>
              <a:t>to</a:t>
            </a:r>
            <a:r>
              <a:rPr lang="pt-BR" sz="1400" b="1" dirty="0">
                <a:ea typeface="+mn-lt"/>
                <a:cs typeface="+mn-lt"/>
              </a:rPr>
              <a:t> </a:t>
            </a:r>
            <a:r>
              <a:rPr lang="pt-BR" sz="1400" b="1" dirty="0" err="1">
                <a:ea typeface="+mn-lt"/>
                <a:cs typeface="+mn-lt"/>
              </a:rPr>
              <a:t>lowest</a:t>
            </a:r>
            <a:r>
              <a:rPr lang="pt-BR" sz="1400" b="1" dirty="0">
                <a:ea typeface="+mn-lt"/>
                <a:cs typeface="+mn-lt"/>
              </a:rPr>
              <a:t> income.</a:t>
            </a:r>
            <a:r>
              <a:rPr lang="pt-BR" sz="1400" dirty="0">
                <a:ea typeface="+mn-lt"/>
                <a:cs typeface="+mn-lt"/>
              </a:rPr>
              <a:t> In data </a:t>
            </a:r>
            <a:r>
              <a:rPr lang="pt-BR" sz="1400" dirty="0" err="1">
                <a:ea typeface="+mn-lt"/>
                <a:cs typeface="+mn-lt"/>
              </a:rPr>
              <a:t>from</a:t>
            </a:r>
            <a:r>
              <a:rPr lang="pt-BR" sz="1400" dirty="0">
                <a:ea typeface="+mn-lt"/>
                <a:cs typeface="+mn-lt"/>
              </a:rPr>
              <a:t> </a:t>
            </a:r>
            <a:r>
              <a:rPr lang="pt-BR" sz="1400" dirty="0" err="1">
                <a:ea typeface="+mn-lt"/>
                <a:cs typeface="+mn-lt"/>
              </a:rPr>
              <a:t>the</a:t>
            </a:r>
            <a:r>
              <a:rPr lang="pt-BR" sz="1400" dirty="0">
                <a:ea typeface="+mn-lt"/>
                <a:cs typeface="+mn-lt"/>
              </a:rPr>
              <a:t> </a:t>
            </a:r>
            <a:r>
              <a:rPr lang="pt-BR" sz="1400" dirty="0" err="1">
                <a:ea typeface="+mn-lt"/>
                <a:cs typeface="+mn-lt"/>
              </a:rPr>
              <a:t>National</a:t>
            </a:r>
            <a:r>
              <a:rPr lang="pt-BR" sz="1400" dirty="0">
                <a:ea typeface="+mn-lt"/>
                <a:cs typeface="+mn-lt"/>
              </a:rPr>
              <a:t> Health Interview </a:t>
            </a:r>
            <a:r>
              <a:rPr lang="pt-BR" sz="1400" dirty="0" err="1">
                <a:ea typeface="+mn-lt"/>
                <a:cs typeface="+mn-lt"/>
              </a:rPr>
              <a:t>Survey</a:t>
            </a:r>
            <a:r>
              <a:rPr lang="pt-BR" sz="1400" dirty="0">
                <a:ea typeface="+mn-lt"/>
                <a:cs typeface="+mn-lt"/>
              </a:rPr>
              <a:t> (NHIS) </a:t>
            </a:r>
            <a:r>
              <a:rPr lang="pt-BR" sz="1400" dirty="0" err="1">
                <a:ea typeface="+mn-lt"/>
                <a:cs typeface="+mn-lt"/>
              </a:rPr>
              <a:t>covering</a:t>
            </a:r>
            <a:r>
              <a:rPr lang="pt-BR" sz="1400" dirty="0">
                <a:ea typeface="+mn-lt"/>
                <a:cs typeface="+mn-lt"/>
              </a:rPr>
              <a:t> 2011–2014, </a:t>
            </a:r>
            <a:r>
              <a:rPr lang="pt-BR" sz="1400" dirty="0" err="1">
                <a:ea typeface="+mn-lt"/>
                <a:cs typeface="+mn-lt"/>
              </a:rPr>
              <a:t>Beckles</a:t>
            </a:r>
            <a:r>
              <a:rPr lang="pt-BR" sz="1400" dirty="0">
                <a:ea typeface="+mn-lt"/>
                <a:cs typeface="+mn-lt"/>
              </a:rPr>
              <a:t> </a:t>
            </a:r>
            <a:r>
              <a:rPr lang="pt-BR" sz="1400" dirty="0" err="1">
                <a:ea typeface="+mn-lt"/>
                <a:cs typeface="+mn-lt"/>
              </a:rPr>
              <a:t>and</a:t>
            </a:r>
            <a:r>
              <a:rPr lang="pt-BR" sz="1400" dirty="0">
                <a:ea typeface="+mn-lt"/>
                <a:cs typeface="+mn-lt"/>
              </a:rPr>
              <a:t> Chou </a:t>
            </a:r>
            <a:r>
              <a:rPr lang="pt-BR" sz="1400" dirty="0" err="1">
                <a:ea typeface="+mn-lt"/>
                <a:cs typeface="+mn-lt"/>
              </a:rPr>
              <a:t>found</a:t>
            </a:r>
            <a:r>
              <a:rPr lang="pt-BR" sz="1400" dirty="0">
                <a:ea typeface="+mn-lt"/>
                <a:cs typeface="+mn-lt"/>
              </a:rPr>
              <a:t> </a:t>
            </a:r>
            <a:r>
              <a:rPr lang="pt-BR" sz="1400" dirty="0" err="1">
                <a:ea typeface="+mn-lt"/>
                <a:cs typeface="+mn-lt"/>
              </a:rPr>
              <a:t>increasing</a:t>
            </a:r>
            <a:r>
              <a:rPr lang="pt-BR" sz="1400" dirty="0">
                <a:ea typeface="+mn-lt"/>
                <a:cs typeface="+mn-lt"/>
              </a:rPr>
              <a:t> diabetes </a:t>
            </a:r>
            <a:r>
              <a:rPr lang="pt-BR" sz="1400" dirty="0" err="1">
                <a:ea typeface="+mn-lt"/>
                <a:cs typeface="+mn-lt"/>
              </a:rPr>
              <a:t>prevalence</a:t>
            </a:r>
            <a:r>
              <a:rPr lang="pt-BR" sz="1400" dirty="0">
                <a:ea typeface="+mn-lt"/>
                <a:cs typeface="+mn-lt"/>
              </a:rPr>
              <a:t> </a:t>
            </a:r>
            <a:r>
              <a:rPr lang="pt-BR" sz="1400" dirty="0" err="1">
                <a:ea typeface="+mn-lt"/>
                <a:cs typeface="+mn-lt"/>
              </a:rPr>
              <a:t>at</a:t>
            </a:r>
            <a:r>
              <a:rPr lang="pt-BR" sz="1400" dirty="0">
                <a:ea typeface="+mn-lt"/>
                <a:cs typeface="+mn-lt"/>
              </a:rPr>
              <a:t> </a:t>
            </a:r>
            <a:r>
              <a:rPr lang="pt-BR" sz="1400" dirty="0" err="1">
                <a:ea typeface="+mn-lt"/>
                <a:cs typeface="+mn-lt"/>
              </a:rPr>
              <a:t>lower</a:t>
            </a:r>
            <a:r>
              <a:rPr lang="pt-BR" sz="1400" dirty="0">
                <a:ea typeface="+mn-lt"/>
                <a:cs typeface="+mn-lt"/>
              </a:rPr>
              <a:t> </a:t>
            </a:r>
            <a:r>
              <a:rPr lang="pt-BR" sz="1400" dirty="0" err="1">
                <a:ea typeface="+mn-lt"/>
                <a:cs typeface="+mn-lt"/>
              </a:rPr>
              <a:t>levels</a:t>
            </a:r>
            <a:r>
              <a:rPr lang="pt-BR" sz="1400" dirty="0">
                <a:ea typeface="+mn-lt"/>
                <a:cs typeface="+mn-lt"/>
              </a:rPr>
              <a:t> </a:t>
            </a:r>
            <a:r>
              <a:rPr lang="pt-BR" sz="1400" dirty="0" err="1">
                <a:ea typeface="+mn-lt"/>
                <a:cs typeface="+mn-lt"/>
              </a:rPr>
              <a:t>of</a:t>
            </a:r>
            <a:r>
              <a:rPr lang="pt-BR" sz="1400" dirty="0">
                <a:ea typeface="+mn-lt"/>
                <a:cs typeface="+mn-lt"/>
              </a:rPr>
              <a:t> income as </a:t>
            </a:r>
            <a:r>
              <a:rPr lang="pt-BR" sz="1400" dirty="0" err="1">
                <a:ea typeface="+mn-lt"/>
                <a:cs typeface="+mn-lt"/>
              </a:rPr>
              <a:t>reflected</a:t>
            </a:r>
            <a:r>
              <a:rPr lang="pt-BR" sz="1400" dirty="0">
                <a:ea typeface="+mn-lt"/>
                <a:cs typeface="+mn-lt"/>
              </a:rPr>
              <a:t> in </a:t>
            </a:r>
            <a:r>
              <a:rPr lang="pt-BR" sz="1400" dirty="0" err="1">
                <a:ea typeface="+mn-lt"/>
                <a:cs typeface="+mn-lt"/>
              </a:rPr>
              <a:t>the</a:t>
            </a:r>
            <a:r>
              <a:rPr lang="pt-BR" sz="1400" dirty="0">
                <a:ea typeface="+mn-lt"/>
                <a:cs typeface="+mn-lt"/>
              </a:rPr>
              <a:t> </a:t>
            </a:r>
            <a:r>
              <a:rPr lang="pt-BR" sz="1400" dirty="0" err="1">
                <a:ea typeface="+mn-lt"/>
                <a:cs typeface="+mn-lt"/>
              </a:rPr>
              <a:t>levels</a:t>
            </a:r>
            <a:r>
              <a:rPr lang="pt-BR" sz="1400" dirty="0">
                <a:ea typeface="+mn-lt"/>
                <a:cs typeface="+mn-lt"/>
              </a:rPr>
              <a:t> </a:t>
            </a:r>
            <a:r>
              <a:rPr lang="pt-BR" sz="1400" dirty="0" err="1">
                <a:ea typeface="+mn-lt"/>
                <a:cs typeface="+mn-lt"/>
              </a:rPr>
              <a:t>of</a:t>
            </a:r>
            <a:r>
              <a:rPr lang="pt-BR" sz="1400" dirty="0">
                <a:ea typeface="+mn-lt"/>
                <a:cs typeface="+mn-lt"/>
              </a:rPr>
              <a:t> </a:t>
            </a:r>
            <a:r>
              <a:rPr lang="pt-BR" sz="1400" dirty="0" err="1">
                <a:ea typeface="+mn-lt"/>
                <a:cs typeface="+mn-lt"/>
              </a:rPr>
              <a:t>ratio</a:t>
            </a:r>
            <a:r>
              <a:rPr lang="pt-BR" sz="1400" dirty="0">
                <a:ea typeface="+mn-lt"/>
                <a:cs typeface="+mn-lt"/>
              </a:rPr>
              <a:t> </a:t>
            </a:r>
            <a:r>
              <a:rPr lang="pt-BR" sz="1400" dirty="0" err="1">
                <a:ea typeface="+mn-lt"/>
                <a:cs typeface="+mn-lt"/>
              </a:rPr>
              <a:t>of</a:t>
            </a:r>
            <a:r>
              <a:rPr lang="pt-BR" sz="1400" dirty="0">
                <a:ea typeface="+mn-lt"/>
                <a:cs typeface="+mn-lt"/>
              </a:rPr>
              <a:t> income </a:t>
            </a:r>
            <a:r>
              <a:rPr lang="pt-BR" sz="1400" dirty="0" err="1">
                <a:ea typeface="+mn-lt"/>
                <a:cs typeface="+mn-lt"/>
              </a:rPr>
              <a:t>to</a:t>
            </a:r>
            <a:r>
              <a:rPr lang="pt-BR" sz="1400" dirty="0">
                <a:ea typeface="+mn-lt"/>
                <a:cs typeface="+mn-lt"/>
              </a:rPr>
              <a:t> </a:t>
            </a:r>
            <a:r>
              <a:rPr lang="pt-BR" sz="1400" dirty="0" err="1">
                <a:ea typeface="+mn-lt"/>
                <a:cs typeface="+mn-lt"/>
              </a:rPr>
              <a:t>poverty</a:t>
            </a:r>
            <a:r>
              <a:rPr lang="pt-BR" sz="1400" dirty="0">
                <a:ea typeface="+mn-lt"/>
                <a:cs typeface="+mn-lt"/>
              </a:rPr>
              <a:t> </a:t>
            </a:r>
            <a:r>
              <a:rPr lang="pt-BR" sz="1400" dirty="0" err="1">
                <a:ea typeface="+mn-lt"/>
                <a:cs typeface="+mn-lt"/>
              </a:rPr>
              <a:t>level</a:t>
            </a:r>
            <a:r>
              <a:rPr lang="pt-BR" sz="1400" dirty="0">
                <a:ea typeface="+mn-lt"/>
                <a:cs typeface="+mn-lt"/>
              </a:rPr>
              <a:t>.</a:t>
            </a:r>
          </a:p>
          <a:p>
            <a:r>
              <a:rPr lang="pt-BR" sz="1400" dirty="0">
                <a:ea typeface="+mn-lt"/>
                <a:cs typeface="+mn-lt"/>
              </a:rPr>
              <a:t>Age-</a:t>
            </a:r>
            <a:r>
              <a:rPr lang="pt-BR" sz="1400" dirty="0" err="1">
                <a:ea typeface="+mn-lt"/>
                <a:cs typeface="+mn-lt"/>
              </a:rPr>
              <a:t>adjusted</a:t>
            </a:r>
            <a:r>
              <a:rPr lang="pt-BR" sz="1400" dirty="0">
                <a:ea typeface="+mn-lt"/>
                <a:cs typeface="+mn-lt"/>
              </a:rPr>
              <a:t> </a:t>
            </a:r>
            <a:r>
              <a:rPr lang="pt-BR" sz="1400" dirty="0" err="1">
                <a:ea typeface="+mn-lt"/>
                <a:cs typeface="+mn-lt"/>
              </a:rPr>
              <a:t>incidence</a:t>
            </a:r>
            <a:r>
              <a:rPr lang="pt-BR" sz="1400" dirty="0">
                <a:ea typeface="+mn-lt"/>
                <a:cs typeface="+mn-lt"/>
              </a:rPr>
              <a:t> </a:t>
            </a:r>
            <a:r>
              <a:rPr lang="pt-BR" sz="1400" dirty="0" err="1">
                <a:ea typeface="+mn-lt"/>
                <a:cs typeface="+mn-lt"/>
              </a:rPr>
              <a:t>of</a:t>
            </a:r>
            <a:r>
              <a:rPr lang="pt-BR" sz="1400" dirty="0">
                <a:ea typeface="+mn-lt"/>
                <a:cs typeface="+mn-lt"/>
              </a:rPr>
              <a:t> </a:t>
            </a:r>
            <a:r>
              <a:rPr lang="pt-BR" sz="1400" dirty="0" err="1">
                <a:ea typeface="+mn-lt"/>
                <a:cs typeface="+mn-lt"/>
              </a:rPr>
              <a:t>diagnosed</a:t>
            </a:r>
            <a:r>
              <a:rPr lang="pt-BR" sz="1400" dirty="0">
                <a:ea typeface="+mn-lt"/>
                <a:cs typeface="+mn-lt"/>
              </a:rPr>
              <a:t> diabetes in </a:t>
            </a:r>
            <a:r>
              <a:rPr lang="pt-BR" sz="1400" dirty="0" err="1">
                <a:ea typeface="+mn-lt"/>
                <a:cs typeface="+mn-lt"/>
              </a:rPr>
              <a:t>adults</a:t>
            </a:r>
            <a:r>
              <a:rPr lang="pt-BR" sz="1400" dirty="0">
                <a:ea typeface="+mn-lt"/>
                <a:cs typeface="+mn-lt"/>
              </a:rPr>
              <a:t> </a:t>
            </a:r>
            <a:r>
              <a:rPr lang="pt-BR" sz="1400" dirty="0" err="1">
                <a:ea typeface="+mn-lt"/>
                <a:cs typeface="+mn-lt"/>
              </a:rPr>
              <a:t>is</a:t>
            </a:r>
            <a:r>
              <a:rPr lang="pt-BR" sz="1400" dirty="0">
                <a:ea typeface="+mn-lt"/>
                <a:cs typeface="+mn-lt"/>
              </a:rPr>
              <a:t> </a:t>
            </a:r>
            <a:r>
              <a:rPr lang="pt-BR" sz="1400" dirty="0" err="1">
                <a:ea typeface="+mn-lt"/>
                <a:cs typeface="+mn-lt"/>
              </a:rPr>
              <a:t>associated</a:t>
            </a:r>
            <a:r>
              <a:rPr lang="pt-BR" sz="1400" dirty="0">
                <a:ea typeface="+mn-lt"/>
                <a:cs typeface="+mn-lt"/>
              </a:rPr>
              <a:t> </a:t>
            </a:r>
            <a:r>
              <a:rPr lang="pt-BR" sz="1400" dirty="0" err="1">
                <a:ea typeface="+mn-lt"/>
                <a:cs typeface="+mn-lt"/>
              </a:rPr>
              <a:t>also</a:t>
            </a:r>
            <a:r>
              <a:rPr lang="pt-BR" sz="1400" dirty="0">
                <a:ea typeface="+mn-lt"/>
                <a:cs typeface="+mn-lt"/>
              </a:rPr>
              <a:t> </a:t>
            </a:r>
            <a:r>
              <a:rPr lang="pt-BR" sz="1400" dirty="0" err="1">
                <a:ea typeface="+mn-lt"/>
                <a:cs typeface="+mn-lt"/>
              </a:rPr>
              <a:t>with</a:t>
            </a:r>
            <a:r>
              <a:rPr lang="pt-BR" sz="1400" dirty="0">
                <a:ea typeface="+mn-lt"/>
                <a:cs typeface="+mn-lt"/>
              </a:rPr>
              <a:t> </a:t>
            </a:r>
            <a:r>
              <a:rPr lang="pt-BR" sz="1400" dirty="0" err="1">
                <a:ea typeface="+mn-lt"/>
                <a:cs typeface="+mn-lt"/>
              </a:rPr>
              <a:t>educational</a:t>
            </a:r>
            <a:r>
              <a:rPr lang="pt-BR" sz="1400" dirty="0">
                <a:ea typeface="+mn-lt"/>
                <a:cs typeface="+mn-lt"/>
              </a:rPr>
              <a:t> </a:t>
            </a:r>
            <a:r>
              <a:rPr lang="pt-BR" sz="1400" dirty="0" err="1">
                <a:ea typeface="+mn-lt"/>
                <a:cs typeface="+mn-lt"/>
              </a:rPr>
              <a:t>level</a:t>
            </a:r>
            <a:r>
              <a:rPr lang="pt-BR" sz="1400" dirty="0">
                <a:ea typeface="+mn-lt"/>
                <a:cs typeface="+mn-lt"/>
              </a:rPr>
              <a:t> in a </a:t>
            </a:r>
            <a:r>
              <a:rPr lang="pt-BR" sz="1400" dirty="0" err="1">
                <a:ea typeface="+mn-lt"/>
                <a:cs typeface="+mn-lt"/>
              </a:rPr>
              <a:t>stepwise</a:t>
            </a:r>
            <a:r>
              <a:rPr lang="pt-BR" sz="1400" dirty="0">
                <a:ea typeface="+mn-lt"/>
                <a:cs typeface="+mn-lt"/>
              </a:rPr>
              <a:t> </a:t>
            </a:r>
            <a:r>
              <a:rPr lang="pt-BR" sz="1400" dirty="0" err="1">
                <a:ea typeface="+mn-lt"/>
                <a:cs typeface="+mn-lt"/>
              </a:rPr>
              <a:t>pattern</a:t>
            </a:r>
            <a:r>
              <a:rPr lang="pt-BR" sz="1400" dirty="0">
                <a:ea typeface="+mn-lt"/>
                <a:cs typeface="+mn-lt"/>
              </a:rPr>
              <a:t>.</a:t>
            </a:r>
          </a:p>
          <a:p>
            <a:r>
              <a:rPr lang="pt-BR" sz="1400" dirty="0">
                <a:ea typeface="+mn-lt"/>
                <a:cs typeface="+mn-lt"/>
              </a:rPr>
              <a:t>The </a:t>
            </a:r>
            <a:r>
              <a:rPr lang="pt-BR" sz="1400" dirty="0" err="1">
                <a:ea typeface="+mn-lt"/>
                <a:cs typeface="+mn-lt"/>
              </a:rPr>
              <a:t>neighborhood</a:t>
            </a:r>
            <a:r>
              <a:rPr lang="pt-BR" sz="1400" dirty="0">
                <a:ea typeface="+mn-lt"/>
                <a:cs typeface="+mn-lt"/>
              </a:rPr>
              <a:t> </a:t>
            </a:r>
            <a:r>
              <a:rPr lang="pt-BR" sz="1400" dirty="0" err="1">
                <a:ea typeface="+mn-lt"/>
                <a:cs typeface="+mn-lt"/>
              </a:rPr>
              <a:t>environment</a:t>
            </a:r>
            <a:r>
              <a:rPr lang="pt-BR" sz="1400" dirty="0">
                <a:ea typeface="+mn-lt"/>
                <a:cs typeface="+mn-lt"/>
              </a:rPr>
              <a:t> in </a:t>
            </a:r>
            <a:r>
              <a:rPr lang="pt-BR" sz="1400" dirty="0" err="1">
                <a:ea typeface="+mn-lt"/>
                <a:cs typeface="+mn-lt"/>
              </a:rPr>
              <a:t>which</a:t>
            </a:r>
            <a:r>
              <a:rPr lang="pt-BR" sz="1400" dirty="0">
                <a:ea typeface="+mn-lt"/>
                <a:cs typeface="+mn-lt"/>
              </a:rPr>
              <a:t> </a:t>
            </a:r>
            <a:r>
              <a:rPr lang="pt-BR" sz="1400" dirty="0" err="1">
                <a:ea typeface="+mn-lt"/>
                <a:cs typeface="+mn-lt"/>
              </a:rPr>
              <a:t>one</a:t>
            </a:r>
            <a:r>
              <a:rPr lang="pt-BR" sz="1400" dirty="0">
                <a:ea typeface="+mn-lt"/>
                <a:cs typeface="+mn-lt"/>
              </a:rPr>
              <a:t> lives </a:t>
            </a:r>
            <a:r>
              <a:rPr lang="pt-BR" sz="1400" dirty="0" err="1">
                <a:ea typeface="+mn-lt"/>
                <a:cs typeface="+mn-lt"/>
              </a:rPr>
              <a:t>has</a:t>
            </a:r>
            <a:r>
              <a:rPr lang="pt-BR" sz="1400" dirty="0">
                <a:ea typeface="+mn-lt"/>
                <a:cs typeface="+mn-lt"/>
              </a:rPr>
              <a:t> </a:t>
            </a:r>
            <a:r>
              <a:rPr lang="pt-BR" sz="1400" dirty="0" err="1">
                <a:ea typeface="+mn-lt"/>
                <a:cs typeface="+mn-lt"/>
              </a:rPr>
              <a:t>been</a:t>
            </a:r>
            <a:r>
              <a:rPr lang="pt-BR" sz="1400" dirty="0">
                <a:ea typeface="+mn-lt"/>
                <a:cs typeface="+mn-lt"/>
              </a:rPr>
              <a:t> </a:t>
            </a:r>
            <a:r>
              <a:rPr lang="pt-BR" sz="1400" dirty="0" err="1">
                <a:ea typeface="+mn-lt"/>
                <a:cs typeface="+mn-lt"/>
              </a:rPr>
              <a:t>of</a:t>
            </a:r>
            <a:r>
              <a:rPr lang="pt-BR" sz="1400" dirty="0">
                <a:ea typeface="+mn-lt"/>
                <a:cs typeface="+mn-lt"/>
              </a:rPr>
              <a:t> major </a:t>
            </a:r>
            <a:r>
              <a:rPr lang="pt-BR" sz="1400" dirty="0" err="1">
                <a:ea typeface="+mn-lt"/>
                <a:cs typeface="+mn-lt"/>
              </a:rPr>
              <a:t>interest</a:t>
            </a:r>
            <a:r>
              <a:rPr lang="pt-BR" sz="1400" dirty="0">
                <a:ea typeface="+mn-lt"/>
                <a:cs typeface="+mn-lt"/>
              </a:rPr>
              <a:t> as a setting in </a:t>
            </a:r>
            <a:r>
              <a:rPr lang="pt-BR" sz="1400" dirty="0" err="1">
                <a:ea typeface="+mn-lt"/>
                <a:cs typeface="+mn-lt"/>
              </a:rPr>
              <a:t>which</a:t>
            </a:r>
            <a:r>
              <a:rPr lang="pt-BR" sz="1400" dirty="0">
                <a:ea typeface="+mn-lt"/>
                <a:cs typeface="+mn-lt"/>
              </a:rPr>
              <a:t> </a:t>
            </a:r>
            <a:r>
              <a:rPr lang="pt-BR" sz="1400" dirty="0" err="1">
                <a:ea typeface="+mn-lt"/>
                <a:cs typeface="+mn-lt"/>
              </a:rPr>
              <a:t>to</a:t>
            </a:r>
            <a:r>
              <a:rPr lang="pt-BR" sz="1400" dirty="0">
                <a:ea typeface="+mn-lt"/>
                <a:cs typeface="+mn-lt"/>
              </a:rPr>
              <a:t> </a:t>
            </a:r>
            <a:r>
              <a:rPr lang="pt-BR" sz="1400" dirty="0" err="1">
                <a:ea typeface="+mn-lt"/>
                <a:cs typeface="+mn-lt"/>
              </a:rPr>
              <a:t>understand</a:t>
            </a:r>
            <a:r>
              <a:rPr lang="pt-BR" sz="1400" dirty="0">
                <a:ea typeface="+mn-lt"/>
                <a:cs typeface="+mn-lt"/>
              </a:rPr>
              <a:t> contextual </a:t>
            </a:r>
            <a:r>
              <a:rPr lang="pt-BR" sz="1400" dirty="0" err="1">
                <a:ea typeface="+mn-lt"/>
                <a:cs typeface="+mn-lt"/>
              </a:rPr>
              <a:t>and</a:t>
            </a:r>
            <a:r>
              <a:rPr lang="pt-BR" sz="1400" dirty="0">
                <a:ea typeface="+mn-lt"/>
                <a:cs typeface="+mn-lt"/>
              </a:rPr>
              <a:t> </a:t>
            </a:r>
            <a:r>
              <a:rPr lang="pt-BR" sz="1400" dirty="0" err="1">
                <a:ea typeface="+mn-lt"/>
                <a:cs typeface="+mn-lt"/>
              </a:rPr>
              <a:t>multilevel</a:t>
            </a:r>
            <a:r>
              <a:rPr lang="pt-BR" sz="1400" dirty="0">
                <a:ea typeface="+mn-lt"/>
                <a:cs typeface="+mn-lt"/>
              </a:rPr>
              <a:t> </a:t>
            </a:r>
            <a:r>
              <a:rPr lang="pt-BR" sz="1400" dirty="0" err="1">
                <a:ea typeface="+mn-lt"/>
                <a:cs typeface="+mn-lt"/>
              </a:rPr>
              <a:t>influences</a:t>
            </a:r>
            <a:r>
              <a:rPr lang="pt-BR" sz="1400" dirty="0">
                <a:ea typeface="+mn-lt"/>
                <a:cs typeface="+mn-lt"/>
              </a:rPr>
              <a:t> </a:t>
            </a:r>
            <a:r>
              <a:rPr lang="pt-BR" sz="1400" dirty="0" err="1">
                <a:ea typeface="+mn-lt"/>
                <a:cs typeface="+mn-lt"/>
              </a:rPr>
              <a:t>on</a:t>
            </a:r>
            <a:r>
              <a:rPr lang="pt-BR" sz="1400" dirty="0">
                <a:ea typeface="+mn-lt"/>
                <a:cs typeface="+mn-lt"/>
              </a:rPr>
              <a:t> </a:t>
            </a:r>
            <a:r>
              <a:rPr lang="pt-BR" sz="1400" dirty="0" err="1">
                <a:ea typeface="+mn-lt"/>
                <a:cs typeface="+mn-lt"/>
              </a:rPr>
              <a:t>health</a:t>
            </a:r>
            <a:r>
              <a:rPr lang="pt-BR" sz="1400" dirty="0">
                <a:ea typeface="+mn-lt"/>
                <a:cs typeface="+mn-lt"/>
              </a:rPr>
              <a:t>.</a:t>
            </a:r>
          </a:p>
          <a:p>
            <a:r>
              <a:rPr lang="pt-BR" sz="1400" dirty="0">
                <a:ea typeface="+mn-lt"/>
                <a:cs typeface="+mn-lt"/>
              </a:rPr>
              <a:t>Kern et al. note </a:t>
            </a:r>
            <a:r>
              <a:rPr lang="pt-BR" sz="1400" dirty="0" err="1">
                <a:ea typeface="+mn-lt"/>
                <a:cs typeface="+mn-lt"/>
              </a:rPr>
              <a:t>that</a:t>
            </a:r>
            <a:r>
              <a:rPr lang="pt-BR" sz="1400" dirty="0">
                <a:ea typeface="+mn-lt"/>
                <a:cs typeface="+mn-lt"/>
              </a:rPr>
              <a:t> it </a:t>
            </a:r>
            <a:r>
              <a:rPr lang="pt-BR" sz="1400" dirty="0" err="1">
                <a:ea typeface="+mn-lt"/>
                <a:cs typeface="+mn-lt"/>
              </a:rPr>
              <a:t>is</a:t>
            </a:r>
            <a:r>
              <a:rPr lang="pt-BR" sz="1400" dirty="0">
                <a:ea typeface="+mn-lt"/>
                <a:cs typeface="+mn-lt"/>
              </a:rPr>
              <a:t> </a:t>
            </a:r>
            <a:r>
              <a:rPr lang="pt-BR" sz="1400" dirty="0" err="1">
                <a:ea typeface="+mn-lt"/>
                <a:cs typeface="+mn-lt"/>
              </a:rPr>
              <a:t>reasonable</a:t>
            </a:r>
            <a:r>
              <a:rPr lang="pt-BR" sz="1400" dirty="0">
                <a:ea typeface="+mn-lt"/>
                <a:cs typeface="+mn-lt"/>
              </a:rPr>
              <a:t> </a:t>
            </a:r>
            <a:r>
              <a:rPr lang="pt-BR" sz="1400" dirty="0" err="1">
                <a:ea typeface="+mn-lt"/>
                <a:cs typeface="+mn-lt"/>
              </a:rPr>
              <a:t>to</a:t>
            </a:r>
            <a:r>
              <a:rPr lang="pt-BR" sz="1400" dirty="0">
                <a:ea typeface="+mn-lt"/>
                <a:cs typeface="+mn-lt"/>
              </a:rPr>
              <a:t> </a:t>
            </a:r>
            <a:r>
              <a:rPr lang="pt-BR" sz="1400" dirty="0" err="1">
                <a:ea typeface="+mn-lt"/>
                <a:cs typeface="+mn-lt"/>
              </a:rPr>
              <a:t>expect</a:t>
            </a:r>
            <a:r>
              <a:rPr lang="pt-BR" sz="1400" dirty="0">
                <a:ea typeface="+mn-lt"/>
                <a:cs typeface="+mn-lt"/>
              </a:rPr>
              <a:t> </a:t>
            </a:r>
            <a:r>
              <a:rPr lang="pt-BR" sz="1400" dirty="0" err="1">
                <a:ea typeface="+mn-lt"/>
                <a:cs typeface="+mn-lt"/>
              </a:rPr>
              <a:t>that</a:t>
            </a:r>
            <a:r>
              <a:rPr lang="pt-BR" sz="1400" dirty="0">
                <a:ea typeface="+mn-lt"/>
                <a:cs typeface="+mn-lt"/>
              </a:rPr>
              <a:t> </a:t>
            </a:r>
            <a:r>
              <a:rPr lang="pt-BR" sz="1400" dirty="0" err="1">
                <a:ea typeface="+mn-lt"/>
                <a:cs typeface="+mn-lt"/>
              </a:rPr>
              <a:t>large</a:t>
            </a:r>
            <a:r>
              <a:rPr lang="pt-BR" sz="1400" dirty="0">
                <a:ea typeface="+mn-lt"/>
                <a:cs typeface="+mn-lt"/>
              </a:rPr>
              <a:t> </a:t>
            </a:r>
            <a:r>
              <a:rPr lang="pt-BR" sz="1400" dirty="0" err="1">
                <a:ea typeface="+mn-lt"/>
                <a:cs typeface="+mn-lt"/>
              </a:rPr>
              <a:t>differences</a:t>
            </a:r>
            <a:r>
              <a:rPr lang="pt-BR" sz="1400" dirty="0">
                <a:ea typeface="+mn-lt"/>
                <a:cs typeface="+mn-lt"/>
              </a:rPr>
              <a:t> in </a:t>
            </a:r>
            <a:r>
              <a:rPr lang="pt-BR" sz="1400" dirty="0" err="1">
                <a:ea typeface="+mn-lt"/>
                <a:cs typeface="+mn-lt"/>
              </a:rPr>
              <a:t>price</a:t>
            </a:r>
            <a:r>
              <a:rPr lang="pt-BR" sz="1400" dirty="0">
                <a:ea typeface="+mn-lt"/>
                <a:cs typeface="+mn-lt"/>
              </a:rPr>
              <a:t> </a:t>
            </a:r>
            <a:r>
              <a:rPr lang="pt-BR" sz="1400" dirty="0" err="1">
                <a:ea typeface="+mn-lt"/>
                <a:cs typeface="+mn-lt"/>
              </a:rPr>
              <a:t>between</a:t>
            </a:r>
            <a:r>
              <a:rPr lang="pt-BR" sz="1400" dirty="0">
                <a:ea typeface="+mn-lt"/>
                <a:cs typeface="+mn-lt"/>
              </a:rPr>
              <a:t> </a:t>
            </a:r>
            <a:r>
              <a:rPr lang="pt-BR" sz="1400" dirty="0" err="1">
                <a:ea typeface="+mn-lt"/>
                <a:cs typeface="+mn-lt"/>
              </a:rPr>
              <a:t>healthy</a:t>
            </a:r>
            <a:r>
              <a:rPr lang="pt-BR" sz="1400" dirty="0">
                <a:ea typeface="+mn-lt"/>
                <a:cs typeface="+mn-lt"/>
              </a:rPr>
              <a:t> </a:t>
            </a:r>
            <a:r>
              <a:rPr lang="pt-BR" sz="1400" dirty="0" err="1">
                <a:ea typeface="+mn-lt"/>
                <a:cs typeface="+mn-lt"/>
              </a:rPr>
              <a:t>and</a:t>
            </a:r>
            <a:r>
              <a:rPr lang="pt-BR" sz="1400" dirty="0">
                <a:ea typeface="+mn-lt"/>
                <a:cs typeface="+mn-lt"/>
              </a:rPr>
              <a:t> </a:t>
            </a:r>
            <a:r>
              <a:rPr lang="pt-BR" sz="1400" dirty="0" err="1">
                <a:ea typeface="+mn-lt"/>
                <a:cs typeface="+mn-lt"/>
              </a:rPr>
              <a:t>unhealthy</a:t>
            </a:r>
            <a:r>
              <a:rPr lang="pt-BR" sz="1400" dirty="0">
                <a:ea typeface="+mn-lt"/>
                <a:cs typeface="+mn-lt"/>
              </a:rPr>
              <a:t> </a:t>
            </a:r>
            <a:r>
              <a:rPr lang="pt-BR" sz="1400" dirty="0" err="1">
                <a:ea typeface="+mn-lt"/>
                <a:cs typeface="+mn-lt"/>
              </a:rPr>
              <a:t>foods</a:t>
            </a:r>
            <a:r>
              <a:rPr lang="pt-BR" sz="1400" dirty="0">
                <a:ea typeface="+mn-lt"/>
                <a:cs typeface="+mn-lt"/>
              </a:rPr>
              <a:t> </a:t>
            </a:r>
            <a:r>
              <a:rPr lang="pt-BR" sz="1400" dirty="0" err="1">
                <a:ea typeface="+mn-lt"/>
                <a:cs typeface="+mn-lt"/>
              </a:rPr>
              <a:t>would</a:t>
            </a:r>
            <a:r>
              <a:rPr lang="pt-BR" sz="1400" dirty="0">
                <a:ea typeface="+mn-lt"/>
                <a:cs typeface="+mn-lt"/>
              </a:rPr>
              <a:t> lead </a:t>
            </a:r>
            <a:r>
              <a:rPr lang="pt-BR" sz="1400" dirty="0" err="1">
                <a:ea typeface="+mn-lt"/>
                <a:cs typeface="+mn-lt"/>
              </a:rPr>
              <a:t>to</a:t>
            </a:r>
            <a:r>
              <a:rPr lang="pt-BR" sz="1400" dirty="0">
                <a:ea typeface="+mn-lt"/>
                <a:cs typeface="+mn-lt"/>
              </a:rPr>
              <a:t> </a:t>
            </a:r>
            <a:r>
              <a:rPr lang="pt-BR" sz="1400" dirty="0" err="1">
                <a:ea typeface="+mn-lt"/>
                <a:cs typeface="+mn-lt"/>
              </a:rPr>
              <a:t>differences</a:t>
            </a:r>
            <a:r>
              <a:rPr lang="pt-BR" sz="1400" dirty="0">
                <a:ea typeface="+mn-lt"/>
                <a:cs typeface="+mn-lt"/>
              </a:rPr>
              <a:t> in </a:t>
            </a:r>
            <a:r>
              <a:rPr lang="pt-BR" sz="1400" dirty="0" err="1">
                <a:ea typeface="+mn-lt"/>
                <a:cs typeface="+mn-lt"/>
              </a:rPr>
              <a:t>purchasing</a:t>
            </a:r>
            <a:r>
              <a:rPr lang="pt-BR" sz="1400" dirty="0">
                <a:ea typeface="+mn-lt"/>
                <a:cs typeface="+mn-lt"/>
              </a:rPr>
              <a:t> </a:t>
            </a:r>
            <a:r>
              <a:rPr lang="pt-BR" sz="1400" dirty="0" err="1">
                <a:ea typeface="+mn-lt"/>
                <a:cs typeface="+mn-lt"/>
              </a:rPr>
              <a:t>patterns</a:t>
            </a:r>
            <a:r>
              <a:rPr lang="pt-BR" sz="1400" dirty="0">
                <a:ea typeface="+mn-lt"/>
                <a:cs typeface="+mn-lt"/>
              </a:rPr>
              <a:t> </a:t>
            </a:r>
            <a:r>
              <a:rPr lang="pt-BR" sz="1400" dirty="0" err="1">
                <a:ea typeface="+mn-lt"/>
                <a:cs typeface="+mn-lt"/>
              </a:rPr>
              <a:t>and</a:t>
            </a:r>
            <a:r>
              <a:rPr lang="pt-BR" sz="1400" dirty="0">
                <a:ea typeface="+mn-lt"/>
                <a:cs typeface="+mn-lt"/>
              </a:rPr>
              <a:t> </a:t>
            </a:r>
            <a:r>
              <a:rPr lang="pt-BR" sz="1400" dirty="0" err="1">
                <a:ea typeface="+mn-lt"/>
                <a:cs typeface="+mn-lt"/>
              </a:rPr>
              <a:t>resulting</a:t>
            </a:r>
            <a:r>
              <a:rPr lang="pt-BR" sz="1400" dirty="0">
                <a:ea typeface="+mn-lt"/>
                <a:cs typeface="+mn-lt"/>
              </a:rPr>
              <a:t> diets </a:t>
            </a:r>
            <a:r>
              <a:rPr lang="pt-BR" sz="1400" dirty="0" err="1">
                <a:ea typeface="+mn-lt"/>
                <a:cs typeface="+mn-lt"/>
              </a:rPr>
              <a:t>and</a:t>
            </a:r>
            <a:r>
              <a:rPr lang="pt-BR" sz="1400" dirty="0">
                <a:ea typeface="+mn-lt"/>
                <a:cs typeface="+mn-lt"/>
              </a:rPr>
              <a:t> </a:t>
            </a:r>
            <a:r>
              <a:rPr lang="pt-BR" sz="1400" dirty="0" err="1">
                <a:ea typeface="+mn-lt"/>
                <a:cs typeface="+mn-lt"/>
              </a:rPr>
              <a:t>that</a:t>
            </a:r>
            <a:r>
              <a:rPr lang="pt-BR" sz="1400" dirty="0">
                <a:ea typeface="+mn-lt"/>
                <a:cs typeface="+mn-lt"/>
              </a:rPr>
              <a:t> </a:t>
            </a:r>
            <a:r>
              <a:rPr lang="pt-BR" sz="1400" dirty="0" err="1">
                <a:ea typeface="+mn-lt"/>
                <a:cs typeface="+mn-lt"/>
              </a:rPr>
              <a:t>those</a:t>
            </a:r>
            <a:r>
              <a:rPr lang="pt-BR" sz="1400" dirty="0">
                <a:ea typeface="+mn-lt"/>
                <a:cs typeface="+mn-lt"/>
              </a:rPr>
              <a:t> </a:t>
            </a:r>
            <a:r>
              <a:rPr lang="pt-BR" sz="1400" dirty="0" err="1">
                <a:ea typeface="+mn-lt"/>
                <a:cs typeface="+mn-lt"/>
              </a:rPr>
              <a:t>differences</a:t>
            </a:r>
            <a:r>
              <a:rPr lang="pt-BR" sz="1400" dirty="0">
                <a:ea typeface="+mn-lt"/>
                <a:cs typeface="+mn-lt"/>
              </a:rPr>
              <a:t> </a:t>
            </a:r>
            <a:r>
              <a:rPr lang="pt-BR" sz="1400" dirty="0" err="1">
                <a:ea typeface="+mn-lt"/>
                <a:cs typeface="+mn-lt"/>
              </a:rPr>
              <a:t>would</a:t>
            </a:r>
            <a:r>
              <a:rPr lang="pt-BR" sz="1400" dirty="0">
                <a:ea typeface="+mn-lt"/>
                <a:cs typeface="+mn-lt"/>
              </a:rPr>
              <a:t> </a:t>
            </a:r>
            <a:r>
              <a:rPr lang="pt-BR" sz="1400" dirty="0" err="1">
                <a:ea typeface="+mn-lt"/>
                <a:cs typeface="+mn-lt"/>
              </a:rPr>
              <a:t>be</a:t>
            </a:r>
            <a:r>
              <a:rPr lang="pt-BR" sz="1400" dirty="0">
                <a:ea typeface="+mn-lt"/>
                <a:cs typeface="+mn-lt"/>
              </a:rPr>
              <a:t> more </a:t>
            </a:r>
            <a:r>
              <a:rPr lang="pt-BR" sz="1400" dirty="0" err="1">
                <a:ea typeface="+mn-lt"/>
                <a:cs typeface="+mn-lt"/>
              </a:rPr>
              <a:t>prominent</a:t>
            </a:r>
            <a:r>
              <a:rPr lang="pt-BR" sz="1400" dirty="0">
                <a:ea typeface="+mn-lt"/>
                <a:cs typeface="+mn-lt"/>
              </a:rPr>
              <a:t> for </a:t>
            </a:r>
            <a:r>
              <a:rPr lang="pt-BR" sz="1400" dirty="0" err="1">
                <a:ea typeface="+mn-lt"/>
                <a:cs typeface="+mn-lt"/>
              </a:rPr>
              <a:t>individuals</a:t>
            </a:r>
            <a:r>
              <a:rPr lang="pt-BR" sz="1400" dirty="0">
                <a:ea typeface="+mn-lt"/>
                <a:cs typeface="+mn-lt"/>
              </a:rPr>
              <a:t> </a:t>
            </a:r>
            <a:r>
              <a:rPr lang="pt-BR" sz="1400" dirty="0" err="1">
                <a:ea typeface="+mn-lt"/>
                <a:cs typeface="+mn-lt"/>
              </a:rPr>
              <a:t>of</a:t>
            </a:r>
            <a:r>
              <a:rPr lang="pt-BR" sz="1400" dirty="0">
                <a:ea typeface="+mn-lt"/>
                <a:cs typeface="+mn-lt"/>
              </a:rPr>
              <a:t> </a:t>
            </a:r>
            <a:r>
              <a:rPr lang="pt-BR" sz="1400" dirty="0" err="1">
                <a:ea typeface="+mn-lt"/>
                <a:cs typeface="+mn-lt"/>
              </a:rPr>
              <a:t>lower</a:t>
            </a:r>
            <a:r>
              <a:rPr lang="pt-BR" sz="1400" dirty="0">
                <a:ea typeface="+mn-lt"/>
                <a:cs typeface="+mn-lt"/>
              </a:rPr>
              <a:t> SES. In a longitudinal </a:t>
            </a:r>
            <a:r>
              <a:rPr lang="pt-BR" sz="1400" dirty="0" err="1">
                <a:ea typeface="+mn-lt"/>
                <a:cs typeface="+mn-lt"/>
              </a:rPr>
              <a:t>study</a:t>
            </a:r>
            <a:r>
              <a:rPr lang="pt-BR" sz="1400" dirty="0">
                <a:ea typeface="+mn-lt"/>
                <a:cs typeface="+mn-lt"/>
              </a:rPr>
              <a:t>, </a:t>
            </a:r>
            <a:r>
              <a:rPr lang="pt-BR" sz="1400" dirty="0" err="1">
                <a:ea typeface="+mn-lt"/>
                <a:cs typeface="+mn-lt"/>
              </a:rPr>
              <a:t>they</a:t>
            </a:r>
            <a:r>
              <a:rPr lang="pt-BR" sz="1400" dirty="0">
                <a:ea typeface="+mn-lt"/>
                <a:cs typeface="+mn-lt"/>
              </a:rPr>
              <a:t> </a:t>
            </a:r>
            <a:r>
              <a:rPr lang="pt-BR" sz="1400" dirty="0" err="1">
                <a:ea typeface="+mn-lt"/>
                <a:cs typeface="+mn-lt"/>
              </a:rPr>
              <a:t>examined</a:t>
            </a:r>
            <a:r>
              <a:rPr lang="pt-BR" sz="1400" dirty="0">
                <a:ea typeface="+mn-lt"/>
                <a:cs typeface="+mn-lt"/>
              </a:rPr>
              <a:t> food </a:t>
            </a:r>
            <a:r>
              <a:rPr lang="pt-BR" sz="1400" dirty="0" err="1">
                <a:ea typeface="+mn-lt"/>
                <a:cs typeface="+mn-lt"/>
              </a:rPr>
              <a:t>affordability</a:t>
            </a:r>
            <a:r>
              <a:rPr lang="pt-BR" sz="1400" dirty="0">
                <a:ea typeface="+mn-lt"/>
                <a:cs typeface="+mn-lt"/>
              </a:rPr>
              <a:t> </a:t>
            </a:r>
            <a:r>
              <a:rPr lang="pt-BR" sz="1400" dirty="0" err="1">
                <a:ea typeface="+mn-lt"/>
                <a:cs typeface="+mn-lt"/>
              </a:rPr>
              <a:t>and</a:t>
            </a:r>
            <a:r>
              <a:rPr lang="pt-BR" sz="1400" dirty="0">
                <a:ea typeface="+mn-lt"/>
                <a:cs typeface="+mn-lt"/>
              </a:rPr>
              <a:t> </a:t>
            </a:r>
            <a:r>
              <a:rPr lang="pt-BR" sz="1400" dirty="0" err="1">
                <a:ea typeface="+mn-lt"/>
                <a:cs typeface="+mn-lt"/>
              </a:rPr>
              <a:t>neighborhood</a:t>
            </a:r>
            <a:r>
              <a:rPr lang="pt-BR" sz="1400" dirty="0">
                <a:ea typeface="+mn-lt"/>
                <a:cs typeface="+mn-lt"/>
              </a:rPr>
              <a:t> </a:t>
            </a:r>
            <a:r>
              <a:rPr lang="pt-BR" sz="1400" dirty="0" err="1">
                <a:ea typeface="+mn-lt"/>
                <a:cs typeface="+mn-lt"/>
              </a:rPr>
              <a:t>price</a:t>
            </a:r>
            <a:r>
              <a:rPr lang="pt-BR" sz="1400" dirty="0">
                <a:ea typeface="+mn-lt"/>
                <a:cs typeface="+mn-lt"/>
              </a:rPr>
              <a:t> </a:t>
            </a:r>
            <a:r>
              <a:rPr lang="pt-BR" sz="1400" dirty="0" err="1">
                <a:ea typeface="+mn-lt"/>
                <a:cs typeface="+mn-lt"/>
              </a:rPr>
              <a:t>of</a:t>
            </a:r>
            <a:r>
              <a:rPr lang="pt-BR" sz="1400" dirty="0">
                <a:ea typeface="+mn-lt"/>
                <a:cs typeface="+mn-lt"/>
              </a:rPr>
              <a:t> </a:t>
            </a:r>
            <a:r>
              <a:rPr lang="pt-BR" sz="1400" dirty="0" err="1">
                <a:ea typeface="+mn-lt"/>
                <a:cs typeface="+mn-lt"/>
              </a:rPr>
              <a:t>healthier</a:t>
            </a:r>
            <a:r>
              <a:rPr lang="pt-BR" sz="1400" dirty="0">
                <a:ea typeface="+mn-lt"/>
                <a:cs typeface="+mn-lt"/>
              </a:rPr>
              <a:t> food </a:t>
            </a:r>
            <a:r>
              <a:rPr lang="pt-BR" sz="1400" dirty="0" err="1">
                <a:ea typeface="+mn-lt"/>
                <a:cs typeface="+mn-lt"/>
              </a:rPr>
              <a:t>relative</a:t>
            </a:r>
            <a:r>
              <a:rPr lang="pt-BR" sz="1400" dirty="0">
                <a:ea typeface="+mn-lt"/>
                <a:cs typeface="+mn-lt"/>
              </a:rPr>
              <a:t> </a:t>
            </a:r>
            <a:r>
              <a:rPr lang="pt-BR" sz="1400" dirty="0" err="1">
                <a:ea typeface="+mn-lt"/>
                <a:cs typeface="+mn-lt"/>
              </a:rPr>
              <a:t>to</a:t>
            </a:r>
            <a:r>
              <a:rPr lang="pt-BR" sz="1400" dirty="0">
                <a:ea typeface="+mn-lt"/>
                <a:cs typeface="+mn-lt"/>
              </a:rPr>
              <a:t> </a:t>
            </a:r>
            <a:r>
              <a:rPr lang="pt-BR" sz="1400" dirty="0" err="1">
                <a:ea typeface="+mn-lt"/>
                <a:cs typeface="+mn-lt"/>
              </a:rPr>
              <a:t>unhealthy</a:t>
            </a:r>
            <a:r>
              <a:rPr lang="pt-BR" sz="1400" dirty="0">
                <a:ea typeface="+mn-lt"/>
                <a:cs typeface="+mn-lt"/>
              </a:rPr>
              <a:t> food </a:t>
            </a:r>
            <a:r>
              <a:rPr lang="pt-BR" sz="1400" dirty="0" err="1">
                <a:ea typeface="+mn-lt"/>
                <a:cs typeface="+mn-lt"/>
              </a:rPr>
              <a:t>and</a:t>
            </a:r>
            <a:r>
              <a:rPr lang="pt-BR" sz="1400" dirty="0">
                <a:ea typeface="+mn-lt"/>
                <a:cs typeface="+mn-lt"/>
              </a:rPr>
              <a:t> its </a:t>
            </a:r>
            <a:r>
              <a:rPr lang="pt-BR" sz="1400" dirty="0" err="1">
                <a:ea typeface="+mn-lt"/>
                <a:cs typeface="+mn-lt"/>
              </a:rPr>
              <a:t>association</a:t>
            </a:r>
            <a:r>
              <a:rPr lang="pt-BR" sz="1400" dirty="0">
                <a:ea typeface="+mn-lt"/>
                <a:cs typeface="+mn-lt"/>
              </a:rPr>
              <a:t> </a:t>
            </a:r>
            <a:r>
              <a:rPr lang="pt-BR" sz="1400" dirty="0" err="1">
                <a:ea typeface="+mn-lt"/>
                <a:cs typeface="+mn-lt"/>
              </a:rPr>
              <a:t>with</a:t>
            </a:r>
            <a:r>
              <a:rPr lang="pt-BR" sz="1400" dirty="0">
                <a:ea typeface="+mn-lt"/>
                <a:cs typeface="+mn-lt"/>
              </a:rPr>
              <a:t> T2DM </a:t>
            </a:r>
            <a:r>
              <a:rPr lang="pt-BR" sz="1400" dirty="0" err="1">
                <a:ea typeface="+mn-lt"/>
                <a:cs typeface="+mn-lt"/>
              </a:rPr>
              <a:t>and</a:t>
            </a:r>
            <a:r>
              <a:rPr lang="pt-BR" sz="1400" dirty="0">
                <a:ea typeface="+mn-lt"/>
                <a:cs typeface="+mn-lt"/>
              </a:rPr>
              <a:t> </a:t>
            </a:r>
            <a:r>
              <a:rPr lang="pt-BR" sz="1400" dirty="0" err="1">
                <a:ea typeface="+mn-lt"/>
                <a:cs typeface="+mn-lt"/>
              </a:rPr>
              <a:t>insulin</a:t>
            </a:r>
            <a:r>
              <a:rPr lang="pt-BR" sz="1400" dirty="0">
                <a:ea typeface="+mn-lt"/>
                <a:cs typeface="+mn-lt"/>
              </a:rPr>
              <a:t> </a:t>
            </a:r>
            <a:r>
              <a:rPr lang="pt-BR" sz="1400" dirty="0" err="1">
                <a:ea typeface="+mn-lt"/>
                <a:cs typeface="+mn-lt"/>
              </a:rPr>
              <a:t>resistance</a:t>
            </a:r>
            <a:r>
              <a:rPr lang="pt-BR" sz="1400" dirty="0">
                <a:ea typeface="+mn-lt"/>
                <a:cs typeface="+mn-lt"/>
              </a:rPr>
              <a:t>. </a:t>
            </a:r>
            <a:r>
              <a:rPr lang="pt-BR" sz="1400" dirty="0" err="1">
                <a:ea typeface="+mn-lt"/>
                <a:cs typeface="+mn-lt"/>
              </a:rPr>
              <a:t>Higher</a:t>
            </a:r>
            <a:r>
              <a:rPr lang="pt-BR" sz="1400" dirty="0">
                <a:ea typeface="+mn-lt"/>
                <a:cs typeface="+mn-lt"/>
              </a:rPr>
              <a:t> </a:t>
            </a:r>
            <a:r>
              <a:rPr lang="pt-BR" sz="1400" dirty="0" err="1">
                <a:ea typeface="+mn-lt"/>
                <a:cs typeface="+mn-lt"/>
              </a:rPr>
              <a:t>prices</a:t>
            </a:r>
            <a:r>
              <a:rPr lang="pt-BR" sz="1400" dirty="0">
                <a:ea typeface="+mn-lt"/>
                <a:cs typeface="+mn-lt"/>
              </a:rPr>
              <a:t> </a:t>
            </a:r>
            <a:r>
              <a:rPr lang="pt-BR" sz="1400" dirty="0" err="1">
                <a:ea typeface="+mn-lt"/>
                <a:cs typeface="+mn-lt"/>
              </a:rPr>
              <a:t>of</a:t>
            </a:r>
            <a:r>
              <a:rPr lang="pt-BR" sz="1400" dirty="0">
                <a:ea typeface="+mn-lt"/>
                <a:cs typeface="+mn-lt"/>
              </a:rPr>
              <a:t> </a:t>
            </a:r>
            <a:r>
              <a:rPr lang="pt-BR" sz="1400" dirty="0" err="1">
                <a:ea typeface="+mn-lt"/>
                <a:cs typeface="+mn-lt"/>
              </a:rPr>
              <a:t>healthy</a:t>
            </a:r>
            <a:r>
              <a:rPr lang="pt-BR" sz="1400" dirty="0">
                <a:ea typeface="+mn-lt"/>
                <a:cs typeface="+mn-lt"/>
              </a:rPr>
              <a:t> </a:t>
            </a:r>
            <a:r>
              <a:rPr lang="pt-BR" sz="1400" dirty="0" err="1">
                <a:ea typeface="+mn-lt"/>
                <a:cs typeface="+mn-lt"/>
              </a:rPr>
              <a:t>foods</a:t>
            </a:r>
            <a:r>
              <a:rPr lang="pt-BR" sz="1400" dirty="0">
                <a:ea typeface="+mn-lt"/>
                <a:cs typeface="+mn-lt"/>
              </a:rPr>
              <a:t> </a:t>
            </a:r>
            <a:r>
              <a:rPr lang="pt-BR" sz="1400" dirty="0" err="1">
                <a:ea typeface="+mn-lt"/>
                <a:cs typeface="+mn-lt"/>
              </a:rPr>
              <a:t>relative</a:t>
            </a:r>
            <a:r>
              <a:rPr lang="pt-BR" sz="1400" dirty="0">
                <a:ea typeface="+mn-lt"/>
                <a:cs typeface="+mn-lt"/>
              </a:rPr>
              <a:t> </a:t>
            </a:r>
            <a:r>
              <a:rPr lang="pt-BR" sz="1400" dirty="0" err="1">
                <a:ea typeface="+mn-lt"/>
                <a:cs typeface="+mn-lt"/>
              </a:rPr>
              <a:t>to</a:t>
            </a:r>
            <a:r>
              <a:rPr lang="pt-BR" sz="1400" dirty="0">
                <a:ea typeface="+mn-lt"/>
                <a:cs typeface="+mn-lt"/>
              </a:rPr>
              <a:t> </a:t>
            </a:r>
            <a:r>
              <a:rPr lang="pt-BR" sz="1400" dirty="0" err="1">
                <a:ea typeface="+mn-lt"/>
                <a:cs typeface="+mn-lt"/>
              </a:rPr>
              <a:t>unhealthy</a:t>
            </a:r>
            <a:r>
              <a:rPr lang="pt-BR" sz="1400" dirty="0">
                <a:ea typeface="+mn-lt"/>
                <a:cs typeface="+mn-lt"/>
              </a:rPr>
              <a:t> </a:t>
            </a:r>
            <a:r>
              <a:rPr lang="pt-BR" sz="1400" dirty="0" err="1">
                <a:ea typeface="+mn-lt"/>
                <a:cs typeface="+mn-lt"/>
              </a:rPr>
              <a:t>foods</a:t>
            </a:r>
            <a:r>
              <a:rPr lang="pt-BR" sz="1400" dirty="0">
                <a:ea typeface="+mn-lt"/>
                <a:cs typeface="+mn-lt"/>
              </a:rPr>
              <a:t> </a:t>
            </a:r>
            <a:r>
              <a:rPr lang="pt-BR" sz="1400" dirty="0" err="1">
                <a:ea typeface="+mn-lt"/>
                <a:cs typeface="+mn-lt"/>
              </a:rPr>
              <a:t>were</a:t>
            </a:r>
            <a:r>
              <a:rPr lang="pt-BR" sz="1400" dirty="0">
                <a:ea typeface="+mn-lt"/>
                <a:cs typeface="+mn-lt"/>
              </a:rPr>
              <a:t> </a:t>
            </a:r>
            <a:r>
              <a:rPr lang="pt-BR" sz="1400" dirty="0" err="1">
                <a:ea typeface="+mn-lt"/>
                <a:cs typeface="+mn-lt"/>
              </a:rPr>
              <a:t>found</a:t>
            </a:r>
            <a:r>
              <a:rPr lang="pt-BR" sz="1400" dirty="0">
                <a:ea typeface="+mn-lt"/>
                <a:cs typeface="+mn-lt"/>
              </a:rPr>
              <a:t> </a:t>
            </a:r>
            <a:r>
              <a:rPr lang="pt-BR" sz="1400" dirty="0" err="1">
                <a:ea typeface="+mn-lt"/>
                <a:cs typeface="+mn-lt"/>
              </a:rPr>
              <a:t>to</a:t>
            </a:r>
            <a:r>
              <a:rPr lang="pt-BR" sz="1400" dirty="0">
                <a:ea typeface="+mn-lt"/>
                <a:cs typeface="+mn-lt"/>
              </a:rPr>
              <a:t> </a:t>
            </a:r>
            <a:r>
              <a:rPr lang="pt-BR" sz="1400" dirty="0" err="1">
                <a:ea typeface="+mn-lt"/>
                <a:cs typeface="+mn-lt"/>
              </a:rPr>
              <a:t>be</a:t>
            </a:r>
            <a:r>
              <a:rPr lang="pt-BR" sz="1400" dirty="0">
                <a:ea typeface="+mn-lt"/>
                <a:cs typeface="+mn-lt"/>
              </a:rPr>
              <a:t> </a:t>
            </a:r>
            <a:r>
              <a:rPr lang="pt-BR" sz="1400" dirty="0" err="1">
                <a:ea typeface="+mn-lt"/>
                <a:cs typeface="+mn-lt"/>
              </a:rPr>
              <a:t>associated</a:t>
            </a:r>
            <a:r>
              <a:rPr lang="pt-BR" sz="1400" dirty="0">
                <a:ea typeface="+mn-lt"/>
                <a:cs typeface="+mn-lt"/>
              </a:rPr>
              <a:t> </a:t>
            </a:r>
            <a:r>
              <a:rPr lang="pt-BR" sz="1400" dirty="0" err="1">
                <a:ea typeface="+mn-lt"/>
                <a:cs typeface="+mn-lt"/>
              </a:rPr>
              <a:t>with</a:t>
            </a:r>
            <a:r>
              <a:rPr lang="pt-BR" sz="1400" dirty="0">
                <a:ea typeface="+mn-lt"/>
                <a:cs typeface="+mn-lt"/>
              </a:rPr>
              <a:t> </a:t>
            </a:r>
            <a:r>
              <a:rPr lang="pt-BR" sz="1400" dirty="0" err="1">
                <a:ea typeface="+mn-lt"/>
                <a:cs typeface="+mn-lt"/>
              </a:rPr>
              <a:t>lower</a:t>
            </a:r>
            <a:r>
              <a:rPr lang="pt-BR" sz="1400" dirty="0">
                <a:ea typeface="+mn-lt"/>
                <a:cs typeface="+mn-lt"/>
              </a:rPr>
              <a:t> </a:t>
            </a:r>
            <a:r>
              <a:rPr lang="pt-BR" sz="1400" dirty="0" err="1">
                <a:ea typeface="+mn-lt"/>
                <a:cs typeface="+mn-lt"/>
              </a:rPr>
              <a:t>odds</a:t>
            </a:r>
            <a:r>
              <a:rPr lang="pt-BR" sz="1400" dirty="0">
                <a:ea typeface="+mn-lt"/>
                <a:cs typeface="+mn-lt"/>
              </a:rPr>
              <a:t> </a:t>
            </a:r>
            <a:r>
              <a:rPr lang="pt-BR" sz="1400" dirty="0" err="1">
                <a:ea typeface="+mn-lt"/>
                <a:cs typeface="+mn-lt"/>
              </a:rPr>
              <a:t>of</a:t>
            </a:r>
            <a:r>
              <a:rPr lang="pt-BR" sz="1400" dirty="0">
                <a:ea typeface="+mn-lt"/>
                <a:cs typeface="+mn-lt"/>
              </a:rPr>
              <a:t> </a:t>
            </a:r>
            <a:r>
              <a:rPr lang="pt-BR" sz="1400" dirty="0" err="1">
                <a:ea typeface="+mn-lt"/>
                <a:cs typeface="+mn-lt"/>
              </a:rPr>
              <a:t>having</a:t>
            </a:r>
            <a:r>
              <a:rPr lang="pt-BR" sz="1400" dirty="0">
                <a:ea typeface="+mn-lt"/>
                <a:cs typeface="+mn-lt"/>
              </a:rPr>
              <a:t> a high-</a:t>
            </a:r>
            <a:r>
              <a:rPr lang="pt-BR" sz="1400" dirty="0" err="1">
                <a:ea typeface="+mn-lt"/>
                <a:cs typeface="+mn-lt"/>
              </a:rPr>
              <a:t>quality</a:t>
            </a:r>
            <a:r>
              <a:rPr lang="pt-BR" sz="1400" dirty="0">
                <a:ea typeface="+mn-lt"/>
                <a:cs typeface="+mn-lt"/>
              </a:rPr>
              <a:t> diet; </a:t>
            </a:r>
            <a:r>
              <a:rPr lang="pt-BR" sz="1400" dirty="0" err="1">
                <a:ea typeface="+mn-lt"/>
                <a:cs typeface="+mn-lt"/>
              </a:rPr>
              <a:t>however</a:t>
            </a:r>
            <a:r>
              <a:rPr lang="pt-BR" sz="1400" dirty="0">
                <a:ea typeface="+mn-lt"/>
                <a:cs typeface="+mn-lt"/>
              </a:rPr>
              <a:t>, </a:t>
            </a:r>
            <a:r>
              <a:rPr lang="pt-BR" sz="1400" dirty="0" err="1">
                <a:ea typeface="+mn-lt"/>
                <a:cs typeface="+mn-lt"/>
              </a:rPr>
              <a:t>there</a:t>
            </a:r>
            <a:r>
              <a:rPr lang="pt-BR" sz="1400" dirty="0">
                <a:ea typeface="+mn-lt"/>
                <a:cs typeface="+mn-lt"/>
              </a:rPr>
              <a:t> </a:t>
            </a:r>
            <a:r>
              <a:rPr lang="pt-BR" sz="1400" dirty="0" err="1">
                <a:ea typeface="+mn-lt"/>
                <a:cs typeface="+mn-lt"/>
              </a:rPr>
              <a:t>was</a:t>
            </a:r>
            <a:r>
              <a:rPr lang="pt-BR" sz="1400" dirty="0">
                <a:ea typeface="+mn-lt"/>
                <a:cs typeface="+mn-lt"/>
              </a:rPr>
              <a:t> no </a:t>
            </a:r>
            <a:r>
              <a:rPr lang="pt-BR" sz="1400" dirty="0" err="1">
                <a:ea typeface="+mn-lt"/>
                <a:cs typeface="+mn-lt"/>
              </a:rPr>
              <a:t>association</a:t>
            </a:r>
            <a:r>
              <a:rPr lang="pt-BR" sz="1400" dirty="0">
                <a:ea typeface="+mn-lt"/>
                <a:cs typeface="+mn-lt"/>
              </a:rPr>
              <a:t> </a:t>
            </a:r>
            <a:r>
              <a:rPr lang="pt-BR" sz="1400" dirty="0" err="1">
                <a:ea typeface="+mn-lt"/>
                <a:cs typeface="+mn-lt"/>
              </a:rPr>
              <a:t>with</a:t>
            </a:r>
            <a:r>
              <a:rPr lang="pt-BR" sz="1400" dirty="0">
                <a:ea typeface="+mn-lt"/>
                <a:cs typeface="+mn-lt"/>
              </a:rPr>
              <a:t> diabetes </a:t>
            </a:r>
            <a:r>
              <a:rPr lang="pt-BR" sz="1400" dirty="0" err="1">
                <a:ea typeface="+mn-lt"/>
                <a:cs typeface="+mn-lt"/>
              </a:rPr>
              <a:t>incidence</a:t>
            </a:r>
            <a:r>
              <a:rPr lang="pt-BR" sz="1400" dirty="0">
                <a:ea typeface="+mn-lt"/>
                <a:cs typeface="+mn-lt"/>
              </a:rPr>
              <a:t> </a:t>
            </a:r>
            <a:r>
              <a:rPr lang="pt-BR" sz="1400" dirty="0" err="1">
                <a:ea typeface="+mn-lt"/>
                <a:cs typeface="+mn-lt"/>
              </a:rPr>
              <a:t>or</a:t>
            </a:r>
            <a:r>
              <a:rPr lang="pt-BR" sz="1400" dirty="0">
                <a:ea typeface="+mn-lt"/>
                <a:cs typeface="+mn-lt"/>
              </a:rPr>
              <a:t> </a:t>
            </a:r>
            <a:r>
              <a:rPr lang="pt-BR" sz="1400" dirty="0" err="1">
                <a:ea typeface="+mn-lt"/>
                <a:cs typeface="+mn-lt"/>
              </a:rPr>
              <a:t>prevalence</a:t>
            </a:r>
            <a:r>
              <a:rPr lang="pt-BR" sz="1400" dirty="0">
                <a:ea typeface="+mn-lt"/>
                <a:cs typeface="+mn-lt"/>
              </a:rPr>
              <a:t>. More </a:t>
            </a:r>
            <a:r>
              <a:rPr lang="pt-BR" sz="1400" dirty="0" err="1">
                <a:ea typeface="+mn-lt"/>
                <a:cs typeface="+mn-lt"/>
              </a:rPr>
              <a:t>studies</a:t>
            </a:r>
            <a:r>
              <a:rPr lang="pt-BR" sz="1400" dirty="0">
                <a:ea typeface="+mn-lt"/>
                <a:cs typeface="+mn-lt"/>
              </a:rPr>
              <a:t> are </a:t>
            </a:r>
            <a:r>
              <a:rPr lang="pt-BR" sz="1400" dirty="0" err="1">
                <a:ea typeface="+mn-lt"/>
                <a:cs typeface="+mn-lt"/>
              </a:rPr>
              <a:t>needed</a:t>
            </a:r>
            <a:r>
              <a:rPr lang="pt-BR" sz="1400" dirty="0">
                <a:ea typeface="+mn-lt"/>
                <a:cs typeface="+mn-lt"/>
              </a:rPr>
              <a:t> in </a:t>
            </a:r>
            <a:r>
              <a:rPr lang="pt-BR" sz="1400" dirty="0" err="1">
                <a:ea typeface="+mn-lt"/>
                <a:cs typeface="+mn-lt"/>
              </a:rPr>
              <a:t>this</a:t>
            </a:r>
            <a:r>
              <a:rPr lang="pt-BR" sz="1400" dirty="0">
                <a:ea typeface="+mn-lt"/>
                <a:cs typeface="+mn-lt"/>
              </a:rPr>
              <a:t> </a:t>
            </a:r>
            <a:r>
              <a:rPr lang="pt-BR" sz="1400" dirty="0" err="1">
                <a:ea typeface="+mn-lt"/>
                <a:cs typeface="+mn-lt"/>
              </a:rPr>
              <a:t>area</a:t>
            </a:r>
            <a:r>
              <a:rPr lang="pt-BR" sz="1400" dirty="0">
                <a:ea typeface="+mn-lt"/>
                <a:cs typeface="+mn-lt"/>
              </a:rPr>
              <a:t>.</a:t>
            </a:r>
          </a:p>
          <a:p>
            <a:r>
              <a:rPr lang="pt-BR" sz="1400" dirty="0">
                <a:ea typeface="+mn-lt"/>
                <a:cs typeface="+mn-lt"/>
              </a:rPr>
              <a:t>Food </a:t>
            </a:r>
            <a:r>
              <a:rPr lang="pt-BR" sz="1400" dirty="0" err="1">
                <a:ea typeface="+mn-lt"/>
                <a:cs typeface="+mn-lt"/>
              </a:rPr>
              <a:t>insecurity</a:t>
            </a:r>
            <a:r>
              <a:rPr lang="pt-BR" sz="1400" dirty="0">
                <a:ea typeface="+mn-lt"/>
                <a:cs typeface="+mn-lt"/>
              </a:rPr>
              <a:t> </a:t>
            </a:r>
            <a:r>
              <a:rPr lang="pt-BR" sz="1400" dirty="0" err="1">
                <a:ea typeface="+mn-lt"/>
                <a:cs typeface="+mn-lt"/>
              </a:rPr>
              <a:t>is</a:t>
            </a:r>
            <a:r>
              <a:rPr lang="pt-BR" sz="1400" dirty="0">
                <a:ea typeface="+mn-lt"/>
                <a:cs typeface="+mn-lt"/>
              </a:rPr>
              <a:t> </a:t>
            </a:r>
            <a:r>
              <a:rPr lang="pt-BR" sz="1400" dirty="0" err="1">
                <a:ea typeface="+mn-lt"/>
                <a:cs typeface="+mn-lt"/>
              </a:rPr>
              <a:t>defined</a:t>
            </a:r>
            <a:r>
              <a:rPr lang="pt-BR" sz="1400" dirty="0">
                <a:ea typeface="+mn-lt"/>
                <a:cs typeface="+mn-lt"/>
              </a:rPr>
              <a:t> as </a:t>
            </a:r>
            <a:r>
              <a:rPr lang="pt-BR" sz="1400" dirty="0" err="1">
                <a:ea typeface="+mn-lt"/>
                <a:cs typeface="+mn-lt"/>
              </a:rPr>
              <a:t>not</a:t>
            </a:r>
            <a:r>
              <a:rPr lang="pt-BR" sz="1400" dirty="0">
                <a:ea typeface="+mn-lt"/>
                <a:cs typeface="+mn-lt"/>
              </a:rPr>
              <a:t> </a:t>
            </a:r>
            <a:r>
              <a:rPr lang="pt-BR" sz="1400" dirty="0" err="1">
                <a:ea typeface="+mn-lt"/>
                <a:cs typeface="+mn-lt"/>
              </a:rPr>
              <a:t>having</a:t>
            </a:r>
            <a:r>
              <a:rPr lang="pt-BR" sz="1400" dirty="0">
                <a:ea typeface="+mn-lt"/>
                <a:cs typeface="+mn-lt"/>
              </a:rPr>
              <a:t> </a:t>
            </a:r>
            <a:r>
              <a:rPr lang="pt-BR" sz="1400" dirty="0" err="1">
                <a:ea typeface="+mn-lt"/>
                <a:cs typeface="+mn-lt"/>
              </a:rPr>
              <a:t>adequate</a:t>
            </a:r>
            <a:r>
              <a:rPr lang="pt-BR" sz="1400" dirty="0">
                <a:ea typeface="+mn-lt"/>
                <a:cs typeface="+mn-lt"/>
              </a:rPr>
              <a:t> </a:t>
            </a:r>
            <a:r>
              <a:rPr lang="pt-BR" sz="1400" dirty="0" err="1">
                <a:ea typeface="+mn-lt"/>
                <a:cs typeface="+mn-lt"/>
              </a:rPr>
              <a:t>quantity</a:t>
            </a:r>
            <a:r>
              <a:rPr lang="pt-BR" sz="1400" dirty="0">
                <a:ea typeface="+mn-lt"/>
                <a:cs typeface="+mn-lt"/>
              </a:rPr>
              <a:t> </a:t>
            </a:r>
            <a:r>
              <a:rPr lang="pt-BR" sz="1400" dirty="0" err="1">
                <a:ea typeface="+mn-lt"/>
                <a:cs typeface="+mn-lt"/>
              </a:rPr>
              <a:t>and</a:t>
            </a:r>
            <a:r>
              <a:rPr lang="pt-BR" sz="1400" dirty="0">
                <a:ea typeface="+mn-lt"/>
                <a:cs typeface="+mn-lt"/>
              </a:rPr>
              <a:t> </a:t>
            </a:r>
            <a:r>
              <a:rPr lang="pt-BR" sz="1400" dirty="0" err="1">
                <a:ea typeface="+mn-lt"/>
                <a:cs typeface="+mn-lt"/>
              </a:rPr>
              <a:t>quality</a:t>
            </a:r>
            <a:r>
              <a:rPr lang="pt-BR" sz="1400" dirty="0">
                <a:ea typeface="+mn-lt"/>
                <a:cs typeface="+mn-lt"/>
              </a:rPr>
              <a:t> </a:t>
            </a:r>
            <a:r>
              <a:rPr lang="pt-BR" sz="1400" dirty="0" err="1">
                <a:ea typeface="+mn-lt"/>
                <a:cs typeface="+mn-lt"/>
              </a:rPr>
              <a:t>of</a:t>
            </a:r>
            <a:r>
              <a:rPr lang="pt-BR" sz="1400" dirty="0">
                <a:ea typeface="+mn-lt"/>
                <a:cs typeface="+mn-lt"/>
              </a:rPr>
              <a:t> food </a:t>
            </a:r>
            <a:r>
              <a:rPr lang="pt-BR" sz="1400" dirty="0" err="1">
                <a:ea typeface="+mn-lt"/>
                <a:cs typeface="+mn-lt"/>
              </a:rPr>
              <a:t>at</a:t>
            </a:r>
            <a:r>
              <a:rPr lang="pt-BR" sz="1400" dirty="0">
                <a:ea typeface="+mn-lt"/>
                <a:cs typeface="+mn-lt"/>
              </a:rPr>
              <a:t> </a:t>
            </a:r>
            <a:r>
              <a:rPr lang="pt-BR" sz="1400" dirty="0" err="1">
                <a:ea typeface="+mn-lt"/>
                <a:cs typeface="+mn-lt"/>
              </a:rPr>
              <a:t>all</a:t>
            </a:r>
            <a:r>
              <a:rPr lang="pt-BR" sz="1400" dirty="0">
                <a:ea typeface="+mn-lt"/>
                <a:cs typeface="+mn-lt"/>
              </a:rPr>
              <a:t> times for </a:t>
            </a:r>
            <a:r>
              <a:rPr lang="pt-BR" sz="1400" dirty="0" err="1">
                <a:ea typeface="+mn-lt"/>
                <a:cs typeface="+mn-lt"/>
              </a:rPr>
              <a:t>all</a:t>
            </a:r>
            <a:r>
              <a:rPr lang="pt-BR" sz="1400" dirty="0">
                <a:ea typeface="+mn-lt"/>
                <a:cs typeface="+mn-lt"/>
              </a:rPr>
              <a:t> </a:t>
            </a:r>
            <a:r>
              <a:rPr lang="pt-BR" sz="1400" dirty="0" err="1">
                <a:ea typeface="+mn-lt"/>
                <a:cs typeface="+mn-lt"/>
              </a:rPr>
              <a:t>household</a:t>
            </a:r>
            <a:r>
              <a:rPr lang="pt-BR" sz="1400" dirty="0">
                <a:ea typeface="+mn-lt"/>
                <a:cs typeface="+mn-lt"/>
              </a:rPr>
              <a:t> </a:t>
            </a:r>
            <a:r>
              <a:rPr lang="pt-BR" sz="1400" dirty="0" err="1">
                <a:ea typeface="+mn-lt"/>
                <a:cs typeface="+mn-lt"/>
              </a:rPr>
              <a:t>members</a:t>
            </a:r>
            <a:r>
              <a:rPr lang="pt-BR" sz="1400" dirty="0">
                <a:ea typeface="+mn-lt"/>
                <a:cs typeface="+mn-lt"/>
              </a:rPr>
              <a:t> </a:t>
            </a:r>
            <a:r>
              <a:rPr lang="pt-BR" sz="1400" dirty="0" err="1">
                <a:ea typeface="+mn-lt"/>
                <a:cs typeface="+mn-lt"/>
              </a:rPr>
              <a:t>to</a:t>
            </a:r>
            <a:r>
              <a:rPr lang="pt-BR" sz="1400" dirty="0">
                <a:ea typeface="+mn-lt"/>
                <a:cs typeface="+mn-lt"/>
              </a:rPr>
              <a:t> </a:t>
            </a:r>
            <a:r>
              <a:rPr lang="pt-BR" sz="1400" dirty="0" err="1">
                <a:ea typeface="+mn-lt"/>
                <a:cs typeface="+mn-lt"/>
              </a:rPr>
              <a:t>have</a:t>
            </a:r>
            <a:r>
              <a:rPr lang="pt-BR" sz="1400" dirty="0">
                <a:ea typeface="+mn-lt"/>
                <a:cs typeface="+mn-lt"/>
              </a:rPr>
              <a:t> </a:t>
            </a:r>
            <a:r>
              <a:rPr lang="pt-BR" sz="1400" dirty="0" err="1">
                <a:ea typeface="+mn-lt"/>
                <a:cs typeface="+mn-lt"/>
              </a:rPr>
              <a:t>an</a:t>
            </a:r>
            <a:r>
              <a:rPr lang="pt-BR" sz="1400" dirty="0">
                <a:ea typeface="+mn-lt"/>
                <a:cs typeface="+mn-lt"/>
              </a:rPr>
              <a:t> </a:t>
            </a:r>
            <a:r>
              <a:rPr lang="pt-BR" sz="1400" dirty="0" err="1">
                <a:ea typeface="+mn-lt"/>
                <a:cs typeface="+mn-lt"/>
              </a:rPr>
              <a:t>active</a:t>
            </a:r>
            <a:r>
              <a:rPr lang="pt-BR" sz="1400" dirty="0">
                <a:ea typeface="+mn-lt"/>
                <a:cs typeface="+mn-lt"/>
              </a:rPr>
              <a:t>, </a:t>
            </a:r>
            <a:r>
              <a:rPr lang="pt-BR" sz="1400" dirty="0" err="1">
                <a:ea typeface="+mn-lt"/>
                <a:cs typeface="+mn-lt"/>
              </a:rPr>
              <a:t>healthy</a:t>
            </a:r>
            <a:r>
              <a:rPr lang="pt-BR" sz="1400" dirty="0">
                <a:ea typeface="+mn-lt"/>
                <a:cs typeface="+mn-lt"/>
              </a:rPr>
              <a:t> </a:t>
            </a:r>
            <a:r>
              <a:rPr lang="pt-BR" sz="1400" dirty="0" err="1">
                <a:ea typeface="+mn-lt"/>
                <a:cs typeface="+mn-lt"/>
              </a:rPr>
              <a:t>life</a:t>
            </a:r>
            <a:r>
              <a:rPr lang="pt-BR" sz="1400" dirty="0">
                <a:ea typeface="+mn-lt"/>
                <a:cs typeface="+mn-lt"/>
              </a:rPr>
              <a:t>.</a:t>
            </a:r>
            <a:r>
              <a:rPr lang="pt-BR" sz="1400" b="1" dirty="0">
                <a:ea typeface="+mn-lt"/>
                <a:cs typeface="+mn-lt"/>
              </a:rPr>
              <a:t> </a:t>
            </a:r>
            <a:r>
              <a:rPr lang="pt-BR" sz="1400" b="1" dirty="0" err="1">
                <a:ea typeface="+mn-lt"/>
                <a:cs typeface="+mn-lt"/>
              </a:rPr>
              <a:t>Approximately</a:t>
            </a:r>
            <a:r>
              <a:rPr lang="pt-BR" sz="1400" b="1" dirty="0">
                <a:ea typeface="+mn-lt"/>
                <a:cs typeface="+mn-lt"/>
              </a:rPr>
              <a:t> 20% </a:t>
            </a:r>
            <a:r>
              <a:rPr lang="pt-BR" sz="1400" b="1" dirty="0" err="1">
                <a:ea typeface="+mn-lt"/>
                <a:cs typeface="+mn-lt"/>
              </a:rPr>
              <a:t>of</a:t>
            </a:r>
            <a:r>
              <a:rPr lang="pt-BR" sz="1400" b="1" dirty="0">
                <a:ea typeface="+mn-lt"/>
                <a:cs typeface="+mn-lt"/>
              </a:rPr>
              <a:t> diabetes </a:t>
            </a:r>
            <a:r>
              <a:rPr lang="pt-BR" sz="1400" b="1" dirty="0" err="1">
                <a:ea typeface="+mn-lt"/>
                <a:cs typeface="+mn-lt"/>
              </a:rPr>
              <a:t>patients</a:t>
            </a:r>
            <a:r>
              <a:rPr lang="pt-BR" sz="1400" b="1" dirty="0">
                <a:ea typeface="+mn-lt"/>
                <a:cs typeface="+mn-lt"/>
              </a:rPr>
              <a:t> </a:t>
            </a:r>
            <a:r>
              <a:rPr lang="pt-BR" sz="1400" b="1" dirty="0" err="1">
                <a:ea typeface="+mn-lt"/>
                <a:cs typeface="+mn-lt"/>
              </a:rPr>
              <a:t>report</a:t>
            </a:r>
            <a:r>
              <a:rPr lang="pt-BR" sz="1400" b="1" dirty="0">
                <a:ea typeface="+mn-lt"/>
                <a:cs typeface="+mn-lt"/>
              </a:rPr>
              <a:t> </a:t>
            </a:r>
            <a:r>
              <a:rPr lang="pt-BR" sz="1400" b="1" dirty="0" err="1">
                <a:ea typeface="+mn-lt"/>
                <a:cs typeface="+mn-lt"/>
              </a:rPr>
              <a:t>household</a:t>
            </a:r>
            <a:r>
              <a:rPr lang="pt-BR" sz="1400" b="1" dirty="0">
                <a:ea typeface="+mn-lt"/>
                <a:cs typeface="+mn-lt"/>
              </a:rPr>
              <a:t> food </a:t>
            </a:r>
            <a:r>
              <a:rPr lang="pt-BR" sz="1400" b="1" dirty="0" err="1">
                <a:ea typeface="+mn-lt"/>
                <a:cs typeface="+mn-lt"/>
              </a:rPr>
              <a:t>insecurity</a:t>
            </a:r>
            <a:r>
              <a:rPr lang="pt-BR" sz="1400" b="1" dirty="0">
                <a:ea typeface="+mn-lt"/>
                <a:cs typeface="+mn-lt"/>
              </a:rPr>
              <a:t>, </a:t>
            </a:r>
            <a:r>
              <a:rPr lang="pt-BR" sz="1400" b="1" dirty="0" err="1">
                <a:ea typeface="+mn-lt"/>
                <a:cs typeface="+mn-lt"/>
              </a:rPr>
              <a:t>and</a:t>
            </a:r>
            <a:r>
              <a:rPr lang="pt-BR" sz="1400" b="1" dirty="0">
                <a:ea typeface="+mn-lt"/>
                <a:cs typeface="+mn-lt"/>
              </a:rPr>
              <a:t> food </a:t>
            </a:r>
            <a:r>
              <a:rPr lang="pt-BR" sz="1400" b="1" dirty="0" err="1">
                <a:ea typeface="+mn-lt"/>
                <a:cs typeface="+mn-lt"/>
              </a:rPr>
              <a:t>insecurity</a:t>
            </a:r>
            <a:r>
              <a:rPr lang="pt-BR" sz="1400" b="1" dirty="0">
                <a:ea typeface="+mn-lt"/>
                <a:cs typeface="+mn-lt"/>
              </a:rPr>
              <a:t> </a:t>
            </a:r>
            <a:r>
              <a:rPr lang="pt-BR" sz="1400" b="1" dirty="0" err="1">
                <a:ea typeface="+mn-lt"/>
                <a:cs typeface="+mn-lt"/>
              </a:rPr>
              <a:t>is</a:t>
            </a:r>
            <a:r>
              <a:rPr lang="pt-BR" sz="1400" b="1" dirty="0">
                <a:ea typeface="+mn-lt"/>
                <a:cs typeface="+mn-lt"/>
              </a:rPr>
              <a:t> a </a:t>
            </a:r>
            <a:r>
              <a:rPr lang="pt-BR" sz="1400" b="1" dirty="0" err="1">
                <a:ea typeface="+mn-lt"/>
                <a:cs typeface="+mn-lt"/>
              </a:rPr>
              <a:t>risk</a:t>
            </a:r>
            <a:r>
              <a:rPr lang="pt-BR" sz="1400" b="1" dirty="0">
                <a:ea typeface="+mn-lt"/>
                <a:cs typeface="+mn-lt"/>
              </a:rPr>
              <a:t> </a:t>
            </a:r>
            <a:r>
              <a:rPr lang="pt-BR" sz="1400" b="1" dirty="0" err="1">
                <a:ea typeface="+mn-lt"/>
                <a:cs typeface="+mn-lt"/>
              </a:rPr>
              <a:t>factor</a:t>
            </a:r>
            <a:r>
              <a:rPr lang="pt-BR" sz="1400" b="1" dirty="0">
                <a:ea typeface="+mn-lt"/>
                <a:cs typeface="+mn-lt"/>
              </a:rPr>
              <a:t> for </a:t>
            </a:r>
            <a:r>
              <a:rPr lang="pt-BR" sz="1400" b="1" dirty="0" err="1">
                <a:ea typeface="+mn-lt"/>
                <a:cs typeface="+mn-lt"/>
              </a:rPr>
              <a:t>poor</a:t>
            </a:r>
            <a:r>
              <a:rPr lang="pt-BR" sz="1400" b="1" dirty="0">
                <a:ea typeface="+mn-lt"/>
                <a:cs typeface="+mn-lt"/>
              </a:rPr>
              <a:t> diabetes management. </a:t>
            </a:r>
            <a:r>
              <a:rPr lang="pt-BR" sz="1400" b="1" dirty="0" err="1">
                <a:ea typeface="+mn-lt"/>
                <a:cs typeface="+mn-lt"/>
              </a:rPr>
              <a:t>Researchers</a:t>
            </a:r>
            <a:r>
              <a:rPr lang="pt-BR" sz="1400" b="1" dirty="0">
                <a:ea typeface="+mn-lt"/>
                <a:cs typeface="+mn-lt"/>
              </a:rPr>
              <a:t> </a:t>
            </a:r>
            <a:r>
              <a:rPr lang="pt-BR" sz="1400" b="1" dirty="0" err="1">
                <a:ea typeface="+mn-lt"/>
                <a:cs typeface="+mn-lt"/>
              </a:rPr>
              <a:t>have</a:t>
            </a:r>
            <a:r>
              <a:rPr lang="pt-BR" sz="1400" b="1" dirty="0">
                <a:ea typeface="+mn-lt"/>
                <a:cs typeface="+mn-lt"/>
              </a:rPr>
              <a:t> </a:t>
            </a:r>
            <a:r>
              <a:rPr lang="pt-BR" sz="1400" b="1" dirty="0" err="1">
                <a:ea typeface="+mn-lt"/>
                <a:cs typeface="+mn-lt"/>
              </a:rPr>
              <a:t>investigated</a:t>
            </a:r>
            <a:r>
              <a:rPr lang="pt-BR" sz="1400" b="1" dirty="0">
                <a:ea typeface="+mn-lt"/>
                <a:cs typeface="+mn-lt"/>
              </a:rPr>
              <a:t> </a:t>
            </a:r>
            <a:r>
              <a:rPr lang="pt-BR" sz="1400" b="1" dirty="0" err="1">
                <a:ea typeface="+mn-lt"/>
                <a:cs typeface="+mn-lt"/>
              </a:rPr>
              <a:t>several</a:t>
            </a:r>
            <a:r>
              <a:rPr lang="pt-BR" sz="1400" b="1" dirty="0">
                <a:ea typeface="+mn-lt"/>
                <a:cs typeface="+mn-lt"/>
              </a:rPr>
              <a:t> </a:t>
            </a:r>
            <a:r>
              <a:rPr lang="pt-BR" sz="1400" b="1" dirty="0" err="1">
                <a:ea typeface="+mn-lt"/>
                <a:cs typeface="+mn-lt"/>
              </a:rPr>
              <a:t>pathways</a:t>
            </a:r>
            <a:r>
              <a:rPr lang="pt-BR" sz="1400" b="1" dirty="0">
                <a:ea typeface="+mn-lt"/>
                <a:cs typeface="+mn-lt"/>
              </a:rPr>
              <a:t> </a:t>
            </a:r>
            <a:r>
              <a:rPr lang="pt-BR" sz="1400" b="1" dirty="0" err="1">
                <a:ea typeface="+mn-lt"/>
                <a:cs typeface="+mn-lt"/>
              </a:rPr>
              <a:t>through</a:t>
            </a:r>
            <a:r>
              <a:rPr lang="pt-BR" sz="1400" b="1" dirty="0">
                <a:ea typeface="+mn-lt"/>
                <a:cs typeface="+mn-lt"/>
              </a:rPr>
              <a:t> </a:t>
            </a:r>
            <a:r>
              <a:rPr lang="pt-BR" sz="1400" b="1" dirty="0" err="1">
                <a:ea typeface="+mn-lt"/>
                <a:cs typeface="+mn-lt"/>
              </a:rPr>
              <a:t>which</a:t>
            </a:r>
            <a:r>
              <a:rPr lang="pt-BR" sz="1400" b="1" dirty="0">
                <a:ea typeface="+mn-lt"/>
                <a:cs typeface="+mn-lt"/>
              </a:rPr>
              <a:t> food </a:t>
            </a:r>
            <a:r>
              <a:rPr lang="pt-BR" sz="1400" b="1" dirty="0" err="1">
                <a:ea typeface="+mn-lt"/>
                <a:cs typeface="+mn-lt"/>
              </a:rPr>
              <a:t>insecurity</a:t>
            </a:r>
            <a:r>
              <a:rPr lang="pt-BR" sz="1400" b="1" dirty="0">
                <a:ea typeface="+mn-lt"/>
                <a:cs typeface="+mn-lt"/>
              </a:rPr>
              <a:t> </a:t>
            </a:r>
            <a:r>
              <a:rPr lang="pt-BR" sz="1400" b="1" dirty="0" err="1">
                <a:ea typeface="+mn-lt"/>
                <a:cs typeface="+mn-lt"/>
              </a:rPr>
              <a:t>may</a:t>
            </a:r>
            <a:r>
              <a:rPr lang="pt-BR" sz="1400" b="1" dirty="0">
                <a:ea typeface="+mn-lt"/>
                <a:cs typeface="+mn-lt"/>
              </a:rPr>
              <a:t> </a:t>
            </a:r>
            <a:r>
              <a:rPr lang="pt-BR" sz="1400" b="1" dirty="0" err="1">
                <a:ea typeface="+mn-lt"/>
                <a:cs typeface="+mn-lt"/>
              </a:rPr>
              <a:t>worsen</a:t>
            </a:r>
            <a:r>
              <a:rPr lang="pt-BR" sz="1400" b="1" dirty="0">
                <a:ea typeface="+mn-lt"/>
                <a:cs typeface="+mn-lt"/>
              </a:rPr>
              <a:t> T2DM </a:t>
            </a:r>
            <a:r>
              <a:rPr lang="pt-BR" sz="1400" b="1" dirty="0" err="1">
                <a:ea typeface="+mn-lt"/>
                <a:cs typeface="+mn-lt"/>
              </a:rPr>
              <a:t>outcomes</a:t>
            </a:r>
            <a:r>
              <a:rPr lang="pt-BR" sz="1400" b="1" dirty="0">
                <a:ea typeface="+mn-lt"/>
                <a:cs typeface="+mn-lt"/>
              </a:rPr>
              <a:t>.</a:t>
            </a:r>
          </a:p>
          <a:p>
            <a:r>
              <a:rPr lang="pt-BR" sz="1400" dirty="0">
                <a:ea typeface="+mn-lt"/>
                <a:cs typeface="+mn-lt"/>
              </a:rPr>
              <a:t>In </a:t>
            </a:r>
            <a:r>
              <a:rPr lang="pt-BR" sz="1400" dirty="0" err="1">
                <a:ea typeface="+mn-lt"/>
                <a:cs typeface="+mn-lt"/>
              </a:rPr>
              <a:t>population-based</a:t>
            </a:r>
            <a:r>
              <a:rPr lang="pt-BR" sz="1400" dirty="0">
                <a:ea typeface="+mn-lt"/>
                <a:cs typeface="+mn-lt"/>
              </a:rPr>
              <a:t> </a:t>
            </a:r>
            <a:r>
              <a:rPr lang="pt-BR" sz="1400" dirty="0" err="1">
                <a:ea typeface="+mn-lt"/>
                <a:cs typeface="+mn-lt"/>
              </a:rPr>
              <a:t>studies</a:t>
            </a:r>
            <a:r>
              <a:rPr lang="pt-BR" sz="1400" dirty="0">
                <a:ea typeface="+mn-lt"/>
                <a:cs typeface="+mn-lt"/>
              </a:rPr>
              <a:t>, </a:t>
            </a:r>
            <a:r>
              <a:rPr lang="pt-BR" sz="1400" dirty="0" err="1">
                <a:ea typeface="+mn-lt"/>
                <a:cs typeface="+mn-lt"/>
              </a:rPr>
              <a:t>having</a:t>
            </a:r>
            <a:r>
              <a:rPr lang="pt-BR" sz="1400" dirty="0">
                <a:ea typeface="+mn-lt"/>
                <a:cs typeface="+mn-lt"/>
              </a:rPr>
              <a:t> </a:t>
            </a:r>
            <a:r>
              <a:rPr lang="pt-BR" sz="1400" dirty="0" err="1">
                <a:ea typeface="+mn-lt"/>
                <a:cs typeface="+mn-lt"/>
              </a:rPr>
              <a:t>health</a:t>
            </a:r>
            <a:r>
              <a:rPr lang="pt-BR" sz="1400" dirty="0">
                <a:ea typeface="+mn-lt"/>
                <a:cs typeface="+mn-lt"/>
              </a:rPr>
              <a:t> </a:t>
            </a:r>
            <a:r>
              <a:rPr lang="pt-BR" sz="1400" dirty="0" err="1">
                <a:ea typeface="+mn-lt"/>
                <a:cs typeface="+mn-lt"/>
              </a:rPr>
              <a:t>insurance</a:t>
            </a:r>
            <a:r>
              <a:rPr lang="pt-BR" sz="1400" dirty="0">
                <a:ea typeface="+mn-lt"/>
                <a:cs typeface="+mn-lt"/>
              </a:rPr>
              <a:t> </a:t>
            </a:r>
            <a:r>
              <a:rPr lang="pt-BR" sz="1400" dirty="0" err="1">
                <a:ea typeface="+mn-lt"/>
                <a:cs typeface="+mn-lt"/>
              </a:rPr>
              <a:t>is</a:t>
            </a:r>
            <a:r>
              <a:rPr lang="pt-BR" sz="1400" dirty="0">
                <a:ea typeface="+mn-lt"/>
                <a:cs typeface="+mn-lt"/>
              </a:rPr>
              <a:t> </a:t>
            </a:r>
            <a:r>
              <a:rPr lang="pt-BR" sz="1400" dirty="0" err="1">
                <a:ea typeface="+mn-lt"/>
                <a:cs typeface="+mn-lt"/>
              </a:rPr>
              <a:t>the</a:t>
            </a:r>
            <a:r>
              <a:rPr lang="pt-BR" sz="1400" dirty="0">
                <a:ea typeface="+mn-lt"/>
                <a:cs typeface="+mn-lt"/>
              </a:rPr>
              <a:t> </a:t>
            </a:r>
            <a:r>
              <a:rPr lang="pt-BR" sz="1400" dirty="0" err="1">
                <a:ea typeface="+mn-lt"/>
                <a:cs typeface="+mn-lt"/>
              </a:rPr>
              <a:t>strongest</a:t>
            </a:r>
            <a:r>
              <a:rPr lang="pt-BR" sz="1400" dirty="0">
                <a:ea typeface="+mn-lt"/>
                <a:cs typeface="+mn-lt"/>
              </a:rPr>
              <a:t> </a:t>
            </a:r>
            <a:r>
              <a:rPr lang="pt-BR" sz="1400" dirty="0" err="1">
                <a:ea typeface="+mn-lt"/>
                <a:cs typeface="+mn-lt"/>
              </a:rPr>
              <a:t>predictor</a:t>
            </a:r>
            <a:r>
              <a:rPr lang="pt-BR" sz="1400" dirty="0">
                <a:ea typeface="+mn-lt"/>
                <a:cs typeface="+mn-lt"/>
              </a:rPr>
              <a:t> </a:t>
            </a:r>
            <a:r>
              <a:rPr lang="pt-BR" sz="1400" dirty="0" err="1">
                <a:ea typeface="+mn-lt"/>
                <a:cs typeface="+mn-lt"/>
              </a:rPr>
              <a:t>of</a:t>
            </a:r>
            <a:r>
              <a:rPr lang="pt-BR" sz="1400" dirty="0">
                <a:ea typeface="+mn-lt"/>
                <a:cs typeface="+mn-lt"/>
              </a:rPr>
              <a:t> </a:t>
            </a:r>
            <a:r>
              <a:rPr lang="pt-BR" sz="1400" dirty="0" err="1">
                <a:ea typeface="+mn-lt"/>
                <a:cs typeface="+mn-lt"/>
              </a:rPr>
              <a:t>whether</a:t>
            </a:r>
            <a:r>
              <a:rPr lang="pt-BR" sz="1400" dirty="0">
                <a:ea typeface="+mn-lt"/>
                <a:cs typeface="+mn-lt"/>
              </a:rPr>
              <a:t> </a:t>
            </a:r>
            <a:r>
              <a:rPr lang="pt-BR" sz="1400" dirty="0" err="1">
                <a:ea typeface="+mn-lt"/>
                <a:cs typeface="+mn-lt"/>
              </a:rPr>
              <a:t>adults</a:t>
            </a:r>
            <a:r>
              <a:rPr lang="pt-BR" sz="1400" dirty="0">
                <a:ea typeface="+mn-lt"/>
                <a:cs typeface="+mn-lt"/>
              </a:rPr>
              <a:t> </a:t>
            </a:r>
            <a:r>
              <a:rPr lang="pt-BR" sz="1400" dirty="0" err="1">
                <a:ea typeface="+mn-lt"/>
                <a:cs typeface="+mn-lt"/>
              </a:rPr>
              <a:t>with</a:t>
            </a:r>
            <a:r>
              <a:rPr lang="pt-BR" sz="1400" dirty="0">
                <a:ea typeface="+mn-lt"/>
                <a:cs typeface="+mn-lt"/>
              </a:rPr>
              <a:t> diabetes </a:t>
            </a:r>
            <a:r>
              <a:rPr lang="pt-BR" sz="1400" dirty="0" err="1">
                <a:ea typeface="+mn-lt"/>
                <a:cs typeface="+mn-lt"/>
              </a:rPr>
              <a:t>have</a:t>
            </a:r>
            <a:r>
              <a:rPr lang="pt-BR" sz="1400" dirty="0">
                <a:ea typeface="+mn-lt"/>
                <a:cs typeface="+mn-lt"/>
              </a:rPr>
              <a:t> </a:t>
            </a:r>
            <a:r>
              <a:rPr lang="pt-BR" sz="1400" dirty="0" err="1">
                <a:ea typeface="+mn-lt"/>
                <a:cs typeface="+mn-lt"/>
              </a:rPr>
              <a:t>access</a:t>
            </a:r>
            <a:r>
              <a:rPr lang="pt-BR" sz="1400" dirty="0">
                <a:ea typeface="+mn-lt"/>
                <a:cs typeface="+mn-lt"/>
              </a:rPr>
              <a:t> </a:t>
            </a:r>
            <a:r>
              <a:rPr lang="pt-BR" sz="1400" dirty="0" err="1">
                <a:ea typeface="+mn-lt"/>
                <a:cs typeface="+mn-lt"/>
              </a:rPr>
              <a:t>to</a:t>
            </a:r>
            <a:r>
              <a:rPr lang="pt-BR" sz="1400" dirty="0">
                <a:ea typeface="+mn-lt"/>
                <a:cs typeface="+mn-lt"/>
              </a:rPr>
              <a:t> diabetes </a:t>
            </a:r>
            <a:r>
              <a:rPr lang="pt-BR" sz="1400" dirty="0" err="1">
                <a:ea typeface="+mn-lt"/>
                <a:cs typeface="+mn-lt"/>
              </a:rPr>
              <a:t>screenings</a:t>
            </a:r>
            <a:r>
              <a:rPr lang="pt-BR" sz="1400" dirty="0">
                <a:ea typeface="+mn-lt"/>
                <a:cs typeface="+mn-lt"/>
              </a:rPr>
              <a:t> </a:t>
            </a:r>
            <a:r>
              <a:rPr lang="pt-BR" sz="1400" dirty="0" err="1">
                <a:ea typeface="+mn-lt"/>
                <a:cs typeface="+mn-lt"/>
              </a:rPr>
              <a:t>and</a:t>
            </a:r>
            <a:r>
              <a:rPr lang="pt-BR" sz="1400" dirty="0">
                <a:ea typeface="+mn-lt"/>
                <a:cs typeface="+mn-lt"/>
              </a:rPr>
              <a:t> </a:t>
            </a:r>
            <a:r>
              <a:rPr lang="pt-BR" sz="1400" dirty="0" err="1">
                <a:ea typeface="+mn-lt"/>
                <a:cs typeface="+mn-lt"/>
              </a:rPr>
              <a:t>care</a:t>
            </a:r>
            <a:r>
              <a:rPr lang="pt-BR" sz="1400" dirty="0">
                <a:ea typeface="+mn-lt"/>
                <a:cs typeface="+mn-lt"/>
              </a:rPr>
              <a:t>. </a:t>
            </a:r>
            <a:r>
              <a:rPr lang="pt-BR" sz="1400" b="1" dirty="0" err="1">
                <a:ea typeface="+mn-lt"/>
                <a:cs typeface="+mn-lt"/>
              </a:rPr>
              <a:t>Uninsured</a:t>
            </a:r>
            <a:r>
              <a:rPr lang="pt-BR" sz="1400" b="1" dirty="0">
                <a:ea typeface="+mn-lt"/>
                <a:cs typeface="+mn-lt"/>
              </a:rPr>
              <a:t> </a:t>
            </a:r>
            <a:r>
              <a:rPr lang="pt-BR" sz="1400" b="1" dirty="0" err="1">
                <a:ea typeface="+mn-lt"/>
                <a:cs typeface="+mn-lt"/>
              </a:rPr>
              <a:t>adults</a:t>
            </a:r>
            <a:r>
              <a:rPr lang="pt-BR" sz="1400" b="1" dirty="0">
                <a:ea typeface="+mn-lt"/>
                <a:cs typeface="+mn-lt"/>
              </a:rPr>
              <a:t> in </a:t>
            </a:r>
            <a:r>
              <a:rPr lang="pt-BR" sz="1400" b="1" dirty="0" err="1">
                <a:ea typeface="+mn-lt"/>
                <a:cs typeface="+mn-lt"/>
              </a:rPr>
              <a:t>the</a:t>
            </a:r>
            <a:r>
              <a:rPr lang="pt-BR" sz="1400" b="1" dirty="0">
                <a:ea typeface="+mn-lt"/>
                <a:cs typeface="+mn-lt"/>
              </a:rPr>
              <a:t> U.S. </a:t>
            </a:r>
            <a:r>
              <a:rPr lang="pt-BR" sz="1400" b="1" dirty="0" err="1">
                <a:ea typeface="+mn-lt"/>
                <a:cs typeface="+mn-lt"/>
              </a:rPr>
              <a:t>population</a:t>
            </a:r>
            <a:r>
              <a:rPr lang="pt-BR" sz="1400" b="1" dirty="0">
                <a:ea typeface="+mn-lt"/>
                <a:cs typeface="+mn-lt"/>
              </a:rPr>
              <a:t> </a:t>
            </a:r>
            <a:r>
              <a:rPr lang="pt-BR" sz="1400" b="1" dirty="0" err="1">
                <a:ea typeface="+mn-lt"/>
                <a:cs typeface="+mn-lt"/>
              </a:rPr>
              <a:t>have</a:t>
            </a:r>
            <a:r>
              <a:rPr lang="pt-BR" sz="1400" b="1" dirty="0">
                <a:ea typeface="+mn-lt"/>
                <a:cs typeface="+mn-lt"/>
              </a:rPr>
              <a:t> a </a:t>
            </a:r>
            <a:r>
              <a:rPr lang="pt-BR" sz="1400" b="1" dirty="0" err="1">
                <a:ea typeface="+mn-lt"/>
                <a:cs typeface="+mn-lt"/>
              </a:rPr>
              <a:t>higher</a:t>
            </a:r>
            <a:r>
              <a:rPr lang="pt-BR" sz="1400" b="1" dirty="0">
                <a:ea typeface="+mn-lt"/>
                <a:cs typeface="+mn-lt"/>
              </a:rPr>
              <a:t> </a:t>
            </a:r>
            <a:r>
              <a:rPr lang="pt-BR" sz="1400" b="1" dirty="0" err="1">
                <a:ea typeface="+mn-lt"/>
                <a:cs typeface="+mn-lt"/>
              </a:rPr>
              <a:t>likelihood</a:t>
            </a:r>
            <a:r>
              <a:rPr lang="pt-BR" sz="1400" b="1" dirty="0">
                <a:ea typeface="+mn-lt"/>
                <a:cs typeface="+mn-lt"/>
              </a:rPr>
              <a:t> </a:t>
            </a:r>
            <a:r>
              <a:rPr lang="pt-BR" sz="1400" b="1" dirty="0" err="1">
                <a:ea typeface="+mn-lt"/>
                <a:cs typeface="+mn-lt"/>
              </a:rPr>
              <a:t>of</a:t>
            </a:r>
            <a:r>
              <a:rPr lang="pt-BR" sz="1400" b="1" dirty="0">
                <a:ea typeface="+mn-lt"/>
                <a:cs typeface="+mn-lt"/>
              </a:rPr>
              <a:t> </a:t>
            </a:r>
            <a:r>
              <a:rPr lang="pt-BR" sz="1400" b="1" dirty="0" err="1">
                <a:ea typeface="+mn-lt"/>
                <a:cs typeface="+mn-lt"/>
              </a:rPr>
              <a:t>having</a:t>
            </a:r>
            <a:r>
              <a:rPr lang="pt-BR" sz="1400" b="1" dirty="0">
                <a:ea typeface="+mn-lt"/>
                <a:cs typeface="+mn-lt"/>
              </a:rPr>
              <a:t> </a:t>
            </a:r>
            <a:r>
              <a:rPr lang="pt-BR" sz="1400" b="1" dirty="0" err="1">
                <a:ea typeface="+mn-lt"/>
                <a:cs typeface="+mn-lt"/>
              </a:rPr>
              <a:t>undiagnosed</a:t>
            </a:r>
            <a:r>
              <a:rPr lang="pt-BR" sz="1400" b="1" dirty="0">
                <a:ea typeface="+mn-lt"/>
                <a:cs typeface="+mn-lt"/>
              </a:rPr>
              <a:t> diabetes </a:t>
            </a:r>
            <a:r>
              <a:rPr lang="pt-BR" sz="1400" b="1" dirty="0" err="1">
                <a:ea typeface="+mn-lt"/>
                <a:cs typeface="+mn-lt"/>
              </a:rPr>
              <a:t>than</a:t>
            </a:r>
            <a:r>
              <a:rPr lang="pt-BR" sz="1400" b="1" dirty="0">
                <a:ea typeface="+mn-lt"/>
                <a:cs typeface="+mn-lt"/>
              </a:rPr>
              <a:t> </a:t>
            </a:r>
            <a:r>
              <a:rPr lang="pt-BR" sz="1400" b="1" dirty="0" err="1">
                <a:ea typeface="+mn-lt"/>
                <a:cs typeface="+mn-lt"/>
              </a:rPr>
              <a:t>adults</a:t>
            </a:r>
            <a:r>
              <a:rPr lang="pt-BR" sz="1400" b="1" dirty="0">
                <a:ea typeface="+mn-lt"/>
                <a:cs typeface="+mn-lt"/>
              </a:rPr>
              <a:t> </a:t>
            </a:r>
            <a:r>
              <a:rPr lang="pt-BR" sz="1400" b="1" dirty="0" err="1">
                <a:ea typeface="+mn-lt"/>
                <a:cs typeface="+mn-lt"/>
              </a:rPr>
              <a:t>with</a:t>
            </a:r>
            <a:r>
              <a:rPr lang="pt-BR" sz="1400" b="1" dirty="0">
                <a:ea typeface="+mn-lt"/>
                <a:cs typeface="+mn-lt"/>
              </a:rPr>
              <a:t> </a:t>
            </a:r>
            <a:r>
              <a:rPr lang="pt-BR" sz="1400" b="1" dirty="0" err="1">
                <a:ea typeface="+mn-lt"/>
                <a:cs typeface="+mn-lt"/>
              </a:rPr>
              <a:t>insurance</a:t>
            </a:r>
            <a:r>
              <a:rPr lang="pt-BR" sz="1400" dirty="0">
                <a:ea typeface="+mn-lt"/>
                <a:cs typeface="+mn-lt"/>
              </a:rPr>
              <a:t>. [...] </a:t>
            </a:r>
            <a:r>
              <a:rPr lang="pt-BR" sz="1400" dirty="0" err="1">
                <a:ea typeface="+mn-lt"/>
                <a:cs typeface="+mn-lt"/>
              </a:rPr>
              <a:t>On</a:t>
            </a:r>
            <a:r>
              <a:rPr lang="pt-BR" sz="1400" dirty="0">
                <a:ea typeface="+mn-lt"/>
                <a:cs typeface="+mn-lt"/>
              </a:rPr>
              <a:t> </a:t>
            </a:r>
            <a:r>
              <a:rPr lang="pt-BR" sz="1400" dirty="0" err="1">
                <a:ea typeface="+mn-lt"/>
                <a:cs typeface="+mn-lt"/>
              </a:rPr>
              <a:t>average</a:t>
            </a:r>
            <a:r>
              <a:rPr lang="pt-BR" sz="1400" dirty="0">
                <a:ea typeface="+mn-lt"/>
                <a:cs typeface="+mn-lt"/>
              </a:rPr>
              <a:t>, </a:t>
            </a:r>
            <a:r>
              <a:rPr lang="pt-BR" sz="1400" dirty="0" err="1">
                <a:ea typeface="+mn-lt"/>
                <a:cs typeface="+mn-lt"/>
              </a:rPr>
              <a:t>health</a:t>
            </a:r>
            <a:r>
              <a:rPr lang="pt-BR" sz="1400" dirty="0">
                <a:ea typeface="+mn-lt"/>
                <a:cs typeface="+mn-lt"/>
              </a:rPr>
              <a:t> </a:t>
            </a:r>
            <a:r>
              <a:rPr lang="pt-BR" sz="1400" dirty="0" err="1">
                <a:ea typeface="+mn-lt"/>
                <a:cs typeface="+mn-lt"/>
              </a:rPr>
              <a:t>care</a:t>
            </a:r>
            <a:r>
              <a:rPr lang="pt-BR" sz="1400" dirty="0">
                <a:ea typeface="+mn-lt"/>
                <a:cs typeface="+mn-lt"/>
              </a:rPr>
              <a:t> </a:t>
            </a:r>
            <a:r>
              <a:rPr lang="pt-BR" sz="1400" dirty="0" err="1">
                <a:ea typeface="+mn-lt"/>
                <a:cs typeface="+mn-lt"/>
              </a:rPr>
              <a:t>costs</a:t>
            </a:r>
            <a:r>
              <a:rPr lang="pt-BR" sz="1400" dirty="0">
                <a:ea typeface="+mn-lt"/>
                <a:cs typeface="+mn-lt"/>
              </a:rPr>
              <a:t> </a:t>
            </a:r>
            <a:r>
              <a:rPr lang="pt-BR" sz="1400" dirty="0" err="1">
                <a:ea typeface="+mn-lt"/>
                <a:cs typeface="+mn-lt"/>
              </a:rPr>
              <a:t>of</a:t>
            </a:r>
            <a:r>
              <a:rPr lang="pt-BR" sz="1400" dirty="0">
                <a:ea typeface="+mn-lt"/>
                <a:cs typeface="+mn-lt"/>
              </a:rPr>
              <a:t> </a:t>
            </a:r>
            <a:r>
              <a:rPr lang="pt-BR" sz="1400" dirty="0" err="1">
                <a:ea typeface="+mn-lt"/>
                <a:cs typeface="+mn-lt"/>
              </a:rPr>
              <a:t>people</a:t>
            </a:r>
            <a:r>
              <a:rPr lang="pt-BR" sz="1400" dirty="0">
                <a:ea typeface="+mn-lt"/>
                <a:cs typeface="+mn-lt"/>
              </a:rPr>
              <a:t> </a:t>
            </a:r>
            <a:r>
              <a:rPr lang="pt-BR" sz="1400" dirty="0" err="1">
                <a:ea typeface="+mn-lt"/>
                <a:cs typeface="+mn-lt"/>
              </a:rPr>
              <a:t>with</a:t>
            </a:r>
            <a:r>
              <a:rPr lang="pt-BR" sz="1400" dirty="0">
                <a:ea typeface="+mn-lt"/>
                <a:cs typeface="+mn-lt"/>
              </a:rPr>
              <a:t> diabetes are 2.3 times </a:t>
            </a:r>
            <a:r>
              <a:rPr lang="pt-BR" sz="1400" dirty="0" err="1">
                <a:ea typeface="+mn-lt"/>
                <a:cs typeface="+mn-lt"/>
              </a:rPr>
              <a:t>those</a:t>
            </a:r>
            <a:r>
              <a:rPr lang="pt-BR" sz="1400" dirty="0">
                <a:ea typeface="+mn-lt"/>
                <a:cs typeface="+mn-lt"/>
              </a:rPr>
              <a:t> </a:t>
            </a:r>
            <a:r>
              <a:rPr lang="pt-BR" sz="1400" dirty="0" err="1">
                <a:ea typeface="+mn-lt"/>
                <a:cs typeface="+mn-lt"/>
              </a:rPr>
              <a:t>of</a:t>
            </a:r>
            <a:r>
              <a:rPr lang="pt-BR" sz="1400" dirty="0">
                <a:ea typeface="+mn-lt"/>
                <a:cs typeface="+mn-lt"/>
              </a:rPr>
              <a:t> </a:t>
            </a:r>
            <a:r>
              <a:rPr lang="pt-BR" sz="1400" dirty="0" err="1">
                <a:ea typeface="+mn-lt"/>
                <a:cs typeface="+mn-lt"/>
              </a:rPr>
              <a:t>people</a:t>
            </a:r>
            <a:r>
              <a:rPr lang="pt-BR" sz="1400" dirty="0">
                <a:ea typeface="+mn-lt"/>
                <a:cs typeface="+mn-lt"/>
              </a:rPr>
              <a:t> </a:t>
            </a:r>
            <a:r>
              <a:rPr lang="pt-BR" sz="1400" dirty="0" err="1">
                <a:ea typeface="+mn-lt"/>
                <a:cs typeface="+mn-lt"/>
              </a:rPr>
              <a:t>without</a:t>
            </a:r>
            <a:r>
              <a:rPr lang="pt-BR" sz="1400" dirty="0">
                <a:ea typeface="+mn-lt"/>
                <a:cs typeface="+mn-lt"/>
              </a:rPr>
              <a:t> diabetes (229). </a:t>
            </a:r>
            <a:r>
              <a:rPr lang="pt-BR" sz="1400" b="1" dirty="0" err="1">
                <a:ea typeface="+mn-lt"/>
                <a:cs typeface="+mn-lt"/>
              </a:rPr>
              <a:t>Approximately</a:t>
            </a:r>
            <a:r>
              <a:rPr lang="pt-BR" sz="1400" b="1" dirty="0">
                <a:ea typeface="+mn-lt"/>
                <a:cs typeface="+mn-lt"/>
              </a:rPr>
              <a:t> 14% </a:t>
            </a:r>
            <a:r>
              <a:rPr lang="pt-BR" sz="1400" b="1" dirty="0" err="1">
                <a:ea typeface="+mn-lt"/>
                <a:cs typeface="+mn-lt"/>
              </a:rPr>
              <a:t>to</a:t>
            </a:r>
            <a:r>
              <a:rPr lang="pt-BR" sz="1400" b="1" dirty="0">
                <a:ea typeface="+mn-lt"/>
                <a:cs typeface="+mn-lt"/>
              </a:rPr>
              <a:t> 20% </a:t>
            </a:r>
            <a:r>
              <a:rPr lang="pt-BR" sz="1400" b="1" dirty="0" err="1">
                <a:ea typeface="+mn-lt"/>
                <a:cs typeface="+mn-lt"/>
              </a:rPr>
              <a:t>of</a:t>
            </a:r>
            <a:r>
              <a:rPr lang="pt-BR" sz="1400" b="1" dirty="0">
                <a:ea typeface="+mn-lt"/>
                <a:cs typeface="+mn-lt"/>
              </a:rPr>
              <a:t> </a:t>
            </a:r>
            <a:r>
              <a:rPr lang="pt-BR" sz="1400" b="1" dirty="0" err="1">
                <a:ea typeface="+mn-lt"/>
                <a:cs typeface="+mn-lt"/>
              </a:rPr>
              <a:t>adults</a:t>
            </a:r>
            <a:r>
              <a:rPr lang="pt-BR" sz="1400" b="1" dirty="0">
                <a:ea typeface="+mn-lt"/>
                <a:cs typeface="+mn-lt"/>
              </a:rPr>
              <a:t> </a:t>
            </a:r>
            <a:r>
              <a:rPr lang="pt-BR" sz="1400" b="1" dirty="0" err="1">
                <a:ea typeface="+mn-lt"/>
                <a:cs typeface="+mn-lt"/>
              </a:rPr>
              <a:t>with</a:t>
            </a:r>
            <a:r>
              <a:rPr lang="pt-BR" sz="1400" b="1" dirty="0">
                <a:ea typeface="+mn-lt"/>
                <a:cs typeface="+mn-lt"/>
              </a:rPr>
              <a:t> diabetes </a:t>
            </a:r>
            <a:r>
              <a:rPr lang="pt-BR" sz="1400" b="1" dirty="0" err="1">
                <a:ea typeface="+mn-lt"/>
                <a:cs typeface="+mn-lt"/>
              </a:rPr>
              <a:t>report</a:t>
            </a:r>
            <a:r>
              <a:rPr lang="pt-BR" sz="1400" b="1" dirty="0">
                <a:ea typeface="+mn-lt"/>
                <a:cs typeface="+mn-lt"/>
              </a:rPr>
              <a:t> </a:t>
            </a:r>
            <a:r>
              <a:rPr lang="pt-BR" sz="1400" b="1" dirty="0" err="1">
                <a:ea typeface="+mn-lt"/>
                <a:cs typeface="+mn-lt"/>
              </a:rPr>
              <a:t>reducing</a:t>
            </a:r>
            <a:r>
              <a:rPr lang="pt-BR" sz="1400" b="1" dirty="0">
                <a:ea typeface="+mn-lt"/>
                <a:cs typeface="+mn-lt"/>
              </a:rPr>
              <a:t> </a:t>
            </a:r>
            <a:r>
              <a:rPr lang="pt-BR" sz="1400" b="1" dirty="0" err="1">
                <a:ea typeface="+mn-lt"/>
                <a:cs typeface="+mn-lt"/>
              </a:rPr>
              <a:t>or</a:t>
            </a:r>
            <a:r>
              <a:rPr lang="pt-BR" sz="1400" b="1" dirty="0">
                <a:ea typeface="+mn-lt"/>
                <a:cs typeface="+mn-lt"/>
              </a:rPr>
              <a:t> </a:t>
            </a:r>
            <a:r>
              <a:rPr lang="pt-BR" sz="1400" b="1" dirty="0" err="1">
                <a:ea typeface="+mn-lt"/>
                <a:cs typeface="+mn-lt"/>
              </a:rPr>
              <a:t>delaying</a:t>
            </a:r>
            <a:r>
              <a:rPr lang="pt-BR" sz="1400" b="1" dirty="0">
                <a:ea typeface="+mn-lt"/>
                <a:cs typeface="+mn-lt"/>
              </a:rPr>
              <a:t> </a:t>
            </a:r>
            <a:r>
              <a:rPr lang="pt-BR" sz="1400" b="1" dirty="0" err="1">
                <a:ea typeface="+mn-lt"/>
                <a:cs typeface="+mn-lt"/>
              </a:rPr>
              <a:t>medications</a:t>
            </a:r>
            <a:r>
              <a:rPr lang="pt-BR" sz="1400" b="1" dirty="0">
                <a:ea typeface="+mn-lt"/>
                <a:cs typeface="+mn-lt"/>
              </a:rPr>
              <a:t> </a:t>
            </a:r>
            <a:r>
              <a:rPr lang="pt-BR" sz="1400" b="1" dirty="0" err="1">
                <a:ea typeface="+mn-lt"/>
                <a:cs typeface="+mn-lt"/>
              </a:rPr>
              <a:t>due</a:t>
            </a:r>
            <a:r>
              <a:rPr lang="pt-BR" sz="1400" b="1" dirty="0">
                <a:ea typeface="+mn-lt"/>
                <a:cs typeface="+mn-lt"/>
              </a:rPr>
              <a:t> </a:t>
            </a:r>
            <a:r>
              <a:rPr lang="pt-BR" sz="1400" b="1" dirty="0" err="1">
                <a:ea typeface="+mn-lt"/>
                <a:cs typeface="+mn-lt"/>
              </a:rPr>
              <a:t>to</a:t>
            </a:r>
            <a:r>
              <a:rPr lang="pt-BR" sz="1400" b="1" dirty="0">
                <a:ea typeface="+mn-lt"/>
                <a:cs typeface="+mn-lt"/>
              </a:rPr>
              <a:t> cost</a:t>
            </a:r>
            <a:r>
              <a:rPr lang="pt-BR" sz="1400" dirty="0">
                <a:ea typeface="+mn-lt"/>
                <a:cs typeface="+mn-lt"/>
              </a:rPr>
              <a:t>.</a:t>
            </a:r>
          </a:p>
          <a:p>
            <a:r>
              <a:rPr lang="pt-BR" sz="1400" b="1" dirty="0">
                <a:ea typeface="+mn-lt"/>
                <a:cs typeface="+mn-lt"/>
              </a:rPr>
              <a:t>Life-</a:t>
            </a:r>
            <a:r>
              <a:rPr lang="pt-BR" sz="1400" b="1" dirty="0" err="1">
                <a:ea typeface="+mn-lt"/>
                <a:cs typeface="+mn-lt"/>
              </a:rPr>
              <a:t>course</a:t>
            </a:r>
            <a:r>
              <a:rPr lang="pt-BR" sz="1400" b="1" dirty="0">
                <a:ea typeface="+mn-lt"/>
                <a:cs typeface="+mn-lt"/>
              </a:rPr>
              <a:t> </a:t>
            </a:r>
            <a:r>
              <a:rPr lang="pt-BR" sz="1400" b="1" dirty="0" err="1">
                <a:ea typeface="+mn-lt"/>
                <a:cs typeface="+mn-lt"/>
              </a:rPr>
              <a:t>exposure</a:t>
            </a:r>
            <a:r>
              <a:rPr lang="pt-BR" sz="1400" b="1" dirty="0">
                <a:ea typeface="+mn-lt"/>
                <a:cs typeface="+mn-lt"/>
              </a:rPr>
              <a:t> </a:t>
            </a:r>
            <a:r>
              <a:rPr lang="pt-BR" sz="1400" b="1" dirty="0" err="1">
                <a:ea typeface="+mn-lt"/>
                <a:cs typeface="+mn-lt"/>
              </a:rPr>
              <a:t>based</a:t>
            </a:r>
            <a:r>
              <a:rPr lang="pt-BR" sz="1400" b="1" dirty="0">
                <a:ea typeface="+mn-lt"/>
                <a:cs typeface="+mn-lt"/>
              </a:rPr>
              <a:t> </a:t>
            </a:r>
            <a:r>
              <a:rPr lang="pt-BR" sz="1400" b="1" dirty="0" err="1">
                <a:ea typeface="+mn-lt"/>
                <a:cs typeface="+mn-lt"/>
              </a:rPr>
              <a:t>on</a:t>
            </a:r>
            <a:r>
              <a:rPr lang="pt-BR" sz="1400" b="1" dirty="0">
                <a:ea typeface="+mn-lt"/>
                <a:cs typeface="+mn-lt"/>
              </a:rPr>
              <a:t> </a:t>
            </a:r>
            <a:r>
              <a:rPr lang="pt-BR" sz="1400" b="1" dirty="0" err="1">
                <a:ea typeface="+mn-lt"/>
                <a:cs typeface="+mn-lt"/>
              </a:rPr>
              <a:t>the</a:t>
            </a:r>
            <a:r>
              <a:rPr lang="pt-BR" sz="1400" b="1" dirty="0">
                <a:ea typeface="+mn-lt"/>
                <a:cs typeface="+mn-lt"/>
              </a:rPr>
              <a:t> </a:t>
            </a:r>
            <a:r>
              <a:rPr lang="pt-BR" sz="1400" b="1" dirty="0" err="1">
                <a:ea typeface="+mn-lt"/>
                <a:cs typeface="+mn-lt"/>
              </a:rPr>
              <a:t>length</a:t>
            </a:r>
            <a:r>
              <a:rPr lang="pt-BR" sz="1400" b="1" dirty="0">
                <a:ea typeface="+mn-lt"/>
                <a:cs typeface="+mn-lt"/>
              </a:rPr>
              <a:t> </a:t>
            </a:r>
            <a:r>
              <a:rPr lang="pt-BR" sz="1400" b="1" dirty="0" err="1">
                <a:ea typeface="+mn-lt"/>
                <a:cs typeface="+mn-lt"/>
              </a:rPr>
              <a:t>of</a:t>
            </a:r>
            <a:r>
              <a:rPr lang="pt-BR" sz="1400" b="1" dirty="0">
                <a:ea typeface="+mn-lt"/>
                <a:cs typeface="+mn-lt"/>
              </a:rPr>
              <a:t> time </a:t>
            </a:r>
            <a:r>
              <a:rPr lang="pt-BR" sz="1400" b="1" dirty="0" err="1">
                <a:ea typeface="+mn-lt"/>
                <a:cs typeface="+mn-lt"/>
              </a:rPr>
              <a:t>one</a:t>
            </a:r>
            <a:r>
              <a:rPr lang="pt-BR" sz="1400" b="1" dirty="0">
                <a:ea typeface="+mn-lt"/>
                <a:cs typeface="+mn-lt"/>
              </a:rPr>
              <a:t> </a:t>
            </a:r>
            <a:r>
              <a:rPr lang="pt-BR" sz="1400" b="1" dirty="0" err="1">
                <a:ea typeface="+mn-lt"/>
                <a:cs typeface="+mn-lt"/>
              </a:rPr>
              <a:t>spends</a:t>
            </a:r>
            <a:r>
              <a:rPr lang="pt-BR" sz="1400" b="1" dirty="0">
                <a:ea typeface="+mn-lt"/>
                <a:cs typeface="+mn-lt"/>
              </a:rPr>
              <a:t> living in </a:t>
            </a:r>
            <a:r>
              <a:rPr lang="pt-BR" sz="1400" b="1" dirty="0" err="1">
                <a:ea typeface="+mn-lt"/>
                <a:cs typeface="+mn-lt"/>
              </a:rPr>
              <a:t>resource-deprived</a:t>
            </a:r>
            <a:r>
              <a:rPr lang="pt-BR" sz="1400" b="1" dirty="0">
                <a:ea typeface="+mn-lt"/>
                <a:cs typeface="+mn-lt"/>
              </a:rPr>
              <a:t> </a:t>
            </a:r>
            <a:r>
              <a:rPr lang="pt-BR" sz="1400" b="1" dirty="0" err="1">
                <a:ea typeface="+mn-lt"/>
                <a:cs typeface="+mn-lt"/>
              </a:rPr>
              <a:t>environments</a:t>
            </a:r>
            <a:r>
              <a:rPr lang="pt-BR" sz="1400" b="1" dirty="0">
                <a:ea typeface="+mn-lt"/>
                <a:cs typeface="+mn-lt"/>
              </a:rPr>
              <a:t>—</a:t>
            </a:r>
            <a:r>
              <a:rPr lang="pt-BR" sz="1400" b="1" dirty="0" err="1">
                <a:ea typeface="+mn-lt"/>
                <a:cs typeface="+mn-lt"/>
              </a:rPr>
              <a:t>defined</a:t>
            </a:r>
            <a:r>
              <a:rPr lang="pt-BR" sz="1400" b="1" dirty="0">
                <a:ea typeface="+mn-lt"/>
                <a:cs typeface="+mn-lt"/>
              </a:rPr>
              <a:t> </a:t>
            </a:r>
            <a:r>
              <a:rPr lang="pt-BR" sz="1400" b="1" dirty="0" err="1">
                <a:ea typeface="+mn-lt"/>
                <a:cs typeface="+mn-lt"/>
              </a:rPr>
              <a:t>by</a:t>
            </a:r>
            <a:r>
              <a:rPr lang="pt-BR" sz="1400" b="1" dirty="0">
                <a:ea typeface="+mn-lt"/>
                <a:cs typeface="+mn-lt"/>
              </a:rPr>
              <a:t> </a:t>
            </a:r>
            <a:r>
              <a:rPr lang="pt-BR" sz="1400" b="1" dirty="0" err="1">
                <a:ea typeface="+mn-lt"/>
                <a:cs typeface="+mn-lt"/>
              </a:rPr>
              <a:t>poverty</a:t>
            </a:r>
            <a:r>
              <a:rPr lang="pt-BR" sz="1400" b="1" dirty="0">
                <a:ea typeface="+mn-lt"/>
                <a:cs typeface="+mn-lt"/>
              </a:rPr>
              <a:t>, </a:t>
            </a:r>
            <a:r>
              <a:rPr lang="pt-BR" sz="1400" b="1" dirty="0" err="1">
                <a:ea typeface="+mn-lt"/>
                <a:cs typeface="+mn-lt"/>
              </a:rPr>
              <a:t>lack</a:t>
            </a:r>
            <a:r>
              <a:rPr lang="pt-BR" sz="1400" b="1" dirty="0">
                <a:ea typeface="+mn-lt"/>
                <a:cs typeface="+mn-lt"/>
              </a:rPr>
              <a:t> </a:t>
            </a:r>
            <a:r>
              <a:rPr lang="pt-BR" sz="1400" b="1" dirty="0" err="1">
                <a:ea typeface="+mn-lt"/>
                <a:cs typeface="+mn-lt"/>
              </a:rPr>
              <a:t>of</a:t>
            </a:r>
            <a:r>
              <a:rPr lang="pt-BR" sz="1400" b="1" dirty="0">
                <a:ea typeface="+mn-lt"/>
                <a:cs typeface="+mn-lt"/>
              </a:rPr>
              <a:t> </a:t>
            </a:r>
            <a:r>
              <a:rPr lang="pt-BR" sz="1400" b="1" dirty="0" err="1">
                <a:ea typeface="+mn-lt"/>
                <a:cs typeface="+mn-lt"/>
              </a:rPr>
              <a:t>quality</a:t>
            </a:r>
            <a:r>
              <a:rPr lang="pt-BR" sz="1400" b="1" dirty="0">
                <a:ea typeface="+mn-lt"/>
                <a:cs typeface="+mn-lt"/>
              </a:rPr>
              <a:t> </a:t>
            </a:r>
            <a:r>
              <a:rPr lang="pt-BR" sz="1400" b="1" dirty="0" err="1">
                <a:ea typeface="+mn-lt"/>
                <a:cs typeface="+mn-lt"/>
              </a:rPr>
              <a:t>education</a:t>
            </a:r>
            <a:r>
              <a:rPr lang="pt-BR" sz="1400" b="1" dirty="0">
                <a:ea typeface="+mn-lt"/>
                <a:cs typeface="+mn-lt"/>
              </a:rPr>
              <a:t>, </a:t>
            </a:r>
            <a:r>
              <a:rPr lang="pt-BR" sz="1400" b="1" dirty="0" err="1">
                <a:ea typeface="+mn-lt"/>
                <a:cs typeface="+mn-lt"/>
              </a:rPr>
              <a:t>or</a:t>
            </a:r>
            <a:r>
              <a:rPr lang="pt-BR" sz="1400" b="1" dirty="0">
                <a:ea typeface="+mn-lt"/>
                <a:cs typeface="+mn-lt"/>
              </a:rPr>
              <a:t> </a:t>
            </a:r>
            <a:r>
              <a:rPr lang="pt-BR" sz="1400" b="1" dirty="0" err="1">
                <a:ea typeface="+mn-lt"/>
                <a:cs typeface="+mn-lt"/>
              </a:rPr>
              <a:t>lack</a:t>
            </a:r>
            <a:r>
              <a:rPr lang="pt-BR" sz="1400" b="1" dirty="0">
                <a:ea typeface="+mn-lt"/>
                <a:cs typeface="+mn-lt"/>
              </a:rPr>
              <a:t> </a:t>
            </a:r>
            <a:r>
              <a:rPr lang="pt-BR" sz="1400" b="1" dirty="0" err="1">
                <a:ea typeface="+mn-lt"/>
                <a:cs typeface="+mn-lt"/>
              </a:rPr>
              <a:t>of</a:t>
            </a:r>
            <a:r>
              <a:rPr lang="pt-BR" sz="1400" b="1" dirty="0">
                <a:ea typeface="+mn-lt"/>
                <a:cs typeface="+mn-lt"/>
              </a:rPr>
              <a:t> </a:t>
            </a:r>
            <a:r>
              <a:rPr lang="pt-BR" sz="1400" b="1" dirty="0" err="1">
                <a:ea typeface="+mn-lt"/>
                <a:cs typeface="+mn-lt"/>
              </a:rPr>
              <a:t>health</a:t>
            </a:r>
            <a:r>
              <a:rPr lang="pt-BR" sz="1400" b="1" dirty="0">
                <a:ea typeface="+mn-lt"/>
                <a:cs typeface="+mn-lt"/>
              </a:rPr>
              <a:t> </a:t>
            </a:r>
            <a:r>
              <a:rPr lang="pt-BR" sz="1400" b="1" dirty="0" err="1">
                <a:ea typeface="+mn-lt"/>
                <a:cs typeface="+mn-lt"/>
              </a:rPr>
              <a:t>care</a:t>
            </a:r>
            <a:r>
              <a:rPr lang="pt-BR" sz="1400" b="1" dirty="0">
                <a:ea typeface="+mn-lt"/>
                <a:cs typeface="+mn-lt"/>
              </a:rPr>
              <a:t>—</a:t>
            </a:r>
            <a:r>
              <a:rPr lang="pt-BR" sz="1400" b="1" dirty="0" err="1">
                <a:ea typeface="+mn-lt"/>
                <a:cs typeface="+mn-lt"/>
              </a:rPr>
              <a:t>significantly</a:t>
            </a:r>
            <a:r>
              <a:rPr lang="pt-BR" sz="1400" b="1" dirty="0">
                <a:ea typeface="+mn-lt"/>
                <a:cs typeface="+mn-lt"/>
              </a:rPr>
              <a:t> </a:t>
            </a:r>
            <a:r>
              <a:rPr lang="pt-BR" sz="1400" b="1" dirty="0" err="1">
                <a:ea typeface="+mn-lt"/>
                <a:cs typeface="+mn-lt"/>
              </a:rPr>
              <a:t>impacts</a:t>
            </a:r>
            <a:r>
              <a:rPr lang="pt-BR" sz="1400" b="1" dirty="0">
                <a:ea typeface="+mn-lt"/>
                <a:cs typeface="+mn-lt"/>
              </a:rPr>
              <a:t> </a:t>
            </a:r>
            <a:r>
              <a:rPr lang="pt-BR" sz="1400" b="1" dirty="0" err="1">
                <a:ea typeface="+mn-lt"/>
                <a:cs typeface="+mn-lt"/>
              </a:rPr>
              <a:t>disparities</a:t>
            </a:r>
            <a:r>
              <a:rPr lang="pt-BR" sz="1400" b="1" dirty="0">
                <a:ea typeface="+mn-lt"/>
                <a:cs typeface="+mn-lt"/>
              </a:rPr>
              <a:t> in diabetes </a:t>
            </a:r>
            <a:r>
              <a:rPr lang="pt-BR" sz="1400" b="1" dirty="0" err="1">
                <a:ea typeface="+mn-lt"/>
                <a:cs typeface="+mn-lt"/>
              </a:rPr>
              <a:t>risk</a:t>
            </a:r>
            <a:r>
              <a:rPr lang="pt-BR" sz="1400" b="1" dirty="0">
                <a:ea typeface="+mn-lt"/>
                <a:cs typeface="+mn-lt"/>
              </a:rPr>
              <a:t>, </a:t>
            </a:r>
            <a:r>
              <a:rPr lang="pt-BR" sz="1400" b="1" dirty="0" err="1">
                <a:ea typeface="+mn-lt"/>
                <a:cs typeface="+mn-lt"/>
              </a:rPr>
              <a:t>diagnosis</a:t>
            </a:r>
            <a:r>
              <a:rPr lang="pt-BR" sz="1400" b="1" dirty="0">
                <a:ea typeface="+mn-lt"/>
                <a:cs typeface="+mn-lt"/>
              </a:rPr>
              <a:t>, </a:t>
            </a:r>
            <a:r>
              <a:rPr lang="pt-BR" sz="1400" b="1" dirty="0" err="1">
                <a:ea typeface="+mn-lt"/>
                <a:cs typeface="+mn-lt"/>
              </a:rPr>
              <a:t>and</a:t>
            </a:r>
            <a:r>
              <a:rPr lang="pt-BR" sz="1400" b="1" dirty="0">
                <a:ea typeface="+mn-lt"/>
                <a:cs typeface="+mn-lt"/>
              </a:rPr>
              <a:t> </a:t>
            </a:r>
            <a:r>
              <a:rPr lang="pt-BR" sz="1400" b="1" dirty="0" err="1">
                <a:ea typeface="+mn-lt"/>
                <a:cs typeface="+mn-lt"/>
              </a:rPr>
              <a:t>outcomes</a:t>
            </a:r>
            <a:r>
              <a:rPr lang="pt-BR" sz="1400" b="1" dirty="0">
                <a:ea typeface="+mn-lt"/>
                <a:cs typeface="+mn-lt"/>
              </a:rPr>
              <a:t>.</a:t>
            </a:r>
          </a:p>
        </p:txBody>
      </p:sp>
    </p:spTree>
    <p:extLst>
      <p:ext uri="{BB962C8B-B14F-4D97-AF65-F5344CB8AC3E}">
        <p14:creationId xmlns:p14="http://schemas.microsoft.com/office/powerpoint/2010/main" val="278866488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4C4950A17AE0B448123269C27AC658B" ma:contentTypeVersion="2" ma:contentTypeDescription="Create a new document." ma:contentTypeScope="" ma:versionID="e3104077bf80d2e848218baebbf1afbb">
  <xsd:schema xmlns:xsd="http://www.w3.org/2001/XMLSchema" xmlns:xs="http://www.w3.org/2001/XMLSchema" xmlns:p="http://schemas.microsoft.com/office/2006/metadata/properties" xmlns:ns2="d6d50203-36e7-438f-a73d-5ae0b3043f8c" targetNamespace="http://schemas.microsoft.com/office/2006/metadata/properties" ma:root="true" ma:fieldsID="e91831a4db87eb8769b55395ae6ff26b" ns2:_="">
    <xsd:import namespace="d6d50203-36e7-438f-a73d-5ae0b3043f8c"/>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6d50203-36e7-438f-a73d-5ae0b3043f8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CE9CB71-1984-4A2B-8A40-A81467C0546E}">
  <ds:schemaRefs>
    <ds:schemaRef ds:uri="http://schemas.microsoft.com/sharepoint/v3/contenttype/forms"/>
  </ds:schemaRefs>
</ds:datastoreItem>
</file>

<file path=customXml/itemProps2.xml><?xml version="1.0" encoding="utf-8"?>
<ds:datastoreItem xmlns:ds="http://schemas.openxmlformats.org/officeDocument/2006/customXml" ds:itemID="{A2712994-3368-49A8-8738-219731B71B7A}">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BEBF08D8-8754-4C3E-90E6-64A069A1094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6d50203-36e7-438f-a73d-5ae0b3043f8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11</Slides>
  <Notes>4</Notes>
  <HiddenSlides>0</HiddenSlides>
  <ScaleCrop>false</ScaleCrop>
  <HeadingPairs>
    <vt:vector size="4" baseType="variant">
      <vt:variant>
        <vt:lpstr>Tema</vt:lpstr>
      </vt:variant>
      <vt:variant>
        <vt:i4>1</vt:i4>
      </vt:variant>
      <vt:variant>
        <vt:lpstr>Títulos de slides</vt:lpstr>
      </vt:variant>
      <vt:variant>
        <vt:i4>11</vt:i4>
      </vt:variant>
    </vt:vector>
  </HeadingPairs>
  <TitlesOfParts>
    <vt:vector size="12" baseType="lpstr">
      <vt:lpstr>office theme</vt:lpstr>
      <vt:lpstr>Diagnosing Diabetes</vt:lpstr>
      <vt:lpstr>Diabetes is stealing our lives, wellbeing, and money</vt:lpstr>
      <vt:lpstr>Catching and curing diabetes creates significant cost savings and revenue potential</vt:lpstr>
      <vt:lpstr>Our Project: To identify the factors impacting the likelihood to be diagnosed with diabetes</vt:lpstr>
      <vt:lpstr>We’ll apply modeling to behavioral survey data and cost of living data to identify these factors</vt:lpstr>
      <vt:lpstr>Detailed Approach</vt:lpstr>
      <vt:lpstr>Initial Hypotheses</vt:lpstr>
      <vt:lpstr>Progress</vt:lpstr>
      <vt:lpstr>Academic Research Findings</vt:lpstr>
      <vt:lpstr>Citations</vt:lpstr>
      <vt:lpstr>Social Determinants of Health and Diabetes: A Scientific Review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57</cp:revision>
  <dcterms:created xsi:type="dcterms:W3CDTF">2023-03-14T23:40:26Z</dcterms:created>
  <dcterms:modified xsi:type="dcterms:W3CDTF">2023-04-16T12:18:58Z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0x01010054C4950A17AE0B448123269C27AC658B</vt:lpwstr>
  </property>
</Properties>
</file>